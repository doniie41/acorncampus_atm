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6"/>
  </p:notesMasterIdLst>
  <p:sldIdLst>
    <p:sldId id="267" r:id="rId2"/>
    <p:sldId id="266" r:id="rId3"/>
    <p:sldId id="256" r:id="rId4"/>
    <p:sldId id="269" r:id="rId5"/>
    <p:sldId id="271" r:id="rId6"/>
    <p:sldId id="272" r:id="rId7"/>
    <p:sldId id="268" r:id="rId8"/>
    <p:sldId id="273" r:id="rId9"/>
    <p:sldId id="257" r:id="rId10"/>
    <p:sldId id="281" r:id="rId11"/>
    <p:sldId id="278" r:id="rId12"/>
    <p:sldId id="282" r:id="rId13"/>
    <p:sldId id="270" r:id="rId14"/>
    <p:sldId id="276" r:id="rId15"/>
    <p:sldId id="258" r:id="rId16"/>
    <p:sldId id="259" r:id="rId17"/>
    <p:sldId id="274" r:id="rId18"/>
    <p:sldId id="260" r:id="rId19"/>
    <p:sldId id="261" r:id="rId20"/>
    <p:sldId id="263" r:id="rId21"/>
    <p:sldId id="262" r:id="rId22"/>
    <p:sldId id="264" r:id="rId23"/>
    <p:sldId id="265" r:id="rId24"/>
    <p:sldId id="290" r:id="rId25"/>
    <p:sldId id="291" r:id="rId26"/>
    <p:sldId id="292" r:id="rId27"/>
    <p:sldId id="293" r:id="rId28"/>
    <p:sldId id="294" r:id="rId29"/>
    <p:sldId id="295" r:id="rId30"/>
    <p:sldId id="296" r:id="rId31"/>
    <p:sldId id="297" r:id="rId32"/>
    <p:sldId id="298" r:id="rId33"/>
    <p:sldId id="299" r:id="rId34"/>
    <p:sldId id="300" r:id="rId35"/>
    <p:sldId id="301" r:id="rId36"/>
    <p:sldId id="302" r:id="rId37"/>
    <p:sldId id="303" r:id="rId38"/>
    <p:sldId id="304" r:id="rId39"/>
    <p:sldId id="275" r:id="rId40"/>
    <p:sldId id="277" r:id="rId41"/>
    <p:sldId id="279" r:id="rId42"/>
    <p:sldId id="280" r:id="rId43"/>
    <p:sldId id="283" r:id="rId44"/>
    <p:sldId id="284" r:id="rId45"/>
    <p:sldId id="285" r:id="rId46"/>
    <p:sldId id="286" r:id="rId47"/>
    <p:sldId id="287" r:id="rId48"/>
    <p:sldId id="289" r:id="rId49"/>
    <p:sldId id="305" r:id="rId50"/>
    <p:sldId id="306" r:id="rId51"/>
    <p:sldId id="307" r:id="rId52"/>
    <p:sldId id="308" r:id="rId53"/>
    <p:sldId id="309" r:id="rId54"/>
    <p:sldId id="310" r:id="rId5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95" autoAdjust="0"/>
    <p:restoredTop sz="94062" autoAdjust="0"/>
  </p:normalViewPr>
  <p:slideViewPr>
    <p:cSldViewPr snapToGrid="0">
      <p:cViewPr varScale="1">
        <p:scale>
          <a:sx n="92" d="100"/>
          <a:sy n="92" d="100"/>
        </p:scale>
        <p:origin x="9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D76454-644A-49E4-8998-263C7848A0ED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3747A5-15E1-4459-B3A8-07EC66B241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4211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3747A5-15E1-4459-B3A8-07EC66B2416B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42074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C9BFA-7051-B8DD-AC34-E85DA2945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97AA600-4EA8-6C0D-02F0-0D049CBF37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8FF2EFE-1704-CAD5-F78E-AF31A26080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8E473F-39B6-01A2-2D21-AD896CF63C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3747A5-15E1-4459-B3A8-07EC66B2416B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0146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E7880D-C6FD-F11F-8ED4-9D71156D53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ctr"/>
          <a:lstStyle>
            <a:lvl1pPr algn="l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18308CD-5385-C8CE-C2EC-DC6BD39686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anchor="ctr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E76745-D401-2525-3A3C-2A14DB0E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1A5D5-EB27-43ED-B459-06CAD3040484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A20F7E-9531-4AEA-8FA5-4ED9109AF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113AB6-A08E-130B-EBF0-A0FDEDA2B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C1B74-1A56-449F-826A-D3F0BDE184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174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FBBC9D-11FD-3B9D-986A-AC3B996DC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FFC99A-E3B9-97FD-DF22-C3611A156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FF0B79-DA42-7771-B240-A98F50D78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1A5D5-EB27-43ED-B459-06CAD3040484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08B55C-D7F5-D1CF-9450-9475654F0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546C61-8869-9541-F0F6-4B92E2531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C1B74-1A56-449F-826A-D3F0BDE184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9819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647C37-4D58-BB4A-C43A-C091B35B4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9691775-9499-FC15-AED4-3342CF779E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DC1618-0B1A-65F2-C073-E3D93EF66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1A5D5-EB27-43ED-B459-06CAD3040484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0EED46-7E74-8AED-82CF-34C421343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ABE139-F0DA-9BE9-BB34-2D03D2E82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C1B74-1A56-449F-826A-D3F0BDE184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7098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7C78D5-EBED-6049-5E61-85081525D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0ED683-D2BD-860F-7CD2-FA24196107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BE47642-10BF-FDE7-B3BD-1AEEBAFADC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698134-2180-B783-58D5-DE61A76E9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1A5D5-EB27-43ED-B459-06CAD3040484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095BFD-306B-7BDC-A09D-93E1B474E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242CA27-01DD-0CC5-14D8-5351CB381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C1B74-1A56-449F-826A-D3F0BDE184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8611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5B760-6B93-F27D-496B-B8F197074E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dirty="0"/>
              <a:t>마스터 제목 스타일 편집</a:t>
            </a:r>
            <a:r>
              <a:rPr lang="en-US" altLang="ko-KR" dirty="0" err="1"/>
              <a:t>tjhtgj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B9DB74A-E587-4CDB-DD20-6E014DE165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A496195-413E-3D90-D6BF-36673CDDF0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0688692-53E0-7CC3-FF09-330CA205C4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83D80C4-EC51-80A1-3245-577E3AF3F0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732BDA7-355B-7905-FF02-6FE7022E6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1A5D5-EB27-43ED-B459-06CAD3040484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43226FE-46A2-632E-7DE6-94AE55F5B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91A0AE9-0B1C-B757-0ED8-64194AF20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C1B74-1A56-449F-826A-D3F0BDE184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7387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B5F410-A0BB-84FE-907D-77E0E46F4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FEB81A4-72E1-08DB-90B4-3E5AC70C1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1A5D5-EB27-43ED-B459-06CAD3040484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EB27690-2B43-FA1F-DCC7-FF1C1B9F0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4161BAA-0FFB-31B6-E1E1-F12AD745B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C1B74-1A56-449F-826A-D3F0BDE184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154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5EBED08-CDD9-A612-E811-FB8ABFDD9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1A5D5-EB27-43ED-B459-06CAD3040484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11CFAD1-77A4-188F-5C93-A41447A07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59854C-A69C-26AA-453B-18B68D296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C1B74-1A56-449F-826A-D3F0BDE184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0977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7FF862-1F95-162B-0253-6DA3C2579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D0CABB-2BB9-EAB5-2BE1-CBEF020A43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C0021EE-D2A9-9CC1-EED3-E4136988B1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B4A960-AE28-0693-BEBE-275D1938E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1A5D5-EB27-43ED-B459-06CAD3040484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AF6335B-11BE-D378-4153-A3648592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BB8F92C-5CCC-80E9-D6F3-AB0E4B97F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C1B74-1A56-449F-826A-D3F0BDE184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1603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73E626-0941-F11D-75BF-379A35ED5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B26F5F7-CF1C-FA70-6034-DC48CCD24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021CAAB-CB59-9F9B-CC05-5F5860FE7E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E24F72-482B-90A1-E13B-4D53E9E0C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1A5D5-EB27-43ED-B459-06CAD3040484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31343A-1A9A-01B5-3255-162B03EF4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30F49DA-C0BE-41D6-E8AC-DEDFED8AA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C1B74-1A56-449F-826A-D3F0BDE184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0415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AA9663-9685-FFE4-C572-43C14FE7D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39E1711-8CCB-45FD-E690-90F8AF60F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CE6BD0-9493-3E8E-47FF-465FC2EB8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1A5D5-EB27-43ED-B459-06CAD3040484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8C85A5-5C16-D107-8ABA-22B5D2DE9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1603BC-6549-F3B9-8299-B0ECAAAE6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C1B74-1A56-449F-826A-D3F0BDE184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7201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C10C95D-BE7B-35F4-C255-60F6022A0C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56F1738-8A28-5744-4D0A-2A97CA319D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A1620D-D82E-5C96-7A15-F4E392009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1A5D5-EB27-43ED-B459-06CAD3040484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DD17CC-68A8-913A-552C-F6DC21607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B22CC6-62DA-7080-C575-46CC907DC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C1B74-1A56-449F-826A-D3F0BDE184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372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F808192-8646-FA17-8CAB-EC591E94F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2C4BA6-D995-2A9D-5273-E8ED1C0F6D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E53136-1EF3-5F68-7001-DF10D04DFE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41A5D5-EB27-43ED-B459-06CAD3040484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5BA84B-3EC6-DE31-DBE3-C7EEA2BB0F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2CFA81-2687-629E-03FB-F4EB832E02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5C1B74-1A56-449F-826A-D3F0BDE184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630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자유형: 도형 31">
            <a:extLst>
              <a:ext uri="{FF2B5EF4-FFF2-40B4-BE49-F238E27FC236}">
                <a16:creationId xmlns:a16="http://schemas.microsoft.com/office/drawing/2014/main" id="{24F564E3-17B0-F976-3DA2-588A93F1560C}"/>
              </a:ext>
            </a:extLst>
          </p:cNvPr>
          <p:cNvSpPr>
            <a:spLocks noChangeAspect="1"/>
          </p:cNvSpPr>
          <p:nvPr/>
        </p:nvSpPr>
        <p:spPr>
          <a:xfrm>
            <a:off x="-30044672" y="-16900128"/>
            <a:ext cx="72281344" cy="40658256"/>
          </a:xfrm>
          <a:custGeom>
            <a:avLst/>
            <a:gdLst>
              <a:gd name="csX0" fmla="*/ 6541178 w 13077372"/>
              <a:gd name="csY0" fmla="*/ 1782535 h 7561942"/>
              <a:gd name="csX1" fmla="*/ 6352443 w 13077372"/>
              <a:gd name="csY1" fmla="*/ 1865883 h 7561942"/>
              <a:gd name="csX2" fmla="*/ 6328343 w 13077372"/>
              <a:gd name="csY2" fmla="*/ 1919390 h 7561942"/>
              <a:gd name="csX3" fmla="*/ 6436671 w 13077372"/>
              <a:gd name="csY3" fmla="*/ 2233370 h 7561942"/>
              <a:gd name="csX4" fmla="*/ 6168170 w 13077372"/>
              <a:gd name="csY4" fmla="*/ 2268834 h 7561942"/>
              <a:gd name="csX5" fmla="*/ 5314439 w 13077372"/>
              <a:gd name="csY5" fmla="*/ 2552338 h 7561942"/>
              <a:gd name="csX6" fmla="*/ 4937467 w 13077372"/>
              <a:gd name="csY6" fmla="*/ 2869589 h 7561942"/>
              <a:gd name="csX7" fmla="*/ 4839359 w 13077372"/>
              <a:gd name="csY7" fmla="*/ 3052374 h 7561942"/>
              <a:gd name="csX8" fmla="*/ 4836203 w 13077372"/>
              <a:gd name="csY8" fmla="*/ 3277960 h 7561942"/>
              <a:gd name="csX9" fmla="*/ 4863578 w 13077372"/>
              <a:gd name="csY9" fmla="*/ 3308616 h 7561942"/>
              <a:gd name="csX10" fmla="*/ 5146225 w 13077372"/>
              <a:gd name="csY10" fmla="*/ 3650446 h 7561942"/>
              <a:gd name="csX11" fmla="*/ 5192920 w 13077372"/>
              <a:gd name="csY11" fmla="*/ 3620699 h 7561942"/>
              <a:gd name="csX12" fmla="*/ 5170530 w 13077372"/>
              <a:gd name="csY12" fmla="*/ 3818976 h 7561942"/>
              <a:gd name="csX13" fmla="*/ 5182598 w 13077372"/>
              <a:gd name="csY13" fmla="*/ 4066600 h 7561942"/>
              <a:gd name="csX14" fmla="*/ 5329213 w 13077372"/>
              <a:gd name="csY14" fmla="*/ 4621486 h 7561942"/>
              <a:gd name="csX15" fmla="*/ 5483125 w 13077372"/>
              <a:gd name="csY15" fmla="*/ 5016714 h 7561942"/>
              <a:gd name="csX16" fmla="*/ 5756240 w 13077372"/>
              <a:gd name="csY16" fmla="*/ 5336144 h 7561942"/>
              <a:gd name="csX17" fmla="*/ 6208721 w 13077372"/>
              <a:gd name="csY17" fmla="*/ 5616562 h 7561942"/>
              <a:gd name="csX18" fmla="*/ 6317995 w 13077372"/>
              <a:gd name="csY18" fmla="*/ 5660666 h 7561942"/>
              <a:gd name="csX19" fmla="*/ 6518074 w 13077372"/>
              <a:gd name="csY19" fmla="*/ 5840767 h 7561942"/>
              <a:gd name="csX20" fmla="*/ 6543750 w 13077372"/>
              <a:gd name="csY20" fmla="*/ 5875254 h 7561942"/>
              <a:gd name="csX21" fmla="*/ 6579278 w 13077372"/>
              <a:gd name="csY21" fmla="*/ 5878285 h 7561942"/>
              <a:gd name="csX22" fmla="*/ 6586215 w 13077372"/>
              <a:gd name="csY22" fmla="*/ 5868822 h 7561942"/>
              <a:gd name="csX23" fmla="*/ 6623604 w 13077372"/>
              <a:gd name="csY23" fmla="*/ 5800884 h 7561942"/>
              <a:gd name="csX24" fmla="*/ 6874684 w 13077372"/>
              <a:gd name="csY24" fmla="*/ 5631846 h 7561942"/>
              <a:gd name="csX25" fmla="*/ 7365531 w 13077372"/>
              <a:gd name="csY25" fmla="*/ 5334929 h 7561942"/>
              <a:gd name="csX26" fmla="*/ 7595277 w 13077372"/>
              <a:gd name="csY26" fmla="*/ 5094252 h 7561942"/>
              <a:gd name="csX27" fmla="*/ 7695554 w 13077372"/>
              <a:gd name="csY27" fmla="*/ 4871229 h 7561942"/>
              <a:gd name="csX28" fmla="*/ 7895311 w 13077372"/>
              <a:gd name="csY28" fmla="*/ 4268533 h 7561942"/>
              <a:gd name="csX29" fmla="*/ 7957529 w 13077372"/>
              <a:gd name="csY29" fmla="*/ 3864844 h 7561942"/>
              <a:gd name="csX30" fmla="*/ 7928262 w 13077372"/>
              <a:gd name="csY30" fmla="*/ 3651288 h 7561942"/>
              <a:gd name="csX31" fmla="*/ 7923780 w 13077372"/>
              <a:gd name="csY31" fmla="*/ 3617893 h 7561942"/>
              <a:gd name="csX32" fmla="*/ 7971358 w 13077372"/>
              <a:gd name="csY32" fmla="*/ 3649680 h 7561942"/>
              <a:gd name="csX33" fmla="*/ 8261281 w 13077372"/>
              <a:gd name="csY33" fmla="*/ 3317271 h 7561942"/>
              <a:gd name="csX34" fmla="*/ 8272145 w 13077372"/>
              <a:gd name="csY34" fmla="*/ 3293795 h 7561942"/>
              <a:gd name="csX35" fmla="*/ 8274728 w 13077372"/>
              <a:gd name="csY35" fmla="*/ 3030310 h 7561942"/>
              <a:gd name="csX36" fmla="*/ 8175593 w 13077372"/>
              <a:gd name="csY36" fmla="*/ 2860946 h 7561942"/>
              <a:gd name="csX37" fmla="*/ 7832832 w 13077372"/>
              <a:gd name="csY37" fmla="*/ 2568395 h 7561942"/>
              <a:gd name="csX38" fmla="*/ 7443402 w 13077372"/>
              <a:gd name="csY38" fmla="*/ 2389523 h 7561942"/>
              <a:gd name="csX39" fmla="*/ 7005955 w 13077372"/>
              <a:gd name="csY39" fmla="*/ 2279061 h 7561942"/>
              <a:gd name="csX40" fmla="*/ 6688785 w 13077372"/>
              <a:gd name="csY40" fmla="*/ 2231335 h 7561942"/>
              <a:gd name="csX41" fmla="*/ 6706316 w 13077372"/>
              <a:gd name="csY41" fmla="*/ 2166940 h 7561942"/>
              <a:gd name="csX42" fmla="*/ 6790250 w 13077372"/>
              <a:gd name="csY42" fmla="*/ 1916549 h 7561942"/>
              <a:gd name="csX43" fmla="*/ 6765528 w 13077372"/>
              <a:gd name="csY43" fmla="*/ 1864868 h 7561942"/>
              <a:gd name="csX44" fmla="*/ 6577312 w 13077372"/>
              <a:gd name="csY44" fmla="*/ 1785420 h 7561942"/>
              <a:gd name="csX45" fmla="*/ 6541178 w 13077372"/>
              <a:gd name="csY45" fmla="*/ 1782535 h 7561942"/>
              <a:gd name="csX46" fmla="*/ 0 w 13077372"/>
              <a:gd name="csY46" fmla="*/ 0 h 7561942"/>
              <a:gd name="csX47" fmla="*/ 13077372 w 13077372"/>
              <a:gd name="csY47" fmla="*/ 0 h 7561942"/>
              <a:gd name="csX48" fmla="*/ 13077372 w 13077372"/>
              <a:gd name="csY48" fmla="*/ 7561942 h 7561942"/>
              <a:gd name="csX49" fmla="*/ 0 w 13077372"/>
              <a:gd name="csY49" fmla="*/ 7561942 h 7561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</a:cxnLst>
            <a:rect l="l" t="t" r="r" b="b"/>
            <a:pathLst>
              <a:path w="13077372" h="7561942">
                <a:moveTo>
                  <a:pt x="6541178" y="1782535"/>
                </a:moveTo>
                <a:cubicBezTo>
                  <a:pt x="6478408" y="1810687"/>
                  <a:pt x="6416619" y="1841419"/>
                  <a:pt x="6352443" y="1865883"/>
                </a:cubicBezTo>
                <a:cubicBezTo>
                  <a:pt x="6321133" y="1877818"/>
                  <a:pt x="6318817" y="1892286"/>
                  <a:pt x="6328343" y="1919390"/>
                </a:cubicBezTo>
                <a:cubicBezTo>
                  <a:pt x="6364753" y="2022975"/>
                  <a:pt x="6400060" y="2126948"/>
                  <a:pt x="6436671" y="2233370"/>
                </a:cubicBezTo>
                <a:cubicBezTo>
                  <a:pt x="6344250" y="2245407"/>
                  <a:pt x="6255727" y="2254224"/>
                  <a:pt x="6168170" y="2268834"/>
                </a:cubicBezTo>
                <a:cubicBezTo>
                  <a:pt x="5868963" y="2318757"/>
                  <a:pt x="5579287" y="2396834"/>
                  <a:pt x="5314439" y="2552338"/>
                </a:cubicBezTo>
                <a:cubicBezTo>
                  <a:pt x="5170133" y="2637065"/>
                  <a:pt x="5038293" y="2735784"/>
                  <a:pt x="4937467" y="2869589"/>
                </a:cubicBezTo>
                <a:cubicBezTo>
                  <a:pt x="4897668" y="2922406"/>
                  <a:pt x="4873695" y="2987148"/>
                  <a:pt x="4839359" y="3052374"/>
                </a:cubicBezTo>
                <a:cubicBezTo>
                  <a:pt x="4836203" y="3131512"/>
                  <a:pt x="4836203" y="3204736"/>
                  <a:pt x="4836203" y="3277960"/>
                </a:cubicBezTo>
                <a:cubicBezTo>
                  <a:pt x="4845533" y="3288098"/>
                  <a:pt x="4858902" y="3296657"/>
                  <a:pt x="4863578" y="3308616"/>
                </a:cubicBezTo>
                <a:cubicBezTo>
                  <a:pt x="4920304" y="3453663"/>
                  <a:pt x="5031245" y="3552708"/>
                  <a:pt x="5146225" y="3650446"/>
                </a:cubicBezTo>
                <a:cubicBezTo>
                  <a:pt x="5162869" y="3639843"/>
                  <a:pt x="5176736" y="3631009"/>
                  <a:pt x="5192920" y="3620699"/>
                </a:cubicBezTo>
                <a:cubicBezTo>
                  <a:pt x="5184682" y="3689673"/>
                  <a:pt x="5171824" y="3754209"/>
                  <a:pt x="5170530" y="3818976"/>
                </a:cubicBezTo>
                <a:cubicBezTo>
                  <a:pt x="5168882" y="3901595"/>
                  <a:pt x="5164838" y="3987020"/>
                  <a:pt x="5182598" y="4066600"/>
                </a:cubicBezTo>
                <a:cubicBezTo>
                  <a:pt x="5224248" y="4253231"/>
                  <a:pt x="5272402" y="4438925"/>
                  <a:pt x="5329213" y="4621486"/>
                </a:cubicBezTo>
                <a:cubicBezTo>
                  <a:pt x="5371125" y="4756167"/>
                  <a:pt x="5429177" y="4885996"/>
                  <a:pt x="5483125" y="5016714"/>
                </a:cubicBezTo>
                <a:cubicBezTo>
                  <a:pt x="5539111" y="5152378"/>
                  <a:pt x="5643692" y="5247842"/>
                  <a:pt x="5756240" y="5336144"/>
                </a:cubicBezTo>
                <a:cubicBezTo>
                  <a:pt x="5896751" y="5446387"/>
                  <a:pt x="6047058" y="5540678"/>
                  <a:pt x="6208721" y="5616562"/>
                </a:cubicBezTo>
                <a:cubicBezTo>
                  <a:pt x="6244257" y="5633243"/>
                  <a:pt x="6280413" y="5649969"/>
                  <a:pt x="6317995" y="5660666"/>
                </a:cubicBezTo>
                <a:cubicBezTo>
                  <a:pt x="6414872" y="5688243"/>
                  <a:pt x="6476188" y="5753038"/>
                  <a:pt x="6518074" y="5840767"/>
                </a:cubicBezTo>
                <a:cubicBezTo>
                  <a:pt x="6523427" y="5851979"/>
                  <a:pt x="6531752" y="5861772"/>
                  <a:pt x="6543750" y="5875254"/>
                </a:cubicBezTo>
                <a:cubicBezTo>
                  <a:pt x="6558958" y="5878285"/>
                  <a:pt x="6569118" y="5878285"/>
                  <a:pt x="6579278" y="5878285"/>
                </a:cubicBezTo>
                <a:cubicBezTo>
                  <a:pt x="6580861" y="5875507"/>
                  <a:pt x="6582444" y="5872729"/>
                  <a:pt x="6586215" y="5868822"/>
                </a:cubicBezTo>
                <a:cubicBezTo>
                  <a:pt x="6600197" y="5845451"/>
                  <a:pt x="6613045" y="5823697"/>
                  <a:pt x="6623604" y="5800884"/>
                </a:cubicBezTo>
                <a:cubicBezTo>
                  <a:pt x="6673213" y="5693702"/>
                  <a:pt x="6780703" y="5672311"/>
                  <a:pt x="6874684" y="5631846"/>
                </a:cubicBezTo>
                <a:cubicBezTo>
                  <a:pt x="7052108" y="5555454"/>
                  <a:pt x="7213886" y="5453691"/>
                  <a:pt x="7365531" y="5334929"/>
                </a:cubicBezTo>
                <a:cubicBezTo>
                  <a:pt x="7453810" y="5265793"/>
                  <a:pt x="7540618" y="5193896"/>
                  <a:pt x="7595277" y="5094252"/>
                </a:cubicBezTo>
                <a:cubicBezTo>
                  <a:pt x="7634384" y="5022959"/>
                  <a:pt x="7668558" y="4947906"/>
                  <a:pt x="7695554" y="4871229"/>
                </a:cubicBezTo>
                <a:cubicBezTo>
                  <a:pt x="7765854" y="4671565"/>
                  <a:pt x="7838976" y="4472292"/>
                  <a:pt x="7895311" y="4268533"/>
                </a:cubicBezTo>
                <a:cubicBezTo>
                  <a:pt x="7931393" y="4138024"/>
                  <a:pt x="7946618" y="4000386"/>
                  <a:pt x="7957529" y="3864844"/>
                </a:cubicBezTo>
                <a:cubicBezTo>
                  <a:pt x="7963159" y="3794898"/>
                  <a:pt x="7938949" y="3722554"/>
                  <a:pt x="7928262" y="3651288"/>
                </a:cubicBezTo>
                <a:cubicBezTo>
                  <a:pt x="7926975" y="3642700"/>
                  <a:pt x="7925942" y="3634074"/>
                  <a:pt x="7923780" y="3617893"/>
                </a:cubicBezTo>
                <a:cubicBezTo>
                  <a:pt x="7942403" y="3630335"/>
                  <a:pt x="7954925" y="3638701"/>
                  <a:pt x="7971358" y="3649680"/>
                </a:cubicBezTo>
                <a:cubicBezTo>
                  <a:pt x="8089791" y="3560169"/>
                  <a:pt x="8187042" y="3450982"/>
                  <a:pt x="8261281" y="3317271"/>
                </a:cubicBezTo>
                <a:cubicBezTo>
                  <a:pt x="8265927" y="3310275"/>
                  <a:pt x="8267744" y="3304891"/>
                  <a:pt x="8272145" y="3293795"/>
                </a:cubicBezTo>
                <a:cubicBezTo>
                  <a:pt x="8274728" y="3202158"/>
                  <a:pt x="8274728" y="3116234"/>
                  <a:pt x="8274728" y="3030310"/>
                </a:cubicBezTo>
                <a:cubicBezTo>
                  <a:pt x="8242028" y="2973598"/>
                  <a:pt x="8214488" y="2913031"/>
                  <a:pt x="8175593" y="2860946"/>
                </a:cubicBezTo>
                <a:cubicBezTo>
                  <a:pt x="8083866" y="2738116"/>
                  <a:pt x="7966456" y="2640844"/>
                  <a:pt x="7832832" y="2568395"/>
                </a:cubicBezTo>
                <a:cubicBezTo>
                  <a:pt x="7707385" y="2500379"/>
                  <a:pt x="7577829" y="2436161"/>
                  <a:pt x="7443402" y="2389523"/>
                </a:cubicBezTo>
                <a:cubicBezTo>
                  <a:pt x="7301799" y="2340396"/>
                  <a:pt x="7153072" y="2310368"/>
                  <a:pt x="7005955" y="2279061"/>
                </a:cubicBezTo>
                <a:cubicBezTo>
                  <a:pt x="6903576" y="2257275"/>
                  <a:pt x="6798659" y="2247415"/>
                  <a:pt x="6688785" y="2231335"/>
                </a:cubicBezTo>
                <a:cubicBezTo>
                  <a:pt x="6694454" y="2210287"/>
                  <a:pt x="6699330" y="2188268"/>
                  <a:pt x="6706316" y="2166940"/>
                </a:cubicBezTo>
                <a:cubicBezTo>
                  <a:pt x="6733720" y="2083282"/>
                  <a:pt x="6760609" y="1999420"/>
                  <a:pt x="6790250" y="1916549"/>
                </a:cubicBezTo>
                <a:cubicBezTo>
                  <a:pt x="6800689" y="1887363"/>
                  <a:pt x="6795731" y="1875826"/>
                  <a:pt x="6765528" y="1864868"/>
                </a:cubicBezTo>
                <a:cubicBezTo>
                  <a:pt x="6703570" y="1842390"/>
                  <a:pt x="6643697" y="1814165"/>
                  <a:pt x="6577312" y="1785420"/>
                </a:cubicBezTo>
                <a:cubicBezTo>
                  <a:pt x="6561498" y="1782535"/>
                  <a:pt x="6551338" y="1782535"/>
                  <a:pt x="6541178" y="1782535"/>
                </a:cubicBezTo>
                <a:close/>
                <a:moveTo>
                  <a:pt x="0" y="0"/>
                </a:moveTo>
                <a:lnTo>
                  <a:pt x="13077372" y="0"/>
                </a:lnTo>
                <a:lnTo>
                  <a:pt x="13077372" y="7561942"/>
                </a:lnTo>
                <a:lnTo>
                  <a:pt x="0" y="756194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0" name="자유형: 도형 29">
            <a:extLst>
              <a:ext uri="{FF2B5EF4-FFF2-40B4-BE49-F238E27FC236}">
                <a16:creationId xmlns:a16="http://schemas.microsoft.com/office/drawing/2014/main" id="{508529CD-F730-7ADD-FB2B-5D77786AE0BE}"/>
              </a:ext>
            </a:extLst>
          </p:cNvPr>
          <p:cNvSpPr/>
          <p:nvPr/>
        </p:nvSpPr>
        <p:spPr>
          <a:xfrm>
            <a:off x="6029916" y="5752707"/>
            <a:ext cx="7259" cy="9463"/>
          </a:xfrm>
          <a:custGeom>
            <a:avLst/>
            <a:gdLst>
              <a:gd name="csX0" fmla="*/ 4758 w 7259"/>
              <a:gd name="csY0" fmla="*/ 0 h 9463"/>
              <a:gd name="csX1" fmla="*/ 7258 w 7259"/>
              <a:gd name="csY1" fmla="*/ 6815 h 9463"/>
              <a:gd name="csX2" fmla="*/ 201 w 7259"/>
              <a:gd name="csY2" fmla="*/ 9463 h 9463"/>
              <a:gd name="csX3" fmla="*/ 4758 w 7259"/>
              <a:gd name="csY3" fmla="*/ 0 h 94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259" h="9463">
                <a:moveTo>
                  <a:pt x="4758" y="0"/>
                </a:moveTo>
                <a:cubicBezTo>
                  <a:pt x="7020" y="637"/>
                  <a:pt x="7095" y="2402"/>
                  <a:pt x="7258" y="6815"/>
                </a:cubicBezTo>
                <a:cubicBezTo>
                  <a:pt x="7345" y="9463"/>
                  <a:pt x="2583" y="9463"/>
                  <a:pt x="201" y="9463"/>
                </a:cubicBezTo>
                <a:cubicBezTo>
                  <a:pt x="-596" y="6685"/>
                  <a:pt x="987" y="3907"/>
                  <a:pt x="4758" y="0"/>
                </a:cubicBezTo>
                <a:close/>
              </a:path>
            </a:pathLst>
          </a:custGeom>
          <a:solidFill>
            <a:srgbClr val="47704C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자유형: 도형 30">
            <a:extLst>
              <a:ext uri="{FF2B5EF4-FFF2-40B4-BE49-F238E27FC236}">
                <a16:creationId xmlns:a16="http://schemas.microsoft.com/office/drawing/2014/main" id="{EB4E6C2D-AB42-F24E-A439-08A2E3AE950D}"/>
              </a:ext>
            </a:extLst>
          </p:cNvPr>
          <p:cNvSpPr/>
          <p:nvPr/>
        </p:nvSpPr>
        <p:spPr>
          <a:xfrm>
            <a:off x="7717194" y="5754200"/>
            <a:ext cx="5346" cy="7970"/>
          </a:xfrm>
          <a:custGeom>
            <a:avLst/>
            <a:gdLst>
              <a:gd name="csX0" fmla="*/ 1230 w 5346"/>
              <a:gd name="csY0" fmla="*/ 7970 h 7970"/>
              <a:gd name="csX1" fmla="*/ 4373 w 5346"/>
              <a:gd name="csY1" fmla="*/ 0 h 7970"/>
              <a:gd name="csX2" fmla="*/ 1230 w 5346"/>
              <a:gd name="csY2" fmla="*/ 7970 h 79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346" h="7970">
                <a:moveTo>
                  <a:pt x="1230" y="7970"/>
                </a:moveTo>
                <a:cubicBezTo>
                  <a:pt x="-1482" y="5788"/>
                  <a:pt x="613" y="3649"/>
                  <a:pt x="4373" y="0"/>
                </a:cubicBezTo>
                <a:cubicBezTo>
                  <a:pt x="5993" y="1621"/>
                  <a:pt x="5993" y="4795"/>
                  <a:pt x="1230" y="7970"/>
                </a:cubicBezTo>
                <a:close/>
              </a:path>
            </a:pathLst>
          </a:custGeom>
          <a:solidFill>
            <a:srgbClr val="47704C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4439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 advClick="0" advTm="1000">
        <p159:morph option="byObject"/>
      </p:transition>
    </mc:Choice>
    <mc:Fallback xmlns="">
      <p:transition spd="slow" advClick="0" advTm="1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2EA9E0F-0FF9-CE0C-FD9C-52CD8A9E3FF0}"/>
              </a:ext>
            </a:extLst>
          </p:cNvPr>
          <p:cNvSpPr/>
          <p:nvPr/>
        </p:nvSpPr>
        <p:spPr>
          <a:xfrm>
            <a:off x="-356259" y="-293914"/>
            <a:ext cx="12874832" cy="7445829"/>
          </a:xfrm>
          <a:custGeom>
            <a:avLst/>
            <a:gdLst>
              <a:gd name="csX0" fmla="*/ 6541178 w 13077372"/>
              <a:gd name="csY0" fmla="*/ 1782535 h 7561942"/>
              <a:gd name="csX1" fmla="*/ 6352443 w 13077372"/>
              <a:gd name="csY1" fmla="*/ 1865883 h 7561942"/>
              <a:gd name="csX2" fmla="*/ 6328343 w 13077372"/>
              <a:gd name="csY2" fmla="*/ 1919390 h 7561942"/>
              <a:gd name="csX3" fmla="*/ 6436671 w 13077372"/>
              <a:gd name="csY3" fmla="*/ 2233370 h 7561942"/>
              <a:gd name="csX4" fmla="*/ 6168170 w 13077372"/>
              <a:gd name="csY4" fmla="*/ 2268834 h 7561942"/>
              <a:gd name="csX5" fmla="*/ 5314439 w 13077372"/>
              <a:gd name="csY5" fmla="*/ 2552338 h 7561942"/>
              <a:gd name="csX6" fmla="*/ 4937467 w 13077372"/>
              <a:gd name="csY6" fmla="*/ 2869589 h 7561942"/>
              <a:gd name="csX7" fmla="*/ 4839359 w 13077372"/>
              <a:gd name="csY7" fmla="*/ 3052374 h 7561942"/>
              <a:gd name="csX8" fmla="*/ 4836203 w 13077372"/>
              <a:gd name="csY8" fmla="*/ 3277960 h 7561942"/>
              <a:gd name="csX9" fmla="*/ 4863578 w 13077372"/>
              <a:gd name="csY9" fmla="*/ 3308616 h 7561942"/>
              <a:gd name="csX10" fmla="*/ 5146225 w 13077372"/>
              <a:gd name="csY10" fmla="*/ 3650446 h 7561942"/>
              <a:gd name="csX11" fmla="*/ 5192920 w 13077372"/>
              <a:gd name="csY11" fmla="*/ 3620699 h 7561942"/>
              <a:gd name="csX12" fmla="*/ 5170530 w 13077372"/>
              <a:gd name="csY12" fmla="*/ 3818976 h 7561942"/>
              <a:gd name="csX13" fmla="*/ 5182598 w 13077372"/>
              <a:gd name="csY13" fmla="*/ 4066600 h 7561942"/>
              <a:gd name="csX14" fmla="*/ 5329213 w 13077372"/>
              <a:gd name="csY14" fmla="*/ 4621486 h 7561942"/>
              <a:gd name="csX15" fmla="*/ 5483125 w 13077372"/>
              <a:gd name="csY15" fmla="*/ 5016714 h 7561942"/>
              <a:gd name="csX16" fmla="*/ 5756240 w 13077372"/>
              <a:gd name="csY16" fmla="*/ 5336144 h 7561942"/>
              <a:gd name="csX17" fmla="*/ 6208721 w 13077372"/>
              <a:gd name="csY17" fmla="*/ 5616562 h 7561942"/>
              <a:gd name="csX18" fmla="*/ 6317995 w 13077372"/>
              <a:gd name="csY18" fmla="*/ 5660666 h 7561942"/>
              <a:gd name="csX19" fmla="*/ 6518074 w 13077372"/>
              <a:gd name="csY19" fmla="*/ 5840767 h 7561942"/>
              <a:gd name="csX20" fmla="*/ 6543750 w 13077372"/>
              <a:gd name="csY20" fmla="*/ 5875254 h 7561942"/>
              <a:gd name="csX21" fmla="*/ 6579278 w 13077372"/>
              <a:gd name="csY21" fmla="*/ 5878285 h 7561942"/>
              <a:gd name="csX22" fmla="*/ 6586215 w 13077372"/>
              <a:gd name="csY22" fmla="*/ 5868822 h 7561942"/>
              <a:gd name="csX23" fmla="*/ 6623604 w 13077372"/>
              <a:gd name="csY23" fmla="*/ 5800884 h 7561942"/>
              <a:gd name="csX24" fmla="*/ 6874684 w 13077372"/>
              <a:gd name="csY24" fmla="*/ 5631846 h 7561942"/>
              <a:gd name="csX25" fmla="*/ 7365531 w 13077372"/>
              <a:gd name="csY25" fmla="*/ 5334929 h 7561942"/>
              <a:gd name="csX26" fmla="*/ 7595277 w 13077372"/>
              <a:gd name="csY26" fmla="*/ 5094252 h 7561942"/>
              <a:gd name="csX27" fmla="*/ 7695554 w 13077372"/>
              <a:gd name="csY27" fmla="*/ 4871229 h 7561942"/>
              <a:gd name="csX28" fmla="*/ 7895311 w 13077372"/>
              <a:gd name="csY28" fmla="*/ 4268533 h 7561942"/>
              <a:gd name="csX29" fmla="*/ 7957529 w 13077372"/>
              <a:gd name="csY29" fmla="*/ 3864844 h 7561942"/>
              <a:gd name="csX30" fmla="*/ 7928262 w 13077372"/>
              <a:gd name="csY30" fmla="*/ 3651288 h 7561942"/>
              <a:gd name="csX31" fmla="*/ 7923780 w 13077372"/>
              <a:gd name="csY31" fmla="*/ 3617893 h 7561942"/>
              <a:gd name="csX32" fmla="*/ 7971358 w 13077372"/>
              <a:gd name="csY32" fmla="*/ 3649680 h 7561942"/>
              <a:gd name="csX33" fmla="*/ 8261281 w 13077372"/>
              <a:gd name="csY33" fmla="*/ 3317271 h 7561942"/>
              <a:gd name="csX34" fmla="*/ 8272145 w 13077372"/>
              <a:gd name="csY34" fmla="*/ 3293795 h 7561942"/>
              <a:gd name="csX35" fmla="*/ 8274728 w 13077372"/>
              <a:gd name="csY35" fmla="*/ 3030310 h 7561942"/>
              <a:gd name="csX36" fmla="*/ 8175593 w 13077372"/>
              <a:gd name="csY36" fmla="*/ 2860946 h 7561942"/>
              <a:gd name="csX37" fmla="*/ 7832832 w 13077372"/>
              <a:gd name="csY37" fmla="*/ 2568395 h 7561942"/>
              <a:gd name="csX38" fmla="*/ 7443402 w 13077372"/>
              <a:gd name="csY38" fmla="*/ 2389523 h 7561942"/>
              <a:gd name="csX39" fmla="*/ 7005955 w 13077372"/>
              <a:gd name="csY39" fmla="*/ 2279061 h 7561942"/>
              <a:gd name="csX40" fmla="*/ 6688785 w 13077372"/>
              <a:gd name="csY40" fmla="*/ 2231335 h 7561942"/>
              <a:gd name="csX41" fmla="*/ 6706316 w 13077372"/>
              <a:gd name="csY41" fmla="*/ 2166940 h 7561942"/>
              <a:gd name="csX42" fmla="*/ 6790250 w 13077372"/>
              <a:gd name="csY42" fmla="*/ 1916549 h 7561942"/>
              <a:gd name="csX43" fmla="*/ 6765528 w 13077372"/>
              <a:gd name="csY43" fmla="*/ 1864868 h 7561942"/>
              <a:gd name="csX44" fmla="*/ 6577312 w 13077372"/>
              <a:gd name="csY44" fmla="*/ 1785420 h 7561942"/>
              <a:gd name="csX45" fmla="*/ 6541178 w 13077372"/>
              <a:gd name="csY45" fmla="*/ 1782535 h 7561942"/>
              <a:gd name="csX46" fmla="*/ 0 w 13077372"/>
              <a:gd name="csY46" fmla="*/ 0 h 7561942"/>
              <a:gd name="csX47" fmla="*/ 13077372 w 13077372"/>
              <a:gd name="csY47" fmla="*/ 0 h 7561942"/>
              <a:gd name="csX48" fmla="*/ 13077372 w 13077372"/>
              <a:gd name="csY48" fmla="*/ 7561942 h 7561942"/>
              <a:gd name="csX49" fmla="*/ 0 w 13077372"/>
              <a:gd name="csY49" fmla="*/ 7561942 h 7561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</a:cxnLst>
            <a:rect l="l" t="t" r="r" b="b"/>
            <a:pathLst>
              <a:path w="13077372" h="7561942">
                <a:moveTo>
                  <a:pt x="6541178" y="1782535"/>
                </a:moveTo>
                <a:cubicBezTo>
                  <a:pt x="6478408" y="1810687"/>
                  <a:pt x="6416619" y="1841419"/>
                  <a:pt x="6352443" y="1865883"/>
                </a:cubicBezTo>
                <a:cubicBezTo>
                  <a:pt x="6321133" y="1877818"/>
                  <a:pt x="6318817" y="1892286"/>
                  <a:pt x="6328343" y="1919390"/>
                </a:cubicBezTo>
                <a:cubicBezTo>
                  <a:pt x="6364753" y="2022975"/>
                  <a:pt x="6400060" y="2126948"/>
                  <a:pt x="6436671" y="2233370"/>
                </a:cubicBezTo>
                <a:cubicBezTo>
                  <a:pt x="6344250" y="2245407"/>
                  <a:pt x="6255727" y="2254224"/>
                  <a:pt x="6168170" y="2268834"/>
                </a:cubicBezTo>
                <a:cubicBezTo>
                  <a:pt x="5868963" y="2318757"/>
                  <a:pt x="5579287" y="2396834"/>
                  <a:pt x="5314439" y="2552338"/>
                </a:cubicBezTo>
                <a:cubicBezTo>
                  <a:pt x="5170133" y="2637065"/>
                  <a:pt x="5038293" y="2735784"/>
                  <a:pt x="4937467" y="2869589"/>
                </a:cubicBezTo>
                <a:cubicBezTo>
                  <a:pt x="4897668" y="2922406"/>
                  <a:pt x="4873695" y="2987148"/>
                  <a:pt x="4839359" y="3052374"/>
                </a:cubicBezTo>
                <a:cubicBezTo>
                  <a:pt x="4836203" y="3131512"/>
                  <a:pt x="4836203" y="3204736"/>
                  <a:pt x="4836203" y="3277960"/>
                </a:cubicBezTo>
                <a:cubicBezTo>
                  <a:pt x="4845533" y="3288098"/>
                  <a:pt x="4858902" y="3296657"/>
                  <a:pt x="4863578" y="3308616"/>
                </a:cubicBezTo>
                <a:cubicBezTo>
                  <a:pt x="4920304" y="3453663"/>
                  <a:pt x="5031245" y="3552708"/>
                  <a:pt x="5146225" y="3650446"/>
                </a:cubicBezTo>
                <a:cubicBezTo>
                  <a:pt x="5162869" y="3639843"/>
                  <a:pt x="5176736" y="3631009"/>
                  <a:pt x="5192920" y="3620699"/>
                </a:cubicBezTo>
                <a:cubicBezTo>
                  <a:pt x="5184682" y="3689673"/>
                  <a:pt x="5171824" y="3754209"/>
                  <a:pt x="5170530" y="3818976"/>
                </a:cubicBezTo>
                <a:cubicBezTo>
                  <a:pt x="5168882" y="3901595"/>
                  <a:pt x="5164838" y="3987020"/>
                  <a:pt x="5182598" y="4066600"/>
                </a:cubicBezTo>
                <a:cubicBezTo>
                  <a:pt x="5224248" y="4253231"/>
                  <a:pt x="5272402" y="4438925"/>
                  <a:pt x="5329213" y="4621486"/>
                </a:cubicBezTo>
                <a:cubicBezTo>
                  <a:pt x="5371125" y="4756167"/>
                  <a:pt x="5429177" y="4885996"/>
                  <a:pt x="5483125" y="5016714"/>
                </a:cubicBezTo>
                <a:cubicBezTo>
                  <a:pt x="5539111" y="5152378"/>
                  <a:pt x="5643692" y="5247842"/>
                  <a:pt x="5756240" y="5336144"/>
                </a:cubicBezTo>
                <a:cubicBezTo>
                  <a:pt x="5896751" y="5446387"/>
                  <a:pt x="6047058" y="5540678"/>
                  <a:pt x="6208721" y="5616562"/>
                </a:cubicBezTo>
                <a:cubicBezTo>
                  <a:pt x="6244257" y="5633243"/>
                  <a:pt x="6280413" y="5649969"/>
                  <a:pt x="6317995" y="5660666"/>
                </a:cubicBezTo>
                <a:cubicBezTo>
                  <a:pt x="6414872" y="5688243"/>
                  <a:pt x="6476188" y="5753038"/>
                  <a:pt x="6518074" y="5840767"/>
                </a:cubicBezTo>
                <a:cubicBezTo>
                  <a:pt x="6523427" y="5851979"/>
                  <a:pt x="6531752" y="5861772"/>
                  <a:pt x="6543750" y="5875254"/>
                </a:cubicBezTo>
                <a:cubicBezTo>
                  <a:pt x="6558958" y="5878285"/>
                  <a:pt x="6569118" y="5878285"/>
                  <a:pt x="6579278" y="5878285"/>
                </a:cubicBezTo>
                <a:cubicBezTo>
                  <a:pt x="6580861" y="5875507"/>
                  <a:pt x="6582444" y="5872729"/>
                  <a:pt x="6586215" y="5868822"/>
                </a:cubicBezTo>
                <a:cubicBezTo>
                  <a:pt x="6600197" y="5845451"/>
                  <a:pt x="6613045" y="5823697"/>
                  <a:pt x="6623604" y="5800884"/>
                </a:cubicBezTo>
                <a:cubicBezTo>
                  <a:pt x="6673213" y="5693702"/>
                  <a:pt x="6780703" y="5672311"/>
                  <a:pt x="6874684" y="5631846"/>
                </a:cubicBezTo>
                <a:cubicBezTo>
                  <a:pt x="7052108" y="5555454"/>
                  <a:pt x="7213886" y="5453691"/>
                  <a:pt x="7365531" y="5334929"/>
                </a:cubicBezTo>
                <a:cubicBezTo>
                  <a:pt x="7453810" y="5265793"/>
                  <a:pt x="7540618" y="5193896"/>
                  <a:pt x="7595277" y="5094252"/>
                </a:cubicBezTo>
                <a:cubicBezTo>
                  <a:pt x="7634384" y="5022959"/>
                  <a:pt x="7668558" y="4947906"/>
                  <a:pt x="7695554" y="4871229"/>
                </a:cubicBezTo>
                <a:cubicBezTo>
                  <a:pt x="7765854" y="4671565"/>
                  <a:pt x="7838976" y="4472292"/>
                  <a:pt x="7895311" y="4268533"/>
                </a:cubicBezTo>
                <a:cubicBezTo>
                  <a:pt x="7931393" y="4138024"/>
                  <a:pt x="7946618" y="4000386"/>
                  <a:pt x="7957529" y="3864844"/>
                </a:cubicBezTo>
                <a:cubicBezTo>
                  <a:pt x="7963159" y="3794898"/>
                  <a:pt x="7938949" y="3722554"/>
                  <a:pt x="7928262" y="3651288"/>
                </a:cubicBezTo>
                <a:cubicBezTo>
                  <a:pt x="7926975" y="3642700"/>
                  <a:pt x="7925942" y="3634074"/>
                  <a:pt x="7923780" y="3617893"/>
                </a:cubicBezTo>
                <a:cubicBezTo>
                  <a:pt x="7942403" y="3630335"/>
                  <a:pt x="7954925" y="3638701"/>
                  <a:pt x="7971358" y="3649680"/>
                </a:cubicBezTo>
                <a:cubicBezTo>
                  <a:pt x="8089791" y="3560169"/>
                  <a:pt x="8187042" y="3450982"/>
                  <a:pt x="8261281" y="3317271"/>
                </a:cubicBezTo>
                <a:cubicBezTo>
                  <a:pt x="8265927" y="3310275"/>
                  <a:pt x="8267744" y="3304891"/>
                  <a:pt x="8272145" y="3293795"/>
                </a:cubicBezTo>
                <a:cubicBezTo>
                  <a:pt x="8274728" y="3202158"/>
                  <a:pt x="8274728" y="3116234"/>
                  <a:pt x="8274728" y="3030310"/>
                </a:cubicBezTo>
                <a:cubicBezTo>
                  <a:pt x="8242028" y="2973598"/>
                  <a:pt x="8214488" y="2913031"/>
                  <a:pt x="8175593" y="2860946"/>
                </a:cubicBezTo>
                <a:cubicBezTo>
                  <a:pt x="8083866" y="2738116"/>
                  <a:pt x="7966456" y="2640844"/>
                  <a:pt x="7832832" y="2568395"/>
                </a:cubicBezTo>
                <a:cubicBezTo>
                  <a:pt x="7707385" y="2500379"/>
                  <a:pt x="7577829" y="2436161"/>
                  <a:pt x="7443402" y="2389523"/>
                </a:cubicBezTo>
                <a:cubicBezTo>
                  <a:pt x="7301799" y="2340396"/>
                  <a:pt x="7153072" y="2310368"/>
                  <a:pt x="7005955" y="2279061"/>
                </a:cubicBezTo>
                <a:cubicBezTo>
                  <a:pt x="6903576" y="2257275"/>
                  <a:pt x="6798659" y="2247415"/>
                  <a:pt x="6688785" y="2231335"/>
                </a:cubicBezTo>
                <a:cubicBezTo>
                  <a:pt x="6694454" y="2210287"/>
                  <a:pt x="6699330" y="2188268"/>
                  <a:pt x="6706316" y="2166940"/>
                </a:cubicBezTo>
                <a:cubicBezTo>
                  <a:pt x="6733720" y="2083282"/>
                  <a:pt x="6760609" y="1999420"/>
                  <a:pt x="6790250" y="1916549"/>
                </a:cubicBezTo>
                <a:cubicBezTo>
                  <a:pt x="6800689" y="1887363"/>
                  <a:pt x="6795731" y="1875826"/>
                  <a:pt x="6765528" y="1864868"/>
                </a:cubicBezTo>
                <a:cubicBezTo>
                  <a:pt x="6703570" y="1842390"/>
                  <a:pt x="6643697" y="1814165"/>
                  <a:pt x="6577312" y="1785420"/>
                </a:cubicBezTo>
                <a:cubicBezTo>
                  <a:pt x="6561498" y="1782535"/>
                  <a:pt x="6551338" y="1782535"/>
                  <a:pt x="6541178" y="1782535"/>
                </a:cubicBezTo>
                <a:close/>
                <a:moveTo>
                  <a:pt x="0" y="0"/>
                </a:moveTo>
                <a:lnTo>
                  <a:pt x="13077372" y="0"/>
                </a:lnTo>
                <a:lnTo>
                  <a:pt x="13077372" y="7561942"/>
                </a:lnTo>
                <a:lnTo>
                  <a:pt x="0" y="756194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4AEADF-1381-4627-4ABB-4D107FF127D4}"/>
              </a:ext>
            </a:extLst>
          </p:cNvPr>
          <p:cNvSpPr txBox="1"/>
          <p:nvPr/>
        </p:nvSpPr>
        <p:spPr>
          <a:xfrm>
            <a:off x="4982901" y="2262341"/>
            <a:ext cx="2226198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400" dirty="0">
                <a:latin typeface="+mj-ea"/>
                <a:ea typeface="+mj-ea"/>
              </a:rPr>
              <a:t>ATM</a:t>
            </a:r>
            <a:endParaRPr lang="ko-KR" altLang="en-US" sz="9400" dirty="0">
              <a:latin typeface="+mj-ea"/>
              <a:ea typeface="+mj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02D8F9-C559-5431-729A-3D348B7E2268}"/>
              </a:ext>
            </a:extLst>
          </p:cNvPr>
          <p:cNvSpPr txBox="1"/>
          <p:nvPr/>
        </p:nvSpPr>
        <p:spPr>
          <a:xfrm>
            <a:off x="4516055" y="3616558"/>
            <a:ext cx="3159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err="1">
                <a:solidFill>
                  <a:schemeClr val="bg2">
                    <a:lumMod val="50000"/>
                  </a:schemeClr>
                </a:solidFill>
                <a:latin typeface="+mn-ea"/>
              </a:rPr>
              <a:t>Acornacademy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+mn-ea"/>
              </a:rPr>
              <a:t> Java Project</a:t>
            </a:r>
            <a:endParaRPr lang="ko-KR" altLang="en-US" dirty="0">
              <a:solidFill>
                <a:schemeClr val="bg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43DA24-D82C-EBD5-7F3D-8A20A61F0DDF}"/>
              </a:ext>
            </a:extLst>
          </p:cNvPr>
          <p:cNvSpPr txBox="1"/>
          <p:nvPr/>
        </p:nvSpPr>
        <p:spPr>
          <a:xfrm>
            <a:off x="10569039" y="4928260"/>
            <a:ext cx="144879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100" dirty="0">
                <a:solidFill>
                  <a:schemeClr val="bg1"/>
                </a:solidFill>
                <a:latin typeface="+mj-ea"/>
                <a:ea typeface="+mj-ea"/>
              </a:rPr>
              <a:t>팀장 </a:t>
            </a:r>
            <a:r>
              <a:rPr lang="ko-KR" altLang="en-US" sz="2100" dirty="0" err="1">
                <a:solidFill>
                  <a:schemeClr val="bg1"/>
                </a:solidFill>
                <a:latin typeface="+mj-ea"/>
                <a:ea typeface="+mj-ea"/>
              </a:rPr>
              <a:t>황스일</a:t>
            </a:r>
            <a:endParaRPr lang="en-US" altLang="ko-KR" sz="2100" dirty="0">
              <a:solidFill>
                <a:schemeClr val="bg1"/>
              </a:solidFill>
              <a:latin typeface="+mj-ea"/>
              <a:ea typeface="+mj-ea"/>
            </a:endParaRPr>
          </a:p>
          <a:p>
            <a:r>
              <a:rPr lang="ko-KR" altLang="en-US" sz="2100" dirty="0">
                <a:solidFill>
                  <a:schemeClr val="bg1"/>
                </a:solidFill>
                <a:latin typeface="+mj-ea"/>
                <a:ea typeface="+mj-ea"/>
              </a:rPr>
              <a:t>팀원 이현겸</a:t>
            </a:r>
            <a:endParaRPr lang="en-US" altLang="ko-KR" sz="2100" dirty="0">
              <a:solidFill>
                <a:schemeClr val="bg1"/>
              </a:solidFill>
              <a:latin typeface="+mj-ea"/>
              <a:ea typeface="+mj-ea"/>
            </a:endParaRPr>
          </a:p>
          <a:p>
            <a:r>
              <a:rPr lang="ko-KR" altLang="en-US" sz="2100" dirty="0">
                <a:solidFill>
                  <a:schemeClr val="bg1"/>
                </a:solidFill>
                <a:latin typeface="+mj-ea"/>
                <a:ea typeface="+mj-ea"/>
              </a:rPr>
              <a:t>팀원 손영석</a:t>
            </a:r>
            <a:endParaRPr lang="en-US" altLang="ko-KR" sz="2100" dirty="0">
              <a:solidFill>
                <a:schemeClr val="bg1"/>
              </a:solidFill>
              <a:latin typeface="+mj-ea"/>
              <a:ea typeface="+mj-ea"/>
            </a:endParaRPr>
          </a:p>
          <a:p>
            <a:r>
              <a:rPr lang="ko-KR" altLang="en-US" sz="2100" dirty="0">
                <a:solidFill>
                  <a:schemeClr val="bg1"/>
                </a:solidFill>
                <a:latin typeface="+mj-ea"/>
                <a:ea typeface="+mj-ea"/>
              </a:rPr>
              <a:t>팀원 </a:t>
            </a:r>
            <a:r>
              <a:rPr lang="ko-KR" altLang="en-US" sz="2100" dirty="0" err="1">
                <a:solidFill>
                  <a:schemeClr val="bg1"/>
                </a:solidFill>
                <a:latin typeface="+mj-ea"/>
                <a:ea typeface="+mj-ea"/>
              </a:rPr>
              <a:t>장해든</a:t>
            </a:r>
            <a:endParaRPr lang="ko-KR" altLang="en-US" sz="2100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104863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D03F57BF-61CF-34F6-B0F5-4779566390D5}"/>
              </a:ext>
            </a:extLst>
          </p:cNvPr>
          <p:cNvSpPr txBox="1"/>
          <p:nvPr/>
        </p:nvSpPr>
        <p:spPr>
          <a:xfrm>
            <a:off x="328246" y="377952"/>
            <a:ext cx="48919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+mj-lt"/>
              </a:rPr>
              <a:t>목차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07F199-185A-1A20-CFC4-C9AB49C5F490}"/>
              </a:ext>
            </a:extLst>
          </p:cNvPr>
          <p:cNvSpPr txBox="1"/>
          <p:nvPr/>
        </p:nvSpPr>
        <p:spPr>
          <a:xfrm>
            <a:off x="1790700" y="1193800"/>
            <a:ext cx="4419600" cy="4873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sz="3200" dirty="0"/>
              <a:t>개요</a:t>
            </a:r>
            <a:endParaRPr lang="en-US" altLang="ko-KR" sz="3200" dirty="0"/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sz="3200" dirty="0"/>
              <a:t>프로젝트 구조</a:t>
            </a:r>
            <a:endParaRPr lang="en-US" altLang="ko-KR" sz="3200" dirty="0"/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sz="3200" dirty="0"/>
              <a:t>주요 기능</a:t>
            </a:r>
            <a:endParaRPr lang="en-US" altLang="ko-KR" sz="3200" dirty="0"/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sz="3200" dirty="0"/>
              <a:t>시연</a:t>
            </a:r>
            <a:endParaRPr lang="en-US" altLang="ko-KR" sz="3200" dirty="0"/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sz="3200" dirty="0"/>
              <a:t>후기</a:t>
            </a:r>
            <a:endParaRPr lang="en-US" altLang="ko-KR" sz="3200" dirty="0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37495054-6BCE-72B8-D0BF-7DDBBDEA679E}"/>
              </a:ext>
            </a:extLst>
          </p:cNvPr>
          <p:cNvSpPr>
            <a:spLocks noChangeAspect="1"/>
          </p:cNvSpPr>
          <p:nvPr/>
        </p:nvSpPr>
        <p:spPr>
          <a:xfrm>
            <a:off x="-30044672" y="-16900128"/>
            <a:ext cx="72281344" cy="40658256"/>
          </a:xfrm>
          <a:custGeom>
            <a:avLst/>
            <a:gdLst>
              <a:gd name="csX0" fmla="*/ 6541178 w 13077372"/>
              <a:gd name="csY0" fmla="*/ 1782535 h 7561942"/>
              <a:gd name="csX1" fmla="*/ 6352443 w 13077372"/>
              <a:gd name="csY1" fmla="*/ 1865883 h 7561942"/>
              <a:gd name="csX2" fmla="*/ 6328343 w 13077372"/>
              <a:gd name="csY2" fmla="*/ 1919390 h 7561942"/>
              <a:gd name="csX3" fmla="*/ 6436671 w 13077372"/>
              <a:gd name="csY3" fmla="*/ 2233370 h 7561942"/>
              <a:gd name="csX4" fmla="*/ 6168170 w 13077372"/>
              <a:gd name="csY4" fmla="*/ 2268834 h 7561942"/>
              <a:gd name="csX5" fmla="*/ 5314439 w 13077372"/>
              <a:gd name="csY5" fmla="*/ 2552338 h 7561942"/>
              <a:gd name="csX6" fmla="*/ 4937467 w 13077372"/>
              <a:gd name="csY6" fmla="*/ 2869589 h 7561942"/>
              <a:gd name="csX7" fmla="*/ 4839359 w 13077372"/>
              <a:gd name="csY7" fmla="*/ 3052374 h 7561942"/>
              <a:gd name="csX8" fmla="*/ 4836203 w 13077372"/>
              <a:gd name="csY8" fmla="*/ 3277960 h 7561942"/>
              <a:gd name="csX9" fmla="*/ 4863578 w 13077372"/>
              <a:gd name="csY9" fmla="*/ 3308616 h 7561942"/>
              <a:gd name="csX10" fmla="*/ 5146225 w 13077372"/>
              <a:gd name="csY10" fmla="*/ 3650446 h 7561942"/>
              <a:gd name="csX11" fmla="*/ 5192920 w 13077372"/>
              <a:gd name="csY11" fmla="*/ 3620699 h 7561942"/>
              <a:gd name="csX12" fmla="*/ 5170530 w 13077372"/>
              <a:gd name="csY12" fmla="*/ 3818976 h 7561942"/>
              <a:gd name="csX13" fmla="*/ 5182598 w 13077372"/>
              <a:gd name="csY13" fmla="*/ 4066600 h 7561942"/>
              <a:gd name="csX14" fmla="*/ 5329213 w 13077372"/>
              <a:gd name="csY14" fmla="*/ 4621486 h 7561942"/>
              <a:gd name="csX15" fmla="*/ 5483125 w 13077372"/>
              <a:gd name="csY15" fmla="*/ 5016714 h 7561942"/>
              <a:gd name="csX16" fmla="*/ 5756240 w 13077372"/>
              <a:gd name="csY16" fmla="*/ 5336144 h 7561942"/>
              <a:gd name="csX17" fmla="*/ 6208721 w 13077372"/>
              <a:gd name="csY17" fmla="*/ 5616562 h 7561942"/>
              <a:gd name="csX18" fmla="*/ 6317995 w 13077372"/>
              <a:gd name="csY18" fmla="*/ 5660666 h 7561942"/>
              <a:gd name="csX19" fmla="*/ 6518074 w 13077372"/>
              <a:gd name="csY19" fmla="*/ 5840767 h 7561942"/>
              <a:gd name="csX20" fmla="*/ 6543750 w 13077372"/>
              <a:gd name="csY20" fmla="*/ 5875254 h 7561942"/>
              <a:gd name="csX21" fmla="*/ 6579278 w 13077372"/>
              <a:gd name="csY21" fmla="*/ 5878285 h 7561942"/>
              <a:gd name="csX22" fmla="*/ 6586215 w 13077372"/>
              <a:gd name="csY22" fmla="*/ 5868822 h 7561942"/>
              <a:gd name="csX23" fmla="*/ 6623604 w 13077372"/>
              <a:gd name="csY23" fmla="*/ 5800884 h 7561942"/>
              <a:gd name="csX24" fmla="*/ 6874684 w 13077372"/>
              <a:gd name="csY24" fmla="*/ 5631846 h 7561942"/>
              <a:gd name="csX25" fmla="*/ 7365531 w 13077372"/>
              <a:gd name="csY25" fmla="*/ 5334929 h 7561942"/>
              <a:gd name="csX26" fmla="*/ 7595277 w 13077372"/>
              <a:gd name="csY26" fmla="*/ 5094252 h 7561942"/>
              <a:gd name="csX27" fmla="*/ 7695554 w 13077372"/>
              <a:gd name="csY27" fmla="*/ 4871229 h 7561942"/>
              <a:gd name="csX28" fmla="*/ 7895311 w 13077372"/>
              <a:gd name="csY28" fmla="*/ 4268533 h 7561942"/>
              <a:gd name="csX29" fmla="*/ 7957529 w 13077372"/>
              <a:gd name="csY29" fmla="*/ 3864844 h 7561942"/>
              <a:gd name="csX30" fmla="*/ 7928262 w 13077372"/>
              <a:gd name="csY30" fmla="*/ 3651288 h 7561942"/>
              <a:gd name="csX31" fmla="*/ 7923780 w 13077372"/>
              <a:gd name="csY31" fmla="*/ 3617893 h 7561942"/>
              <a:gd name="csX32" fmla="*/ 7971358 w 13077372"/>
              <a:gd name="csY32" fmla="*/ 3649680 h 7561942"/>
              <a:gd name="csX33" fmla="*/ 8261281 w 13077372"/>
              <a:gd name="csY33" fmla="*/ 3317271 h 7561942"/>
              <a:gd name="csX34" fmla="*/ 8272145 w 13077372"/>
              <a:gd name="csY34" fmla="*/ 3293795 h 7561942"/>
              <a:gd name="csX35" fmla="*/ 8274728 w 13077372"/>
              <a:gd name="csY35" fmla="*/ 3030310 h 7561942"/>
              <a:gd name="csX36" fmla="*/ 8175593 w 13077372"/>
              <a:gd name="csY36" fmla="*/ 2860946 h 7561942"/>
              <a:gd name="csX37" fmla="*/ 7832832 w 13077372"/>
              <a:gd name="csY37" fmla="*/ 2568395 h 7561942"/>
              <a:gd name="csX38" fmla="*/ 7443402 w 13077372"/>
              <a:gd name="csY38" fmla="*/ 2389523 h 7561942"/>
              <a:gd name="csX39" fmla="*/ 7005955 w 13077372"/>
              <a:gd name="csY39" fmla="*/ 2279061 h 7561942"/>
              <a:gd name="csX40" fmla="*/ 6688785 w 13077372"/>
              <a:gd name="csY40" fmla="*/ 2231335 h 7561942"/>
              <a:gd name="csX41" fmla="*/ 6706316 w 13077372"/>
              <a:gd name="csY41" fmla="*/ 2166940 h 7561942"/>
              <a:gd name="csX42" fmla="*/ 6790250 w 13077372"/>
              <a:gd name="csY42" fmla="*/ 1916549 h 7561942"/>
              <a:gd name="csX43" fmla="*/ 6765528 w 13077372"/>
              <a:gd name="csY43" fmla="*/ 1864868 h 7561942"/>
              <a:gd name="csX44" fmla="*/ 6577312 w 13077372"/>
              <a:gd name="csY44" fmla="*/ 1785420 h 7561942"/>
              <a:gd name="csX45" fmla="*/ 6541178 w 13077372"/>
              <a:gd name="csY45" fmla="*/ 1782535 h 7561942"/>
              <a:gd name="csX46" fmla="*/ 0 w 13077372"/>
              <a:gd name="csY46" fmla="*/ 0 h 7561942"/>
              <a:gd name="csX47" fmla="*/ 13077372 w 13077372"/>
              <a:gd name="csY47" fmla="*/ 0 h 7561942"/>
              <a:gd name="csX48" fmla="*/ 13077372 w 13077372"/>
              <a:gd name="csY48" fmla="*/ 7561942 h 7561942"/>
              <a:gd name="csX49" fmla="*/ 0 w 13077372"/>
              <a:gd name="csY49" fmla="*/ 7561942 h 75619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</a:cxnLst>
            <a:rect l="l" t="t" r="r" b="b"/>
            <a:pathLst>
              <a:path w="13077372" h="7561942">
                <a:moveTo>
                  <a:pt x="6541178" y="1782535"/>
                </a:moveTo>
                <a:cubicBezTo>
                  <a:pt x="6478408" y="1810687"/>
                  <a:pt x="6416619" y="1841419"/>
                  <a:pt x="6352443" y="1865883"/>
                </a:cubicBezTo>
                <a:cubicBezTo>
                  <a:pt x="6321133" y="1877818"/>
                  <a:pt x="6318817" y="1892286"/>
                  <a:pt x="6328343" y="1919390"/>
                </a:cubicBezTo>
                <a:cubicBezTo>
                  <a:pt x="6364753" y="2022975"/>
                  <a:pt x="6400060" y="2126948"/>
                  <a:pt x="6436671" y="2233370"/>
                </a:cubicBezTo>
                <a:cubicBezTo>
                  <a:pt x="6344250" y="2245407"/>
                  <a:pt x="6255727" y="2254224"/>
                  <a:pt x="6168170" y="2268834"/>
                </a:cubicBezTo>
                <a:cubicBezTo>
                  <a:pt x="5868963" y="2318757"/>
                  <a:pt x="5579287" y="2396834"/>
                  <a:pt x="5314439" y="2552338"/>
                </a:cubicBezTo>
                <a:cubicBezTo>
                  <a:pt x="5170133" y="2637065"/>
                  <a:pt x="5038293" y="2735784"/>
                  <a:pt x="4937467" y="2869589"/>
                </a:cubicBezTo>
                <a:cubicBezTo>
                  <a:pt x="4897668" y="2922406"/>
                  <a:pt x="4873695" y="2987148"/>
                  <a:pt x="4839359" y="3052374"/>
                </a:cubicBezTo>
                <a:cubicBezTo>
                  <a:pt x="4836203" y="3131512"/>
                  <a:pt x="4836203" y="3204736"/>
                  <a:pt x="4836203" y="3277960"/>
                </a:cubicBezTo>
                <a:cubicBezTo>
                  <a:pt x="4845533" y="3288098"/>
                  <a:pt x="4858902" y="3296657"/>
                  <a:pt x="4863578" y="3308616"/>
                </a:cubicBezTo>
                <a:cubicBezTo>
                  <a:pt x="4920304" y="3453663"/>
                  <a:pt x="5031245" y="3552708"/>
                  <a:pt x="5146225" y="3650446"/>
                </a:cubicBezTo>
                <a:cubicBezTo>
                  <a:pt x="5162869" y="3639843"/>
                  <a:pt x="5176736" y="3631009"/>
                  <a:pt x="5192920" y="3620699"/>
                </a:cubicBezTo>
                <a:cubicBezTo>
                  <a:pt x="5184682" y="3689673"/>
                  <a:pt x="5171824" y="3754209"/>
                  <a:pt x="5170530" y="3818976"/>
                </a:cubicBezTo>
                <a:cubicBezTo>
                  <a:pt x="5168882" y="3901595"/>
                  <a:pt x="5164838" y="3987020"/>
                  <a:pt x="5182598" y="4066600"/>
                </a:cubicBezTo>
                <a:cubicBezTo>
                  <a:pt x="5224248" y="4253231"/>
                  <a:pt x="5272402" y="4438925"/>
                  <a:pt x="5329213" y="4621486"/>
                </a:cubicBezTo>
                <a:cubicBezTo>
                  <a:pt x="5371125" y="4756167"/>
                  <a:pt x="5429177" y="4885996"/>
                  <a:pt x="5483125" y="5016714"/>
                </a:cubicBezTo>
                <a:cubicBezTo>
                  <a:pt x="5539111" y="5152378"/>
                  <a:pt x="5643692" y="5247842"/>
                  <a:pt x="5756240" y="5336144"/>
                </a:cubicBezTo>
                <a:cubicBezTo>
                  <a:pt x="5896751" y="5446387"/>
                  <a:pt x="6047058" y="5540678"/>
                  <a:pt x="6208721" y="5616562"/>
                </a:cubicBezTo>
                <a:cubicBezTo>
                  <a:pt x="6244257" y="5633243"/>
                  <a:pt x="6280413" y="5649969"/>
                  <a:pt x="6317995" y="5660666"/>
                </a:cubicBezTo>
                <a:cubicBezTo>
                  <a:pt x="6414872" y="5688243"/>
                  <a:pt x="6476188" y="5753038"/>
                  <a:pt x="6518074" y="5840767"/>
                </a:cubicBezTo>
                <a:cubicBezTo>
                  <a:pt x="6523427" y="5851979"/>
                  <a:pt x="6531752" y="5861772"/>
                  <a:pt x="6543750" y="5875254"/>
                </a:cubicBezTo>
                <a:cubicBezTo>
                  <a:pt x="6558958" y="5878285"/>
                  <a:pt x="6569118" y="5878285"/>
                  <a:pt x="6579278" y="5878285"/>
                </a:cubicBezTo>
                <a:cubicBezTo>
                  <a:pt x="6580861" y="5875507"/>
                  <a:pt x="6582444" y="5872729"/>
                  <a:pt x="6586215" y="5868822"/>
                </a:cubicBezTo>
                <a:cubicBezTo>
                  <a:pt x="6600197" y="5845451"/>
                  <a:pt x="6613045" y="5823697"/>
                  <a:pt x="6623604" y="5800884"/>
                </a:cubicBezTo>
                <a:cubicBezTo>
                  <a:pt x="6673213" y="5693702"/>
                  <a:pt x="6780703" y="5672311"/>
                  <a:pt x="6874684" y="5631846"/>
                </a:cubicBezTo>
                <a:cubicBezTo>
                  <a:pt x="7052108" y="5555454"/>
                  <a:pt x="7213886" y="5453691"/>
                  <a:pt x="7365531" y="5334929"/>
                </a:cubicBezTo>
                <a:cubicBezTo>
                  <a:pt x="7453810" y="5265793"/>
                  <a:pt x="7540618" y="5193896"/>
                  <a:pt x="7595277" y="5094252"/>
                </a:cubicBezTo>
                <a:cubicBezTo>
                  <a:pt x="7634384" y="5022959"/>
                  <a:pt x="7668558" y="4947906"/>
                  <a:pt x="7695554" y="4871229"/>
                </a:cubicBezTo>
                <a:cubicBezTo>
                  <a:pt x="7765854" y="4671565"/>
                  <a:pt x="7838976" y="4472292"/>
                  <a:pt x="7895311" y="4268533"/>
                </a:cubicBezTo>
                <a:cubicBezTo>
                  <a:pt x="7931393" y="4138024"/>
                  <a:pt x="7946618" y="4000386"/>
                  <a:pt x="7957529" y="3864844"/>
                </a:cubicBezTo>
                <a:cubicBezTo>
                  <a:pt x="7963159" y="3794898"/>
                  <a:pt x="7938949" y="3722554"/>
                  <a:pt x="7928262" y="3651288"/>
                </a:cubicBezTo>
                <a:cubicBezTo>
                  <a:pt x="7926975" y="3642700"/>
                  <a:pt x="7925942" y="3634074"/>
                  <a:pt x="7923780" y="3617893"/>
                </a:cubicBezTo>
                <a:cubicBezTo>
                  <a:pt x="7942403" y="3630335"/>
                  <a:pt x="7954925" y="3638701"/>
                  <a:pt x="7971358" y="3649680"/>
                </a:cubicBezTo>
                <a:cubicBezTo>
                  <a:pt x="8089791" y="3560169"/>
                  <a:pt x="8187042" y="3450982"/>
                  <a:pt x="8261281" y="3317271"/>
                </a:cubicBezTo>
                <a:cubicBezTo>
                  <a:pt x="8265927" y="3310275"/>
                  <a:pt x="8267744" y="3304891"/>
                  <a:pt x="8272145" y="3293795"/>
                </a:cubicBezTo>
                <a:cubicBezTo>
                  <a:pt x="8274728" y="3202158"/>
                  <a:pt x="8274728" y="3116234"/>
                  <a:pt x="8274728" y="3030310"/>
                </a:cubicBezTo>
                <a:cubicBezTo>
                  <a:pt x="8242028" y="2973598"/>
                  <a:pt x="8214488" y="2913031"/>
                  <a:pt x="8175593" y="2860946"/>
                </a:cubicBezTo>
                <a:cubicBezTo>
                  <a:pt x="8083866" y="2738116"/>
                  <a:pt x="7966456" y="2640844"/>
                  <a:pt x="7832832" y="2568395"/>
                </a:cubicBezTo>
                <a:cubicBezTo>
                  <a:pt x="7707385" y="2500379"/>
                  <a:pt x="7577829" y="2436161"/>
                  <a:pt x="7443402" y="2389523"/>
                </a:cubicBezTo>
                <a:cubicBezTo>
                  <a:pt x="7301799" y="2340396"/>
                  <a:pt x="7153072" y="2310368"/>
                  <a:pt x="7005955" y="2279061"/>
                </a:cubicBezTo>
                <a:cubicBezTo>
                  <a:pt x="6903576" y="2257275"/>
                  <a:pt x="6798659" y="2247415"/>
                  <a:pt x="6688785" y="2231335"/>
                </a:cubicBezTo>
                <a:cubicBezTo>
                  <a:pt x="6694454" y="2210287"/>
                  <a:pt x="6699330" y="2188268"/>
                  <a:pt x="6706316" y="2166940"/>
                </a:cubicBezTo>
                <a:cubicBezTo>
                  <a:pt x="6733720" y="2083282"/>
                  <a:pt x="6760609" y="1999420"/>
                  <a:pt x="6790250" y="1916549"/>
                </a:cubicBezTo>
                <a:cubicBezTo>
                  <a:pt x="6800689" y="1887363"/>
                  <a:pt x="6795731" y="1875826"/>
                  <a:pt x="6765528" y="1864868"/>
                </a:cubicBezTo>
                <a:cubicBezTo>
                  <a:pt x="6703570" y="1842390"/>
                  <a:pt x="6643697" y="1814165"/>
                  <a:pt x="6577312" y="1785420"/>
                </a:cubicBezTo>
                <a:cubicBezTo>
                  <a:pt x="6561498" y="1782535"/>
                  <a:pt x="6551338" y="1782535"/>
                  <a:pt x="6541178" y="1782535"/>
                </a:cubicBezTo>
                <a:close/>
                <a:moveTo>
                  <a:pt x="0" y="0"/>
                </a:moveTo>
                <a:lnTo>
                  <a:pt x="13077372" y="0"/>
                </a:lnTo>
                <a:lnTo>
                  <a:pt x="13077372" y="7561942"/>
                </a:lnTo>
                <a:lnTo>
                  <a:pt x="0" y="756194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62631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E8FBA-BFB3-1C71-BFD7-3AC2B6ECB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76BC9095-2556-2717-AF21-16392620800A}"/>
              </a:ext>
            </a:extLst>
          </p:cNvPr>
          <p:cNvSpPr txBox="1"/>
          <p:nvPr/>
        </p:nvSpPr>
        <p:spPr>
          <a:xfrm>
            <a:off x="328246" y="377952"/>
            <a:ext cx="2362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>
                <a:latin typeface="+mj-lt"/>
              </a:rPr>
              <a:t>프로젝트 개요</a:t>
            </a:r>
            <a:endParaRPr lang="ko-KR" altLang="en-US" sz="3200" dirty="0">
              <a:latin typeface="+mj-lt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88DAEDB-D7E5-D156-6041-28F1C4D115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2426" y="1632813"/>
            <a:ext cx="5354900" cy="53549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5D0F7D-B4F1-C8CB-9F02-9C1028D109E5}"/>
              </a:ext>
            </a:extLst>
          </p:cNvPr>
          <p:cNvSpPr txBox="1"/>
          <p:nvPr/>
        </p:nvSpPr>
        <p:spPr>
          <a:xfrm>
            <a:off x="1241714" y="1340426"/>
            <a:ext cx="97085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/>
              <a:t>ATM</a:t>
            </a:r>
            <a:r>
              <a:rPr lang="ko-KR" altLang="en-US" sz="3200" dirty="0"/>
              <a:t> 관리 프로그램을 만들며 그동안 배운 것을 활용해 본다</a:t>
            </a:r>
            <a:r>
              <a:rPr lang="en-US" altLang="ko-KR" sz="3200" dirty="0"/>
              <a:t>.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534644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E0977-F423-4EBE-7E7E-C7E8A5D12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F638C25D-A927-E35C-A15F-E140A1FD0D00}"/>
              </a:ext>
            </a:extLst>
          </p:cNvPr>
          <p:cNvSpPr txBox="1"/>
          <p:nvPr/>
        </p:nvSpPr>
        <p:spPr>
          <a:xfrm>
            <a:off x="328246" y="377952"/>
            <a:ext cx="2362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>
                <a:latin typeface="+mj-lt"/>
              </a:rPr>
              <a:t>프로젝트 개요</a:t>
            </a:r>
            <a:endParaRPr lang="ko-KR" altLang="en-US" sz="3200" dirty="0"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B2EF5D-87ED-9195-2336-C13BF963DFF0}"/>
              </a:ext>
            </a:extLst>
          </p:cNvPr>
          <p:cNvSpPr txBox="1"/>
          <p:nvPr/>
        </p:nvSpPr>
        <p:spPr>
          <a:xfrm>
            <a:off x="468922" y="945115"/>
            <a:ext cx="1411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역할 분담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60E6A9D-39E5-207D-6A7B-1AE47B880F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661" y="1865289"/>
            <a:ext cx="3006017" cy="3006017"/>
          </a:xfrm>
          <a:prstGeom prst="rect">
            <a:avLst/>
          </a:prstGeom>
        </p:spPr>
      </p:pic>
      <p:sp>
        <p:nvSpPr>
          <p:cNvPr id="751" name="직사각형 750">
            <a:extLst>
              <a:ext uri="{FF2B5EF4-FFF2-40B4-BE49-F238E27FC236}">
                <a16:creationId xmlns:a16="http://schemas.microsoft.com/office/drawing/2014/main" id="{FE020651-6106-8C90-8C4B-E33E270ED61C}"/>
              </a:ext>
            </a:extLst>
          </p:cNvPr>
          <p:cNvSpPr/>
          <p:nvPr/>
        </p:nvSpPr>
        <p:spPr>
          <a:xfrm>
            <a:off x="683172" y="2083408"/>
            <a:ext cx="1208093" cy="25408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53" name="직선 연결선 752">
            <a:extLst>
              <a:ext uri="{FF2B5EF4-FFF2-40B4-BE49-F238E27FC236}">
                <a16:creationId xmlns:a16="http://schemas.microsoft.com/office/drawing/2014/main" id="{9948F042-CCF7-9C6C-5FF7-085F5EA19228}"/>
              </a:ext>
            </a:extLst>
          </p:cNvPr>
          <p:cNvCxnSpPr>
            <a:cxnSpLocks/>
          </p:cNvCxnSpPr>
          <p:nvPr/>
        </p:nvCxnSpPr>
        <p:spPr>
          <a:xfrm flipV="1">
            <a:off x="1891265" y="2018325"/>
            <a:ext cx="810491" cy="134997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4" name="직선 연결선 753">
            <a:extLst>
              <a:ext uri="{FF2B5EF4-FFF2-40B4-BE49-F238E27FC236}">
                <a16:creationId xmlns:a16="http://schemas.microsoft.com/office/drawing/2014/main" id="{61FF1624-6801-BD69-42F4-4669E19102A5}"/>
              </a:ext>
            </a:extLst>
          </p:cNvPr>
          <p:cNvCxnSpPr>
            <a:cxnSpLocks/>
          </p:cNvCxnSpPr>
          <p:nvPr/>
        </p:nvCxnSpPr>
        <p:spPr>
          <a:xfrm flipV="1">
            <a:off x="1891263" y="2958775"/>
            <a:ext cx="810495" cy="3912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7" name="직선 연결선 756">
            <a:extLst>
              <a:ext uri="{FF2B5EF4-FFF2-40B4-BE49-F238E27FC236}">
                <a16:creationId xmlns:a16="http://schemas.microsoft.com/office/drawing/2014/main" id="{AFD5EF5A-36B1-DA9E-3992-976F502D5C4B}"/>
              </a:ext>
            </a:extLst>
          </p:cNvPr>
          <p:cNvCxnSpPr>
            <a:cxnSpLocks/>
          </p:cNvCxnSpPr>
          <p:nvPr/>
        </p:nvCxnSpPr>
        <p:spPr>
          <a:xfrm>
            <a:off x="1891261" y="3368298"/>
            <a:ext cx="810496" cy="5309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0" name="직선 연결선 759">
            <a:extLst>
              <a:ext uri="{FF2B5EF4-FFF2-40B4-BE49-F238E27FC236}">
                <a16:creationId xmlns:a16="http://schemas.microsoft.com/office/drawing/2014/main" id="{AD751F87-6BB2-CDEC-CB2C-58244B5D2846}"/>
              </a:ext>
            </a:extLst>
          </p:cNvPr>
          <p:cNvCxnSpPr>
            <a:cxnSpLocks/>
          </p:cNvCxnSpPr>
          <p:nvPr/>
        </p:nvCxnSpPr>
        <p:spPr>
          <a:xfrm>
            <a:off x="1904666" y="3350068"/>
            <a:ext cx="797091" cy="148960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13" name="TextBox 812">
            <a:extLst>
              <a:ext uri="{FF2B5EF4-FFF2-40B4-BE49-F238E27FC236}">
                <a16:creationId xmlns:a16="http://schemas.microsoft.com/office/drawing/2014/main" id="{F7E7249E-7E24-DDC6-0B73-095F60BDC35D}"/>
              </a:ext>
            </a:extLst>
          </p:cNvPr>
          <p:cNvSpPr txBox="1"/>
          <p:nvPr/>
        </p:nvSpPr>
        <p:spPr>
          <a:xfrm>
            <a:off x="2701756" y="1802881"/>
            <a:ext cx="526508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dirty="0"/>
              <a:t>사용자 인증 및 보안 </a:t>
            </a:r>
            <a:r>
              <a:rPr lang="en-US" altLang="ko-KR" sz="2200" dirty="0"/>
              <a:t>/ </a:t>
            </a:r>
            <a:r>
              <a:rPr lang="ko-KR" altLang="en-US" sz="2200" dirty="0"/>
              <a:t>계좌</a:t>
            </a:r>
            <a:r>
              <a:rPr lang="en-US" altLang="ko-KR" sz="2200" dirty="0"/>
              <a:t>, </a:t>
            </a:r>
            <a:r>
              <a:rPr lang="ko-KR" altLang="en-US" sz="2200" dirty="0"/>
              <a:t>고객 데이터 관리</a:t>
            </a:r>
          </a:p>
        </p:txBody>
      </p:sp>
      <p:sp>
        <p:nvSpPr>
          <p:cNvPr id="814" name="TextBox 813">
            <a:extLst>
              <a:ext uri="{FF2B5EF4-FFF2-40B4-BE49-F238E27FC236}">
                <a16:creationId xmlns:a16="http://schemas.microsoft.com/office/drawing/2014/main" id="{B2EF29C9-D7C2-8515-82F2-A1C20F104C9B}"/>
              </a:ext>
            </a:extLst>
          </p:cNvPr>
          <p:cNvSpPr txBox="1"/>
          <p:nvPr/>
        </p:nvSpPr>
        <p:spPr>
          <a:xfrm>
            <a:off x="2701758" y="2743331"/>
            <a:ext cx="36254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dirty="0"/>
              <a:t>입출금</a:t>
            </a:r>
            <a:r>
              <a:rPr lang="en-US" altLang="ko-KR" sz="2200" dirty="0"/>
              <a:t>, </a:t>
            </a:r>
            <a:r>
              <a:rPr lang="ko-KR" altLang="en-US" sz="2200" dirty="0"/>
              <a:t>계좌 이체 및 잔액 제어</a:t>
            </a:r>
          </a:p>
        </p:txBody>
      </p:sp>
      <p:sp>
        <p:nvSpPr>
          <p:cNvPr id="815" name="TextBox 814">
            <a:extLst>
              <a:ext uri="{FF2B5EF4-FFF2-40B4-BE49-F238E27FC236}">
                <a16:creationId xmlns:a16="http://schemas.microsoft.com/office/drawing/2014/main" id="{2341E830-FBCB-6898-01D1-B29C9CA5001B}"/>
              </a:ext>
            </a:extLst>
          </p:cNvPr>
          <p:cNvSpPr txBox="1"/>
          <p:nvPr/>
        </p:nvSpPr>
        <p:spPr>
          <a:xfrm>
            <a:off x="2701757" y="3683781"/>
            <a:ext cx="245882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dirty="0"/>
              <a:t>거래 내역 기록</a:t>
            </a:r>
            <a:r>
              <a:rPr lang="en-US" altLang="ko-KR" sz="2200" dirty="0"/>
              <a:t>(</a:t>
            </a:r>
            <a:r>
              <a:rPr lang="ko-KR" altLang="en-US" sz="2200" dirty="0"/>
              <a:t>로그</a:t>
            </a:r>
            <a:r>
              <a:rPr lang="en-US" altLang="ko-KR" sz="2200" dirty="0"/>
              <a:t>)</a:t>
            </a:r>
            <a:endParaRPr lang="ko-KR" altLang="en-US" sz="2200" dirty="0"/>
          </a:p>
        </p:txBody>
      </p:sp>
      <p:sp>
        <p:nvSpPr>
          <p:cNvPr id="816" name="TextBox 815">
            <a:extLst>
              <a:ext uri="{FF2B5EF4-FFF2-40B4-BE49-F238E27FC236}">
                <a16:creationId xmlns:a16="http://schemas.microsoft.com/office/drawing/2014/main" id="{B69FF587-84C2-C59F-DABF-25499055256E}"/>
              </a:ext>
            </a:extLst>
          </p:cNvPr>
          <p:cNvSpPr txBox="1"/>
          <p:nvPr/>
        </p:nvSpPr>
        <p:spPr>
          <a:xfrm>
            <a:off x="2701757" y="4624232"/>
            <a:ext cx="20489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dirty="0"/>
              <a:t>기기 관리자 기능</a:t>
            </a:r>
          </a:p>
        </p:txBody>
      </p:sp>
      <p:sp>
        <p:nvSpPr>
          <p:cNvPr id="817" name="직사각형 816">
            <a:extLst>
              <a:ext uri="{FF2B5EF4-FFF2-40B4-BE49-F238E27FC236}">
                <a16:creationId xmlns:a16="http://schemas.microsoft.com/office/drawing/2014/main" id="{7AC5B158-EC6B-F957-AEE5-F5BD4B4CD54E}"/>
              </a:ext>
            </a:extLst>
          </p:cNvPr>
          <p:cNvSpPr/>
          <p:nvPr/>
        </p:nvSpPr>
        <p:spPr>
          <a:xfrm>
            <a:off x="683172" y="2083408"/>
            <a:ext cx="1208093" cy="25408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2" name="TextBox 821">
            <a:extLst>
              <a:ext uri="{FF2B5EF4-FFF2-40B4-BE49-F238E27FC236}">
                <a16:creationId xmlns:a16="http://schemas.microsoft.com/office/drawing/2014/main" id="{1F33BBA9-2191-EAC7-3F14-30FB7D50AD0E}"/>
              </a:ext>
            </a:extLst>
          </p:cNvPr>
          <p:cNvSpPr txBox="1"/>
          <p:nvPr/>
        </p:nvSpPr>
        <p:spPr>
          <a:xfrm>
            <a:off x="8755117" y="1725937"/>
            <a:ext cx="16921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/>
              <a:t>이현겸</a:t>
            </a:r>
          </a:p>
        </p:txBody>
      </p:sp>
      <p:sp>
        <p:nvSpPr>
          <p:cNvPr id="823" name="TextBox 822">
            <a:extLst>
              <a:ext uri="{FF2B5EF4-FFF2-40B4-BE49-F238E27FC236}">
                <a16:creationId xmlns:a16="http://schemas.microsoft.com/office/drawing/2014/main" id="{032A368D-14D7-D125-965B-ADBB6617D12F}"/>
              </a:ext>
            </a:extLst>
          </p:cNvPr>
          <p:cNvSpPr txBox="1"/>
          <p:nvPr/>
        </p:nvSpPr>
        <p:spPr>
          <a:xfrm>
            <a:off x="8755117" y="3057680"/>
            <a:ext cx="16921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/>
              <a:t>손영석</a:t>
            </a:r>
          </a:p>
        </p:txBody>
      </p:sp>
      <p:sp>
        <p:nvSpPr>
          <p:cNvPr id="824" name="TextBox 823">
            <a:extLst>
              <a:ext uri="{FF2B5EF4-FFF2-40B4-BE49-F238E27FC236}">
                <a16:creationId xmlns:a16="http://schemas.microsoft.com/office/drawing/2014/main" id="{09E9EF47-AD6C-EB3B-638D-D9AF0FB73D57}"/>
              </a:ext>
            </a:extLst>
          </p:cNvPr>
          <p:cNvSpPr txBox="1"/>
          <p:nvPr/>
        </p:nvSpPr>
        <p:spPr>
          <a:xfrm>
            <a:off x="8755117" y="4547287"/>
            <a:ext cx="16921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 err="1"/>
              <a:t>장해든</a:t>
            </a:r>
            <a:endParaRPr lang="ko-KR" altLang="en-US" sz="3200" dirty="0"/>
          </a:p>
        </p:txBody>
      </p:sp>
      <p:cxnSp>
        <p:nvCxnSpPr>
          <p:cNvPr id="825" name="직선 화살표 연결선 824">
            <a:extLst>
              <a:ext uri="{FF2B5EF4-FFF2-40B4-BE49-F238E27FC236}">
                <a16:creationId xmlns:a16="http://schemas.microsoft.com/office/drawing/2014/main" id="{3EBC2E8B-EA03-3D4D-19F0-0167D4F95999}"/>
              </a:ext>
            </a:extLst>
          </p:cNvPr>
          <p:cNvCxnSpPr>
            <a:stCxn id="813" idx="3"/>
            <a:endCxn id="822" idx="1"/>
          </p:cNvCxnSpPr>
          <p:nvPr/>
        </p:nvCxnSpPr>
        <p:spPr>
          <a:xfrm>
            <a:off x="7966842" y="2018325"/>
            <a:ext cx="7882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26" name="연결선: 꺾임 825">
            <a:extLst>
              <a:ext uri="{FF2B5EF4-FFF2-40B4-BE49-F238E27FC236}">
                <a16:creationId xmlns:a16="http://schemas.microsoft.com/office/drawing/2014/main" id="{8B238CE9-8B7C-8AAE-BF7E-109653D9B0C6}"/>
              </a:ext>
            </a:extLst>
          </p:cNvPr>
          <p:cNvCxnSpPr>
            <a:stCxn id="814" idx="3"/>
            <a:endCxn id="823" idx="1"/>
          </p:cNvCxnSpPr>
          <p:nvPr/>
        </p:nvCxnSpPr>
        <p:spPr>
          <a:xfrm>
            <a:off x="6327228" y="2958775"/>
            <a:ext cx="2427889" cy="39129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7" name="연결선: 꺾임 826">
            <a:extLst>
              <a:ext uri="{FF2B5EF4-FFF2-40B4-BE49-F238E27FC236}">
                <a16:creationId xmlns:a16="http://schemas.microsoft.com/office/drawing/2014/main" id="{35D3A967-9714-3F4E-B896-31B8C04ACBD8}"/>
              </a:ext>
            </a:extLst>
          </p:cNvPr>
          <p:cNvCxnSpPr>
            <a:cxnSpLocks/>
            <a:stCxn id="815" idx="3"/>
            <a:endCxn id="823" idx="1"/>
          </p:cNvCxnSpPr>
          <p:nvPr/>
        </p:nvCxnSpPr>
        <p:spPr>
          <a:xfrm flipV="1">
            <a:off x="5160579" y="3350068"/>
            <a:ext cx="3594538" cy="549157"/>
          </a:xfrm>
          <a:prstGeom prst="bentConnector3">
            <a:avLst>
              <a:gd name="adj1" fmla="val 6623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8" name="직선 화살표 연결선 827">
            <a:extLst>
              <a:ext uri="{FF2B5EF4-FFF2-40B4-BE49-F238E27FC236}">
                <a16:creationId xmlns:a16="http://schemas.microsoft.com/office/drawing/2014/main" id="{59365D9B-FF91-D214-5EAD-0768925780BC}"/>
              </a:ext>
            </a:extLst>
          </p:cNvPr>
          <p:cNvCxnSpPr>
            <a:stCxn id="816" idx="3"/>
            <a:endCxn id="824" idx="1"/>
          </p:cNvCxnSpPr>
          <p:nvPr/>
        </p:nvCxnSpPr>
        <p:spPr>
          <a:xfrm flipV="1">
            <a:off x="4750677" y="4839675"/>
            <a:ext cx="400444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812" name="직사각형 811">
            <a:extLst>
              <a:ext uri="{FF2B5EF4-FFF2-40B4-BE49-F238E27FC236}">
                <a16:creationId xmlns:a16="http://schemas.microsoft.com/office/drawing/2014/main" id="{A48CD2EA-20FE-C291-654D-B5E25A6CEB04}"/>
              </a:ext>
            </a:extLst>
          </p:cNvPr>
          <p:cNvSpPr/>
          <p:nvPr/>
        </p:nvSpPr>
        <p:spPr>
          <a:xfrm>
            <a:off x="5596100" y="2743331"/>
            <a:ext cx="1141032" cy="6856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7955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597A0-EE71-C285-A254-F4044E5FB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B643050-CA14-EB32-91EC-DE2793B5B6ED}"/>
              </a:ext>
            </a:extLst>
          </p:cNvPr>
          <p:cNvSpPr txBox="1"/>
          <p:nvPr/>
        </p:nvSpPr>
        <p:spPr>
          <a:xfrm>
            <a:off x="328246" y="377952"/>
            <a:ext cx="2362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>
                <a:latin typeface="+mj-lt"/>
              </a:rPr>
              <a:t>프로젝트 개요</a:t>
            </a:r>
            <a:endParaRPr lang="ko-KR" altLang="en-US" sz="3200" dirty="0"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A49ED2-908C-5B54-2800-9CF603D8FF86}"/>
              </a:ext>
            </a:extLst>
          </p:cNvPr>
          <p:cNvSpPr txBox="1"/>
          <p:nvPr/>
        </p:nvSpPr>
        <p:spPr>
          <a:xfrm>
            <a:off x="468922" y="945115"/>
            <a:ext cx="1411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역할 분담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9E9290-3E02-7DAE-DD36-0B34E983B6FB}"/>
              </a:ext>
            </a:extLst>
          </p:cNvPr>
          <p:cNvSpPr txBox="1"/>
          <p:nvPr/>
        </p:nvSpPr>
        <p:spPr>
          <a:xfrm>
            <a:off x="8960066" y="2958774"/>
            <a:ext cx="169216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500" dirty="0" err="1"/>
              <a:t>황스일</a:t>
            </a:r>
            <a:endParaRPr lang="ko-KR" altLang="en-US" sz="45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99E732-7081-BC14-DB69-DA21A75A3E7A}"/>
              </a:ext>
            </a:extLst>
          </p:cNvPr>
          <p:cNvSpPr txBox="1"/>
          <p:nvPr/>
        </p:nvSpPr>
        <p:spPr>
          <a:xfrm>
            <a:off x="4240924" y="3132527"/>
            <a:ext cx="371015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200" dirty="0"/>
              <a:t>기능 취합 및 프론트 구현</a:t>
            </a:r>
          </a:p>
        </p:txBody>
      </p: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416A0424-0287-00F2-186C-A62574DCD45E}"/>
              </a:ext>
            </a:extLst>
          </p:cNvPr>
          <p:cNvCxnSpPr>
            <a:cxnSpLocks/>
            <a:stCxn id="766" idx="3"/>
            <a:endCxn id="12" idx="1"/>
          </p:cNvCxnSpPr>
          <p:nvPr/>
        </p:nvCxnSpPr>
        <p:spPr>
          <a:xfrm>
            <a:off x="3231933" y="2018325"/>
            <a:ext cx="1008991" cy="132964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FADA94DD-A9DE-380C-4ED1-B99EB5CB4701}"/>
              </a:ext>
            </a:extLst>
          </p:cNvPr>
          <p:cNvCxnSpPr>
            <a:cxnSpLocks/>
            <a:stCxn id="768" idx="3"/>
            <a:endCxn id="12" idx="1"/>
          </p:cNvCxnSpPr>
          <p:nvPr/>
        </p:nvCxnSpPr>
        <p:spPr>
          <a:xfrm flipV="1">
            <a:off x="3231933" y="3347971"/>
            <a:ext cx="1008991" cy="209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02E39CC5-69C0-7771-B2B1-759B449D02F4}"/>
              </a:ext>
            </a:extLst>
          </p:cNvPr>
          <p:cNvCxnSpPr>
            <a:cxnSpLocks/>
            <a:stCxn id="769" idx="3"/>
            <a:endCxn id="12" idx="1"/>
          </p:cNvCxnSpPr>
          <p:nvPr/>
        </p:nvCxnSpPr>
        <p:spPr>
          <a:xfrm flipV="1">
            <a:off x="3231933" y="3347971"/>
            <a:ext cx="1008991" cy="149170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C29CAF5A-6F6D-EC28-F5AE-F5B399B2E03E}"/>
              </a:ext>
            </a:extLst>
          </p:cNvPr>
          <p:cNvCxnSpPr>
            <a:stCxn id="12" idx="3"/>
            <a:endCxn id="10" idx="1"/>
          </p:cNvCxnSpPr>
          <p:nvPr/>
        </p:nvCxnSpPr>
        <p:spPr>
          <a:xfrm>
            <a:off x="7951075" y="3347971"/>
            <a:ext cx="1008991" cy="32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1" name="직사각형 750">
            <a:extLst>
              <a:ext uri="{FF2B5EF4-FFF2-40B4-BE49-F238E27FC236}">
                <a16:creationId xmlns:a16="http://schemas.microsoft.com/office/drawing/2014/main" id="{DB6CF8B9-9B7E-B2D4-2A9B-7E14A7C7B156}"/>
              </a:ext>
            </a:extLst>
          </p:cNvPr>
          <p:cNvSpPr/>
          <p:nvPr/>
        </p:nvSpPr>
        <p:spPr>
          <a:xfrm>
            <a:off x="-6532178" y="2083408"/>
            <a:ext cx="1208093" cy="25408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6" name="TextBox 765">
            <a:extLst>
              <a:ext uri="{FF2B5EF4-FFF2-40B4-BE49-F238E27FC236}">
                <a16:creationId xmlns:a16="http://schemas.microsoft.com/office/drawing/2014/main" id="{B5A27454-310B-B279-E449-5E8892702F94}"/>
              </a:ext>
            </a:extLst>
          </p:cNvPr>
          <p:cNvSpPr txBox="1"/>
          <p:nvPr/>
        </p:nvSpPr>
        <p:spPr>
          <a:xfrm>
            <a:off x="1539767" y="1725937"/>
            <a:ext cx="16921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/>
              <a:t>이현겸</a:t>
            </a:r>
          </a:p>
        </p:txBody>
      </p:sp>
      <p:sp>
        <p:nvSpPr>
          <p:cNvPr id="768" name="TextBox 767">
            <a:extLst>
              <a:ext uri="{FF2B5EF4-FFF2-40B4-BE49-F238E27FC236}">
                <a16:creationId xmlns:a16="http://schemas.microsoft.com/office/drawing/2014/main" id="{A58B2C38-9B94-B886-08B4-0F849FDEDF5F}"/>
              </a:ext>
            </a:extLst>
          </p:cNvPr>
          <p:cNvSpPr txBox="1"/>
          <p:nvPr/>
        </p:nvSpPr>
        <p:spPr>
          <a:xfrm>
            <a:off x="1539767" y="3057680"/>
            <a:ext cx="16921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/>
              <a:t>손영석</a:t>
            </a:r>
          </a:p>
        </p:txBody>
      </p:sp>
      <p:sp>
        <p:nvSpPr>
          <p:cNvPr id="769" name="TextBox 768">
            <a:extLst>
              <a:ext uri="{FF2B5EF4-FFF2-40B4-BE49-F238E27FC236}">
                <a16:creationId xmlns:a16="http://schemas.microsoft.com/office/drawing/2014/main" id="{C66CC64E-84BB-1432-B883-AACFA703F11C}"/>
              </a:ext>
            </a:extLst>
          </p:cNvPr>
          <p:cNvSpPr txBox="1"/>
          <p:nvPr/>
        </p:nvSpPr>
        <p:spPr>
          <a:xfrm>
            <a:off x="1539767" y="4547287"/>
            <a:ext cx="16921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 err="1"/>
              <a:t>장해든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971103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DA1BC-B9BE-B75F-A004-E46A15230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D1679C45-EF9C-A626-FA06-0140CEA81088}"/>
              </a:ext>
            </a:extLst>
          </p:cNvPr>
          <p:cNvSpPr txBox="1"/>
          <p:nvPr/>
        </p:nvSpPr>
        <p:spPr>
          <a:xfrm>
            <a:off x="328246" y="377952"/>
            <a:ext cx="48919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+mj-lt"/>
              </a:rPr>
              <a:t>프로젝트 구조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98D405C-C404-0ABF-EE44-308EBEA759B5}"/>
              </a:ext>
            </a:extLst>
          </p:cNvPr>
          <p:cNvSpPr txBox="1"/>
          <p:nvPr/>
        </p:nvSpPr>
        <p:spPr>
          <a:xfrm>
            <a:off x="468922" y="945115"/>
            <a:ext cx="1411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시스템 구조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C5CBD04-1030-76F3-61B8-64AADDD56E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7665" y="0"/>
            <a:ext cx="72638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1891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EFBA7-F471-CFE7-D389-FF294892E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81DA7BD5-B83D-503D-FB17-6AD71526D5F2}"/>
              </a:ext>
            </a:extLst>
          </p:cNvPr>
          <p:cNvSpPr txBox="1"/>
          <p:nvPr/>
        </p:nvSpPr>
        <p:spPr>
          <a:xfrm>
            <a:off x="328246" y="377952"/>
            <a:ext cx="48919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+mj-lt"/>
              </a:rPr>
              <a:t>프로젝트 구조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8A0F18-4F90-05AD-0335-E1A5DD027702}"/>
              </a:ext>
            </a:extLst>
          </p:cNvPr>
          <p:cNvSpPr txBox="1"/>
          <p:nvPr/>
        </p:nvSpPr>
        <p:spPr>
          <a:xfrm>
            <a:off x="468922" y="945115"/>
            <a:ext cx="2032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n-ea"/>
              </a:rPr>
              <a:t>데이터 구조 </a:t>
            </a:r>
            <a:r>
              <a:rPr lang="en-US" altLang="ko-KR" dirty="0">
                <a:latin typeface="+mn-ea"/>
              </a:rPr>
              <a:t>(ERD)</a:t>
            </a:r>
            <a:endParaRPr lang="ko-KR" altLang="en-US" dirty="0">
              <a:latin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79BC763-5705-7712-2569-46B5632090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1113" y="0"/>
            <a:ext cx="64707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635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C49AD-FE09-F7AB-F97C-A7D12445A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D03A4E5-D3A1-3D67-EF9D-506A36FBFDDA}"/>
              </a:ext>
            </a:extLst>
          </p:cNvPr>
          <p:cNvSpPr txBox="1"/>
          <p:nvPr/>
        </p:nvSpPr>
        <p:spPr>
          <a:xfrm>
            <a:off x="328246" y="377952"/>
            <a:ext cx="46423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+mj-lt"/>
              </a:rPr>
              <a:t>주요 기능 </a:t>
            </a:r>
            <a:r>
              <a:rPr lang="en-US" altLang="ko-KR" sz="3200" dirty="0">
                <a:latin typeface="+mj-lt"/>
              </a:rPr>
              <a:t>– </a:t>
            </a:r>
            <a:r>
              <a:rPr lang="ko-KR" altLang="en-US" sz="3200" dirty="0">
                <a:latin typeface="+mj-lt"/>
              </a:rPr>
              <a:t>엔티티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C4DCA7-6A4B-A165-37D7-D58A9701FBD0}"/>
              </a:ext>
            </a:extLst>
          </p:cNvPr>
          <p:cNvSpPr txBox="1"/>
          <p:nvPr/>
        </p:nvSpPr>
        <p:spPr>
          <a:xfrm>
            <a:off x="468922" y="945115"/>
            <a:ext cx="3587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Account.java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1B1A00-AF06-D44F-C6E7-9439B65CF7C1}"/>
              </a:ext>
            </a:extLst>
          </p:cNvPr>
          <p:cNvSpPr txBox="1"/>
          <p:nvPr/>
        </p:nvSpPr>
        <p:spPr>
          <a:xfrm>
            <a:off x="468922" y="1529890"/>
            <a:ext cx="7620000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class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계좌번호</a:t>
            </a:r>
            <a:b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accountNo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예금주명</a:t>
            </a:r>
            <a:b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ownerName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비밀번호</a:t>
            </a:r>
            <a:b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600" dirty="0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password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현재 잔액</a:t>
            </a:r>
            <a:b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long </a:t>
            </a:r>
            <a:r>
              <a:rPr lang="en-US" altLang="ko-KR" sz="1600" dirty="0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balance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비밀번호 오류 횟수</a:t>
            </a:r>
            <a:b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int 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passwordErrorCount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계좌 잠금 상태</a:t>
            </a:r>
            <a:b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</a:t>
            </a:r>
            <a:r>
              <a:rPr lang="en-US" altLang="ko-KR" sz="1600" dirty="0" err="1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boolean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isLocked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계좌별 거래 내역</a:t>
            </a:r>
            <a:b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final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List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6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TransactionLog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 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accountRecord</a:t>
            </a:r>
            <a:r>
              <a:rPr lang="en-US" altLang="ko-KR" sz="1600" dirty="0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new </a:t>
            </a:r>
            <a:r>
              <a:rPr lang="en-US" altLang="ko-KR" sz="16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ArrayList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&lt;&gt;();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로그인 상태</a:t>
            </a:r>
            <a:b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</a:t>
            </a:r>
            <a:r>
              <a:rPr lang="en-US" altLang="ko-KR" sz="1600" dirty="0" err="1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boolean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isLogined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endParaRPr lang="en-US" altLang="ko-KR" sz="1600" dirty="0">
              <a:solidFill>
                <a:srgbClr val="BBBBBB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600" dirty="0">
                <a:solidFill>
                  <a:srgbClr val="BBBBB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계좌 </a:t>
            </a:r>
            <a:r>
              <a:rPr lang="ko-KR" altLang="en-US" sz="1600" dirty="0">
                <a:solidFill>
                  <a:srgbClr val="5C637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생성자</a:t>
            </a:r>
            <a:endParaRPr lang="en-US" altLang="ko-KR" sz="1600" dirty="0">
              <a:solidFill>
                <a:srgbClr val="BBBBBB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5C5414-7915-024E-28B9-CC1A64860370}"/>
              </a:ext>
            </a:extLst>
          </p:cNvPr>
          <p:cNvSpPr txBox="1"/>
          <p:nvPr/>
        </p:nvSpPr>
        <p:spPr>
          <a:xfrm>
            <a:off x="6702136" y="3105834"/>
            <a:ext cx="5114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계좌 정보 객체를 생성하기 위한 </a:t>
            </a:r>
            <a:r>
              <a:rPr lang="en-US" altLang="ko-KR" dirty="0"/>
              <a:t>Account </a:t>
            </a:r>
            <a:r>
              <a:rPr lang="ko-KR" altLang="en-US" dirty="0"/>
              <a:t>클래스이다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69385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0D138-EA47-1F35-98DC-DCAD4B120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D129FCF-F6B2-2D77-26FD-0C8F6E2A8C24}"/>
              </a:ext>
            </a:extLst>
          </p:cNvPr>
          <p:cNvSpPr txBox="1"/>
          <p:nvPr/>
        </p:nvSpPr>
        <p:spPr>
          <a:xfrm>
            <a:off x="328245" y="377952"/>
            <a:ext cx="50334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</a:t>
            </a:r>
            <a:r>
              <a:rPr lang="ko-KR" altLang="en-US" sz="3200" dirty="0"/>
              <a:t>엔티티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3D4EEB-1A48-544F-8B4B-2BF09A76C4CF}"/>
              </a:ext>
            </a:extLst>
          </p:cNvPr>
          <p:cNvSpPr txBox="1"/>
          <p:nvPr/>
        </p:nvSpPr>
        <p:spPr>
          <a:xfrm>
            <a:off x="468922" y="945115"/>
            <a:ext cx="3587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AtmMachine.java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3E5DD2-2A56-5A55-ACEE-9E58D141118F}"/>
              </a:ext>
            </a:extLst>
          </p:cNvPr>
          <p:cNvSpPr txBox="1"/>
          <p:nvPr/>
        </p:nvSpPr>
        <p:spPr>
          <a:xfrm>
            <a:off x="6463145" y="3105834"/>
            <a:ext cx="5353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Atm </a:t>
            </a:r>
            <a:r>
              <a:rPr lang="ko-KR" altLang="en-US" dirty="0"/>
              <a:t>기기 객체를 생성하기 위한 </a:t>
            </a:r>
            <a:r>
              <a:rPr lang="en-US" altLang="ko-KR" dirty="0" err="1"/>
              <a:t>AtmMachine</a:t>
            </a:r>
            <a:r>
              <a:rPr lang="en-US" altLang="ko-KR" dirty="0"/>
              <a:t> </a:t>
            </a:r>
            <a:r>
              <a:rPr lang="ko-KR" altLang="en-US" dirty="0"/>
              <a:t>클래스이다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FF447C-5667-3B77-4889-A20888A2C4A6}"/>
              </a:ext>
            </a:extLst>
          </p:cNvPr>
          <p:cNvSpPr txBox="1"/>
          <p:nvPr/>
        </p:nvSpPr>
        <p:spPr>
          <a:xfrm>
            <a:off x="468922" y="3105834"/>
            <a:ext cx="60942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class </a:t>
            </a:r>
            <a:r>
              <a:rPr lang="en-US" altLang="ko-KR" sz="18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AtmMachine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long </a:t>
            </a:r>
            <a:r>
              <a:rPr lang="en-US" altLang="ko-KR" sz="18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totalCash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4034250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F2DF4-1DC8-13DB-A044-7B64047E6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E7BA4CE-DC5C-4E42-A232-B928213D348B}"/>
              </a:ext>
            </a:extLst>
          </p:cNvPr>
          <p:cNvSpPr txBox="1"/>
          <p:nvPr/>
        </p:nvSpPr>
        <p:spPr>
          <a:xfrm>
            <a:off x="328245" y="377952"/>
            <a:ext cx="50334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</a:t>
            </a:r>
            <a:r>
              <a:rPr lang="ko-KR" altLang="en-US" sz="3200" dirty="0"/>
              <a:t>엔티티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ADD8D4-82FB-5CF8-C9D0-348EFA6CE516}"/>
              </a:ext>
            </a:extLst>
          </p:cNvPr>
          <p:cNvSpPr txBox="1"/>
          <p:nvPr/>
        </p:nvSpPr>
        <p:spPr>
          <a:xfrm>
            <a:off x="468922" y="945115"/>
            <a:ext cx="3587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AdminLog.java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E9488E-D5F6-C46E-5DA4-26E52341CBE5}"/>
              </a:ext>
            </a:extLst>
          </p:cNvPr>
          <p:cNvSpPr txBox="1"/>
          <p:nvPr/>
        </p:nvSpPr>
        <p:spPr>
          <a:xfrm>
            <a:off x="7232073" y="3105834"/>
            <a:ext cx="4584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관리자의 행동을 추적할 수 있게 하는 로그 객체를 생성하기 위한 </a:t>
            </a:r>
            <a:r>
              <a:rPr lang="en-US" altLang="ko-KR" dirty="0" err="1"/>
              <a:t>AdminLog</a:t>
            </a:r>
            <a:r>
              <a:rPr lang="en-US" altLang="ko-KR" dirty="0"/>
              <a:t> </a:t>
            </a:r>
            <a:r>
              <a:rPr lang="ko-KR" altLang="en-US" dirty="0"/>
              <a:t>클래스이다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68BFE0-3148-515C-32DD-79D8918D4A39}"/>
              </a:ext>
            </a:extLst>
          </p:cNvPr>
          <p:cNvSpPr txBox="1"/>
          <p:nvPr/>
        </p:nvSpPr>
        <p:spPr>
          <a:xfrm>
            <a:off x="375137" y="2413336"/>
            <a:ext cx="609426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class </a:t>
            </a:r>
            <a:r>
              <a:rPr lang="en-US" altLang="ko-KR" sz="18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AdminLog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8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actionType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       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관리자 작업 유형 </a:t>
            </a:r>
            <a:r>
              <a:rPr lang="en-US" altLang="ko-KR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예</a:t>
            </a:r>
            <a:r>
              <a:rPr lang="en-US" altLang="ko-KR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"</a:t>
            </a:r>
            <a: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현금추가</a:t>
            </a:r>
            <a:r>
              <a:rPr lang="en-US" altLang="ko-KR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", "</a:t>
            </a:r>
            <a: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현금회수</a:t>
            </a:r>
            <a:r>
              <a:rPr lang="en-US" altLang="ko-KR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</a:t>
            </a:r>
            <a:br>
              <a:rPr lang="en-US" altLang="ko-KR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long </a:t>
            </a:r>
            <a:r>
              <a:rPr lang="en-US" altLang="ko-KR" sz="1800" dirty="0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             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처리 금액</a:t>
            </a:r>
            <a:b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</a:t>
            </a:r>
            <a:r>
              <a:rPr lang="en-US" altLang="ko-KR" sz="18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LocalDateTime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800" dirty="0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timestamp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 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작업 시간</a:t>
            </a:r>
            <a:endParaRPr lang="ko-KR" altLang="en-US" sz="1800" dirty="0">
              <a:solidFill>
                <a:srgbClr val="BBBBBB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29319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B5045-3FCD-379C-FEB8-420D71293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861AD86-FE45-CE33-97AC-3D0DFFAE346F}"/>
              </a:ext>
            </a:extLst>
          </p:cNvPr>
          <p:cNvSpPr txBox="1"/>
          <p:nvPr/>
        </p:nvSpPr>
        <p:spPr>
          <a:xfrm>
            <a:off x="328245" y="377952"/>
            <a:ext cx="50334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</a:t>
            </a:r>
            <a:r>
              <a:rPr lang="ko-KR" altLang="en-US" sz="3200" dirty="0"/>
              <a:t>엔티티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A4FF54-86EF-C49C-901F-E25C75394C29}"/>
              </a:ext>
            </a:extLst>
          </p:cNvPr>
          <p:cNvSpPr txBox="1"/>
          <p:nvPr/>
        </p:nvSpPr>
        <p:spPr>
          <a:xfrm>
            <a:off x="468922" y="945115"/>
            <a:ext cx="3587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TransactionLog.java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113DCA-DAFA-AC78-49DC-86C8C2C82F77}"/>
              </a:ext>
            </a:extLst>
          </p:cNvPr>
          <p:cNvSpPr txBox="1"/>
          <p:nvPr/>
        </p:nvSpPr>
        <p:spPr>
          <a:xfrm>
            <a:off x="6096000" y="3105834"/>
            <a:ext cx="5720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거래를 추적할 수 있는 로그 객체를 생성하기 위한 클래스이다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6FD5B4-431F-A722-656F-67BD832CC060}"/>
              </a:ext>
            </a:extLst>
          </p:cNvPr>
          <p:cNvSpPr txBox="1"/>
          <p:nvPr/>
        </p:nvSpPr>
        <p:spPr>
          <a:xfrm>
            <a:off x="468922" y="1859338"/>
            <a:ext cx="609426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class </a:t>
            </a:r>
            <a:r>
              <a:rPr lang="en-US" altLang="ko-KR" sz="18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TransactionLog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거래가 발생한 계좌번호</a:t>
            </a:r>
            <a:b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final 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8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accountNo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거래 유형 </a:t>
            </a:r>
            <a:r>
              <a:rPr lang="en-US" altLang="ko-KR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입금</a:t>
            </a:r>
            <a:r>
              <a:rPr lang="en-US" altLang="ko-KR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출금</a:t>
            </a:r>
            <a:r>
              <a:rPr lang="en-US" altLang="ko-KR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이체 등</a:t>
            </a:r>
            <a:r>
              <a:rPr lang="en-US" altLang="ko-KR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br>
              <a:rPr lang="en-US" altLang="ko-KR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final 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8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transactionType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거래 금액</a:t>
            </a:r>
            <a:b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final long </a:t>
            </a:r>
            <a:r>
              <a:rPr lang="en-US" altLang="ko-KR" sz="1800" dirty="0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거래가 끝난 직후 계좌 잔액</a:t>
            </a:r>
            <a:b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final long </a:t>
            </a:r>
            <a:r>
              <a:rPr lang="en-US" altLang="ko-KR" sz="18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balanceAfter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 </a:t>
            </a:r>
            <a:b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거래 발생 시각</a:t>
            </a:r>
            <a:b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en-US" sz="18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final </a:t>
            </a:r>
            <a:r>
              <a:rPr lang="en-US" altLang="ko-KR" sz="18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LocalDateTime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800" dirty="0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timestamp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3287060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AA876-21AF-55D8-E956-9AEE12468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FFF8DCD-E9A2-BDC2-E22E-517350F3E9E4}"/>
              </a:ext>
            </a:extLst>
          </p:cNvPr>
          <p:cNvSpPr txBox="1"/>
          <p:nvPr/>
        </p:nvSpPr>
        <p:spPr>
          <a:xfrm>
            <a:off x="1640636" y="2228144"/>
            <a:ext cx="2552664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dirty="0"/>
              <a:t>Account.java</a:t>
            </a:r>
            <a:endParaRPr lang="ko-KR" alt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B65C3F-FB9B-2BA4-E6F7-405766816586}"/>
              </a:ext>
            </a:extLst>
          </p:cNvPr>
          <p:cNvSpPr txBox="1"/>
          <p:nvPr/>
        </p:nvSpPr>
        <p:spPr>
          <a:xfrm>
            <a:off x="6096000" y="2228145"/>
            <a:ext cx="443829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dirty="0"/>
              <a:t>AccountAuthService.java</a:t>
            </a:r>
            <a:endParaRPr lang="ko-KR" altLang="en-US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89DD12-71BD-B64E-370C-EDFF66127249}"/>
              </a:ext>
            </a:extLst>
          </p:cNvPr>
          <p:cNvSpPr txBox="1"/>
          <p:nvPr/>
        </p:nvSpPr>
        <p:spPr>
          <a:xfrm>
            <a:off x="5828971" y="4106635"/>
            <a:ext cx="497235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dirty="0"/>
              <a:t>AccountAuthServiceImp.java</a:t>
            </a:r>
            <a:endParaRPr lang="ko-KR" altLang="en-US" sz="2800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50CC54E-60A8-BD0C-8B63-02E90F15441A}"/>
              </a:ext>
            </a:extLst>
          </p:cNvPr>
          <p:cNvGrpSpPr/>
          <p:nvPr/>
        </p:nvGrpSpPr>
        <p:grpSpPr>
          <a:xfrm>
            <a:off x="8315145" y="2751365"/>
            <a:ext cx="1862752" cy="1355270"/>
            <a:chOff x="7760965" y="2750222"/>
            <a:chExt cx="1928181" cy="1355270"/>
          </a:xfrm>
        </p:grpSpPr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88211E00-867A-5108-D087-5A2D0F3A5ED1}"/>
                </a:ext>
              </a:extLst>
            </p:cNvPr>
            <p:cNvCxnSpPr>
              <a:cxnSpLocks/>
              <a:stCxn id="12" idx="0"/>
              <a:endCxn id="10" idx="2"/>
            </p:cNvCxnSpPr>
            <p:nvPr/>
          </p:nvCxnSpPr>
          <p:spPr>
            <a:xfrm flipV="1">
              <a:off x="7760965" y="2750222"/>
              <a:ext cx="2" cy="135527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1579C69-DB58-A773-6F37-A22C29A69E6A}"/>
                </a:ext>
              </a:extLst>
            </p:cNvPr>
            <p:cNvSpPr txBox="1"/>
            <p:nvPr/>
          </p:nvSpPr>
          <p:spPr>
            <a:xfrm>
              <a:off x="8182729" y="3243191"/>
              <a:ext cx="15064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implements</a:t>
              </a:r>
              <a:endParaRPr lang="ko-KR" altLang="en-US" dirty="0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6BF6879E-D69C-77A2-E783-9C39A5F1FAEA}"/>
              </a:ext>
            </a:extLst>
          </p:cNvPr>
          <p:cNvSpPr txBox="1"/>
          <p:nvPr/>
        </p:nvSpPr>
        <p:spPr>
          <a:xfrm>
            <a:off x="328246" y="377952"/>
            <a:ext cx="48919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+mj-lt"/>
              </a:rPr>
              <a:t>주요 기능 </a:t>
            </a:r>
            <a:r>
              <a:rPr lang="en-US" altLang="ko-KR" sz="3200" dirty="0">
                <a:latin typeface="+mj-lt"/>
              </a:rPr>
              <a:t>– </a:t>
            </a:r>
            <a:r>
              <a:rPr lang="ko-KR" altLang="en-US" sz="3200" dirty="0">
                <a:latin typeface="+mj-lt"/>
              </a:rPr>
              <a:t>사용자 관리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5BB245-1C53-55D7-C511-4D6B8C0E12EA}"/>
              </a:ext>
            </a:extLst>
          </p:cNvPr>
          <p:cNvSpPr txBox="1"/>
          <p:nvPr/>
        </p:nvSpPr>
        <p:spPr>
          <a:xfrm>
            <a:off x="468922" y="945115"/>
            <a:ext cx="844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구조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0645BB-B38F-F08D-9A8E-1F594CCA1A46}"/>
              </a:ext>
            </a:extLst>
          </p:cNvPr>
          <p:cNvSpPr txBox="1"/>
          <p:nvPr/>
        </p:nvSpPr>
        <p:spPr>
          <a:xfrm>
            <a:off x="7469062" y="1396885"/>
            <a:ext cx="16921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/>
              <a:t>구현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1D5C37-B9AE-39D6-F7FD-3180F6CCD3A9}"/>
              </a:ext>
            </a:extLst>
          </p:cNvPr>
          <p:cNvSpPr txBox="1"/>
          <p:nvPr/>
        </p:nvSpPr>
        <p:spPr>
          <a:xfrm>
            <a:off x="2070885" y="1396885"/>
            <a:ext cx="16921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/>
              <a:t>엔티티</a:t>
            </a:r>
          </a:p>
        </p:txBody>
      </p:sp>
    </p:spTree>
    <p:extLst>
      <p:ext uri="{BB962C8B-B14F-4D97-AF65-F5344CB8AC3E}">
        <p14:creationId xmlns:p14="http://schemas.microsoft.com/office/powerpoint/2010/main" val="2601659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C4BE8-3ED3-5529-C4C7-17D3E6F63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964EDC58-5D30-55DD-91F1-A14E6A5B3BFE}"/>
              </a:ext>
            </a:extLst>
          </p:cNvPr>
          <p:cNvSpPr txBox="1"/>
          <p:nvPr/>
        </p:nvSpPr>
        <p:spPr>
          <a:xfrm>
            <a:off x="328246" y="377952"/>
            <a:ext cx="48919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+mj-lt"/>
              </a:rPr>
              <a:t>주요 기능 </a:t>
            </a:r>
            <a:r>
              <a:rPr lang="en-US" altLang="ko-KR" sz="3200" dirty="0">
                <a:latin typeface="+mj-lt"/>
              </a:rPr>
              <a:t>– </a:t>
            </a:r>
            <a:r>
              <a:rPr lang="ko-KR" altLang="en-US" sz="3200" dirty="0">
                <a:latin typeface="+mj-lt"/>
              </a:rPr>
              <a:t>사용자 관리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8E10EE-E13F-B83F-0E3C-181318CBA068}"/>
              </a:ext>
            </a:extLst>
          </p:cNvPr>
          <p:cNvSpPr txBox="1"/>
          <p:nvPr/>
        </p:nvSpPr>
        <p:spPr>
          <a:xfrm>
            <a:off x="2938895" y="1719269"/>
            <a:ext cx="6314209" cy="3419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sz="2800" dirty="0"/>
              <a:t>초기 데이터 세팅</a:t>
            </a:r>
            <a:endParaRPr lang="en-US" altLang="ko-KR" sz="2800" dirty="0"/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sz="2800" dirty="0"/>
              <a:t>로그인</a:t>
            </a:r>
            <a:r>
              <a:rPr lang="en-US" altLang="ko-KR" sz="2800" dirty="0"/>
              <a:t> </a:t>
            </a:r>
            <a:r>
              <a:rPr lang="ko-KR" altLang="en-US" sz="2800" dirty="0"/>
              <a:t>및 로그 아웃</a:t>
            </a:r>
            <a:endParaRPr lang="en-US" altLang="ko-KR" sz="2800" dirty="0"/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sz="2800" dirty="0"/>
              <a:t>비밀번호 오류 횟수 카운트 및 계좌 잠금</a:t>
            </a:r>
            <a:endParaRPr lang="en-US" altLang="ko-KR" sz="2800" dirty="0"/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§"/>
            </a:pPr>
            <a:endParaRPr lang="en-US" altLang="ko-KR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B46774-9AB7-8D25-BAE4-89D202D9608A}"/>
              </a:ext>
            </a:extLst>
          </p:cNvPr>
          <p:cNvSpPr txBox="1"/>
          <p:nvPr/>
        </p:nvSpPr>
        <p:spPr>
          <a:xfrm>
            <a:off x="468922" y="945115"/>
            <a:ext cx="1162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구현 기능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26596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8F1C9-2FFD-EE2B-7781-585692270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2761DE-B0E3-9742-A4AC-6D866A80E8C1}"/>
              </a:ext>
            </a:extLst>
          </p:cNvPr>
          <p:cNvSpPr txBox="1"/>
          <p:nvPr/>
        </p:nvSpPr>
        <p:spPr>
          <a:xfrm>
            <a:off x="328246" y="377952"/>
            <a:ext cx="46423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+mj-lt"/>
              </a:rPr>
              <a:t>주요 기능 </a:t>
            </a:r>
            <a:r>
              <a:rPr lang="en-US" altLang="ko-KR" sz="3200" dirty="0">
                <a:latin typeface="+mj-lt"/>
              </a:rPr>
              <a:t>– </a:t>
            </a:r>
            <a:r>
              <a:rPr lang="ko-KR" altLang="en-US" sz="3200" dirty="0">
                <a:latin typeface="+mj-lt"/>
              </a:rPr>
              <a:t>사용자 관리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8E4D10-2F6D-947D-3B3E-BBC9DE8CACEB}"/>
              </a:ext>
            </a:extLst>
          </p:cNvPr>
          <p:cNvSpPr txBox="1"/>
          <p:nvPr/>
        </p:nvSpPr>
        <p:spPr>
          <a:xfrm>
            <a:off x="468922" y="945115"/>
            <a:ext cx="4009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AccountAuthService.java (</a:t>
            </a:r>
            <a:r>
              <a:rPr lang="ko-KR" altLang="en-US" dirty="0"/>
              <a:t>인터페이스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44B8EE-D25C-D89C-E5E2-7958453BC75A}"/>
              </a:ext>
            </a:extLst>
          </p:cNvPr>
          <p:cNvSpPr txBox="1"/>
          <p:nvPr/>
        </p:nvSpPr>
        <p:spPr>
          <a:xfrm>
            <a:off x="3774830" y="4607722"/>
            <a:ext cx="46423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사용자 인증</a:t>
            </a:r>
            <a:r>
              <a:rPr lang="en-US" altLang="ko-KR" dirty="0"/>
              <a:t>, </a:t>
            </a:r>
            <a:r>
              <a:rPr lang="ko-KR" altLang="en-US" dirty="0"/>
              <a:t>계좌 관리 기능 중심으로 묶은 인터페이스이다</a:t>
            </a:r>
            <a:r>
              <a:rPr lang="en-US" altLang="ko-KR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FCDB57-B746-F2CC-1E71-90731FCA7616}"/>
              </a:ext>
            </a:extLst>
          </p:cNvPr>
          <p:cNvSpPr txBox="1"/>
          <p:nvPr/>
        </p:nvSpPr>
        <p:spPr>
          <a:xfrm>
            <a:off x="853520" y="1683812"/>
            <a:ext cx="1121605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interface </a:t>
            </a:r>
            <a:r>
              <a:rPr lang="en-US" altLang="ko-KR" sz="16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AccountAuthService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void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initSampleAccounts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초기 데이터 세팅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샘플 계좌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3~5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개 생성</a:t>
            </a: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findAccount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accountNo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계좌번호로 특정 계좌 객체 찾아오기</a:t>
            </a:r>
            <a:b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List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getAccounts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전체 계좌 목록 가져오기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(UI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연동용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사용자 인증 및 보안</a:t>
            </a: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boolean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login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accountNo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password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로그인 체크</a:t>
            </a: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void </a:t>
            </a:r>
            <a:r>
              <a:rPr lang="en-US" altLang="ko-KR" sz="1600" dirty="0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logout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로그아웃 및 세션 종료</a:t>
            </a: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void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handlePasswordError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비밀번호 오류 횟수 카운트 및 계좌 잠금 </a:t>
            </a:r>
            <a:endParaRPr lang="en-US" altLang="ko-KR" sz="1600" dirty="0">
              <a:solidFill>
                <a:srgbClr val="BBBBBB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779165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B383D-F8DE-BA4E-BB3A-83097A221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B290EAB-2FD2-6BE3-21FD-8D8F5F877624}"/>
              </a:ext>
            </a:extLst>
          </p:cNvPr>
          <p:cNvSpPr txBox="1"/>
          <p:nvPr/>
        </p:nvSpPr>
        <p:spPr>
          <a:xfrm>
            <a:off x="328246" y="377952"/>
            <a:ext cx="46423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+mj-lt"/>
              </a:rPr>
              <a:t>주요 기능 </a:t>
            </a:r>
            <a:r>
              <a:rPr lang="en-US" altLang="ko-KR" sz="3200" dirty="0">
                <a:latin typeface="+mj-lt"/>
              </a:rPr>
              <a:t>– </a:t>
            </a:r>
            <a:r>
              <a:rPr lang="ko-KR" altLang="en-US" sz="3200" dirty="0">
                <a:latin typeface="+mj-lt"/>
              </a:rPr>
              <a:t>사용자 관리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61944B-D2CA-335E-25BB-570B0F46EEE4}"/>
              </a:ext>
            </a:extLst>
          </p:cNvPr>
          <p:cNvSpPr txBox="1"/>
          <p:nvPr/>
        </p:nvSpPr>
        <p:spPr>
          <a:xfrm>
            <a:off x="468922" y="945115"/>
            <a:ext cx="3587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AccountAuthServiceImp.java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3E8268-3FE2-7432-05E0-A433F05D0BFC}"/>
              </a:ext>
            </a:extLst>
          </p:cNvPr>
          <p:cNvSpPr txBox="1"/>
          <p:nvPr/>
        </p:nvSpPr>
        <p:spPr>
          <a:xfrm>
            <a:off x="7174523" y="3105834"/>
            <a:ext cx="46423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AccountAuthService</a:t>
            </a:r>
            <a:r>
              <a:rPr lang="en-US" altLang="ko-KR" dirty="0"/>
              <a:t> </a:t>
            </a:r>
            <a:r>
              <a:rPr lang="ko-KR" altLang="en-US" dirty="0"/>
              <a:t>인터페이스를 상속 받아 실제 메서드를 구현하는 서비스 클래스이다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생성된 계좌 객체를 </a:t>
            </a:r>
            <a:r>
              <a:rPr lang="en-US" altLang="ko-KR" dirty="0" err="1"/>
              <a:t>ArrayList</a:t>
            </a:r>
            <a:r>
              <a:rPr lang="en-US" altLang="ko-KR" dirty="0"/>
              <a:t> </a:t>
            </a:r>
            <a:r>
              <a:rPr lang="ko-KR" altLang="en-US" dirty="0"/>
              <a:t>타입으로 저장한다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Json </a:t>
            </a:r>
            <a:r>
              <a:rPr lang="ko-KR" altLang="en-US" dirty="0"/>
              <a:t>파일에 데이터를 저장하기 위해 </a:t>
            </a:r>
            <a:r>
              <a:rPr lang="en-US" altLang="ko-KR" dirty="0" err="1"/>
              <a:t>FileDataManager</a:t>
            </a:r>
            <a:r>
              <a:rPr lang="ko-KR" altLang="en-US" dirty="0"/>
              <a:t>를 사용한다</a:t>
            </a:r>
            <a:r>
              <a:rPr lang="en-US" altLang="ko-KR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586895-1B78-4164-02CB-BF6F5CC0591C}"/>
              </a:ext>
            </a:extLst>
          </p:cNvPr>
          <p:cNvSpPr txBox="1"/>
          <p:nvPr/>
        </p:nvSpPr>
        <p:spPr>
          <a:xfrm>
            <a:off x="328246" y="2690336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class </a:t>
            </a:r>
            <a:r>
              <a:rPr lang="en-US" altLang="ko-KR" sz="16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AccountAuthServiceImp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implements </a:t>
            </a:r>
            <a:r>
              <a:rPr lang="en-US" altLang="ko-KR" sz="16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AccountAuthService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List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 </a:t>
            </a:r>
            <a:r>
              <a:rPr lang="en-US" altLang="ko-KR" sz="1600" dirty="0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accounts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final </a:t>
            </a:r>
            <a:r>
              <a:rPr lang="en-US" altLang="ko-KR" sz="16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5419587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471AC-8866-4121-64ED-4EDE49B29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8A45F73-978D-8274-954F-30D5B0398C91}"/>
              </a:ext>
            </a:extLst>
          </p:cNvPr>
          <p:cNvSpPr txBox="1"/>
          <p:nvPr/>
        </p:nvSpPr>
        <p:spPr>
          <a:xfrm>
            <a:off x="328246" y="377952"/>
            <a:ext cx="46423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+mj-lt"/>
              </a:rPr>
              <a:t>주요 기능 </a:t>
            </a:r>
            <a:r>
              <a:rPr lang="en-US" altLang="ko-KR" sz="3200" dirty="0">
                <a:latin typeface="+mj-lt"/>
              </a:rPr>
              <a:t>– </a:t>
            </a:r>
            <a:r>
              <a:rPr lang="ko-KR" altLang="en-US" sz="3200" dirty="0">
                <a:latin typeface="+mj-lt"/>
              </a:rPr>
              <a:t>사용자 관리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40073E-9157-85BE-DDF3-41AAFB08C574}"/>
              </a:ext>
            </a:extLst>
          </p:cNvPr>
          <p:cNvSpPr txBox="1"/>
          <p:nvPr/>
        </p:nvSpPr>
        <p:spPr>
          <a:xfrm>
            <a:off x="468922" y="945115"/>
            <a:ext cx="78495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AccountAuthServiceImp.java – </a:t>
            </a:r>
            <a:r>
              <a:rPr lang="en-US" altLang="ko-KR" dirty="0" err="1"/>
              <a:t>AccountAuthServiceImp</a:t>
            </a:r>
            <a:r>
              <a:rPr lang="en-US" altLang="ko-KR" dirty="0"/>
              <a:t>() (</a:t>
            </a:r>
            <a:r>
              <a:rPr lang="ko-KR" altLang="en-US" dirty="0"/>
              <a:t>생성자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9D14F8-1163-461B-59C2-54CE23F60A4A}"/>
              </a:ext>
            </a:extLst>
          </p:cNvPr>
          <p:cNvSpPr txBox="1"/>
          <p:nvPr/>
        </p:nvSpPr>
        <p:spPr>
          <a:xfrm>
            <a:off x="468922" y="2179985"/>
            <a:ext cx="884017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AccountAuthServiceImp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this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sz="1600" dirty="0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this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accounts</a:t>
            </a:r>
            <a:r>
              <a:rPr lang="en-US" altLang="ko-KR" sz="1600" dirty="0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loadAccounts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this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accounts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isEmpty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()) 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initSampleAccounts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}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else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 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: </a:t>
            </a:r>
            <a:r>
              <a:rPr lang="en-US" altLang="ko-KR" sz="1600" dirty="0" err="1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this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accounts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    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setLogined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false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}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087F68-861E-FFE2-FF77-254F26FAB88E}"/>
              </a:ext>
            </a:extLst>
          </p:cNvPr>
          <p:cNvSpPr txBox="1"/>
          <p:nvPr/>
        </p:nvSpPr>
        <p:spPr>
          <a:xfrm>
            <a:off x="7220438" y="3703479"/>
            <a:ext cx="46423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AccountAuthServiceImp</a:t>
            </a:r>
            <a:r>
              <a:rPr lang="en-US" altLang="ko-KR" dirty="0"/>
              <a:t> </a:t>
            </a:r>
            <a:r>
              <a:rPr lang="ko-KR" altLang="en-US" dirty="0"/>
              <a:t>객체를 생성하며</a:t>
            </a:r>
            <a:r>
              <a:rPr lang="en-US" altLang="ko-KR" dirty="0"/>
              <a:t>, </a:t>
            </a:r>
            <a:r>
              <a:rPr lang="ko-KR" altLang="en-US" dirty="0"/>
              <a:t>파일에서 불러온 계좌가 없다면 기본 상태로 초기화 하는 메서드이다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프로그램 시작 시 모든 계좌를 강제로 로그아웃해주어 예외 상황을 예방한다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875086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72D05-B17D-80BA-F831-ED713AE3C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C1F3769-67EF-9406-186A-438EFA3E0333}"/>
              </a:ext>
            </a:extLst>
          </p:cNvPr>
          <p:cNvSpPr txBox="1"/>
          <p:nvPr/>
        </p:nvSpPr>
        <p:spPr>
          <a:xfrm>
            <a:off x="328246" y="377952"/>
            <a:ext cx="46423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+mj-lt"/>
              </a:rPr>
              <a:t>주요 기능 </a:t>
            </a:r>
            <a:r>
              <a:rPr lang="en-US" altLang="ko-KR" sz="3200" dirty="0">
                <a:latin typeface="+mj-lt"/>
              </a:rPr>
              <a:t>– </a:t>
            </a:r>
            <a:r>
              <a:rPr lang="ko-KR" altLang="en-US" sz="3200" dirty="0">
                <a:latin typeface="+mj-lt"/>
              </a:rPr>
              <a:t>사용자 관리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B464AA-2E8A-6ACC-048F-2896FE3B2E9B}"/>
              </a:ext>
            </a:extLst>
          </p:cNvPr>
          <p:cNvSpPr txBox="1"/>
          <p:nvPr/>
        </p:nvSpPr>
        <p:spPr>
          <a:xfrm>
            <a:off x="468922" y="945115"/>
            <a:ext cx="5862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AccountAuthServiceImp.java - </a:t>
            </a:r>
            <a:r>
              <a:rPr lang="en-US" altLang="ko-KR" dirty="0" err="1"/>
              <a:t>initSampleAccounts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6CE81F-9C90-41D5-3291-7484457FD0AD}"/>
              </a:ext>
            </a:extLst>
          </p:cNvPr>
          <p:cNvSpPr txBox="1"/>
          <p:nvPr/>
        </p:nvSpPr>
        <p:spPr>
          <a:xfrm>
            <a:off x="7372838" y="4521775"/>
            <a:ext cx="46423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Json </a:t>
            </a:r>
            <a:r>
              <a:rPr lang="ko-KR" altLang="en-US" dirty="0"/>
              <a:t>파일이 존재하지 않을 때 초기 데이터와 파일을 생성하는 역할이다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계좌번호</a:t>
            </a:r>
            <a:r>
              <a:rPr lang="en-US" altLang="ko-KR" dirty="0"/>
              <a:t>, </a:t>
            </a:r>
            <a:r>
              <a:rPr lang="ko-KR" altLang="en-US" dirty="0"/>
              <a:t>이름</a:t>
            </a:r>
            <a:r>
              <a:rPr lang="en-US" altLang="ko-KR" dirty="0"/>
              <a:t>, </a:t>
            </a:r>
            <a:r>
              <a:rPr lang="ko-KR" altLang="en-US" dirty="0"/>
              <a:t>비밀번호</a:t>
            </a:r>
            <a:r>
              <a:rPr lang="en-US" altLang="ko-KR" dirty="0"/>
              <a:t>, </a:t>
            </a:r>
            <a:r>
              <a:rPr lang="ko-KR" altLang="en-US" dirty="0"/>
              <a:t>금액을 입력한다</a:t>
            </a:r>
            <a:r>
              <a:rPr lang="en-US" altLang="ko-KR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26E5A0-62F1-8B88-4E4E-908A25AA6DC8}"/>
              </a:ext>
            </a:extLst>
          </p:cNvPr>
          <p:cNvSpPr txBox="1"/>
          <p:nvPr/>
        </p:nvSpPr>
        <p:spPr>
          <a:xfrm>
            <a:off x="468922" y="2151727"/>
            <a:ext cx="83312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@Override</a:t>
            </a:r>
            <a:b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void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initSampleAccounts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 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 메서드는 이제 파일이 없을 때 최초 데이터를 생성하는 역할</a:t>
            </a:r>
            <a:b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this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accounts</a:t>
            </a:r>
            <a:r>
              <a:rPr lang="en-US" altLang="ko-KR" sz="1600" dirty="0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new </a:t>
            </a:r>
            <a:r>
              <a:rPr lang="en-US" altLang="ko-KR" sz="16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ArrayList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&lt;&gt;();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accounts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add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new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"000001"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홍길동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"1234"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1900000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accounts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add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new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"000002"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김철수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"1234"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656000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accounts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add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new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"000003"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박영희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"1234"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45000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accounts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add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new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"000004"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김덕배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"1234"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2187600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saveAccounts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accounts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생성된 초기 데이터를 파일에 저장</a:t>
            </a:r>
            <a:b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457155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7C51D-A492-A511-ED55-8E748A1EF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04ED8EA-3E4E-F80A-933A-72FE034157C2}"/>
              </a:ext>
            </a:extLst>
          </p:cNvPr>
          <p:cNvSpPr txBox="1"/>
          <p:nvPr/>
        </p:nvSpPr>
        <p:spPr>
          <a:xfrm>
            <a:off x="328246" y="377952"/>
            <a:ext cx="46423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+mj-lt"/>
              </a:rPr>
              <a:t>주요 기능 </a:t>
            </a:r>
            <a:r>
              <a:rPr lang="en-US" altLang="ko-KR" sz="3200" dirty="0">
                <a:latin typeface="+mj-lt"/>
              </a:rPr>
              <a:t>– </a:t>
            </a:r>
            <a:r>
              <a:rPr lang="ko-KR" altLang="en-US" sz="3200" dirty="0">
                <a:latin typeface="+mj-lt"/>
              </a:rPr>
              <a:t>사용자 관리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F6A2A1-C4A9-583B-A31C-9FD56E3D6D57}"/>
              </a:ext>
            </a:extLst>
          </p:cNvPr>
          <p:cNvSpPr txBox="1"/>
          <p:nvPr/>
        </p:nvSpPr>
        <p:spPr>
          <a:xfrm>
            <a:off x="468921" y="945115"/>
            <a:ext cx="6095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AccountAuthServiceImp.java - </a:t>
            </a:r>
            <a:r>
              <a:rPr lang="en-US" altLang="ko-KR" dirty="0" err="1"/>
              <a:t>initSampleAccounts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D292F5-792E-03F1-789B-0DB18346C802}"/>
              </a:ext>
            </a:extLst>
          </p:cNvPr>
          <p:cNvSpPr txBox="1"/>
          <p:nvPr/>
        </p:nvSpPr>
        <p:spPr>
          <a:xfrm>
            <a:off x="7080738" y="3844498"/>
            <a:ext cx="46423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계좌번호를 받아 해당 계좌번호를 가지고 있는 계좌 객체를 반환해 주는 메서드이다</a:t>
            </a:r>
            <a:r>
              <a:rPr lang="en-US" altLang="ko-KR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DB30CA-DB3D-4931-9F49-D1A72D4A1B76}"/>
              </a:ext>
            </a:extLst>
          </p:cNvPr>
          <p:cNvSpPr txBox="1"/>
          <p:nvPr/>
        </p:nvSpPr>
        <p:spPr>
          <a:xfrm>
            <a:off x="468922" y="2274838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@Override</a:t>
            </a:r>
            <a:b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findAccount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accountNo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 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: </a:t>
            </a:r>
            <a:r>
              <a:rPr lang="en-US" altLang="ko-KR" sz="1600" dirty="0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accounts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getAccountNo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().</a:t>
            </a:r>
            <a:r>
              <a:rPr lang="en-US" altLang="ko-KR" sz="1600" dirty="0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equals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accountNo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 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}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 null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149004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0CF7A-DD99-CDF0-CB82-F05BEB18F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E549C65-448E-16E3-AFE2-D79EA09BB823}"/>
              </a:ext>
            </a:extLst>
          </p:cNvPr>
          <p:cNvSpPr txBox="1"/>
          <p:nvPr/>
        </p:nvSpPr>
        <p:spPr>
          <a:xfrm>
            <a:off x="328246" y="377952"/>
            <a:ext cx="46423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+mj-lt"/>
              </a:rPr>
              <a:t>주요 기능 </a:t>
            </a:r>
            <a:r>
              <a:rPr lang="en-US" altLang="ko-KR" sz="3200" dirty="0">
                <a:latin typeface="+mj-lt"/>
              </a:rPr>
              <a:t>– </a:t>
            </a:r>
            <a:r>
              <a:rPr lang="ko-KR" altLang="en-US" sz="3200" dirty="0">
                <a:latin typeface="+mj-lt"/>
              </a:rPr>
              <a:t>사용자 관리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B57C26-371A-F9AE-B66D-C1366F3CA749}"/>
              </a:ext>
            </a:extLst>
          </p:cNvPr>
          <p:cNvSpPr txBox="1"/>
          <p:nvPr/>
        </p:nvSpPr>
        <p:spPr>
          <a:xfrm>
            <a:off x="468922" y="945115"/>
            <a:ext cx="5627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AccountAuthServiceImp.java - </a:t>
            </a:r>
            <a:r>
              <a:rPr lang="en-US" altLang="ko-KR" dirty="0" err="1"/>
              <a:t>getAccounts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8C92AA-42A5-4723-6877-DE49F912E851}"/>
              </a:ext>
            </a:extLst>
          </p:cNvPr>
          <p:cNvSpPr txBox="1"/>
          <p:nvPr/>
        </p:nvSpPr>
        <p:spPr>
          <a:xfrm>
            <a:off x="7080738" y="3105834"/>
            <a:ext cx="46423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UI</a:t>
            </a:r>
            <a:r>
              <a:rPr lang="ko-KR" altLang="en-US" dirty="0"/>
              <a:t>에서 전체 계좌 목록을 표시하기 위해 리스트를 반환하는 메서드이다</a:t>
            </a:r>
            <a:r>
              <a:rPr lang="en-US" altLang="ko-KR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C04E1C-56C9-8444-0930-A161C97A7E79}"/>
              </a:ext>
            </a:extLst>
          </p:cNvPr>
          <p:cNvSpPr txBox="1"/>
          <p:nvPr/>
        </p:nvSpPr>
        <p:spPr>
          <a:xfrm>
            <a:off x="468922" y="2828835"/>
            <a:ext cx="609407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@Override</a:t>
            </a:r>
            <a:b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List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getAccounts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 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 </a:t>
            </a:r>
            <a:r>
              <a:rPr lang="en-US" altLang="ko-KR" sz="1600" dirty="0" err="1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this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accounts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308911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3FC68-D503-C888-0FAD-711A27873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395CBCA-D7B2-3698-D6A2-9DDB5078A230}"/>
              </a:ext>
            </a:extLst>
          </p:cNvPr>
          <p:cNvSpPr txBox="1"/>
          <p:nvPr/>
        </p:nvSpPr>
        <p:spPr>
          <a:xfrm>
            <a:off x="328246" y="377952"/>
            <a:ext cx="46423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+mj-lt"/>
              </a:rPr>
              <a:t>주요 기능 </a:t>
            </a:r>
            <a:r>
              <a:rPr lang="en-US" altLang="ko-KR" sz="3200" dirty="0">
                <a:latin typeface="+mj-lt"/>
              </a:rPr>
              <a:t>– </a:t>
            </a:r>
            <a:r>
              <a:rPr lang="ko-KR" altLang="en-US" sz="3200" dirty="0">
                <a:latin typeface="+mj-lt"/>
              </a:rPr>
              <a:t>사용자 관리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CF6CEB-A362-1D89-A1E3-C154B6FC0D88}"/>
              </a:ext>
            </a:extLst>
          </p:cNvPr>
          <p:cNvSpPr txBox="1"/>
          <p:nvPr/>
        </p:nvSpPr>
        <p:spPr>
          <a:xfrm>
            <a:off x="468922" y="945115"/>
            <a:ext cx="5627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AccountAuthServiceImp.java - login()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7D9222-CAC7-552C-E6CF-7F88BCCFD03E}"/>
              </a:ext>
            </a:extLst>
          </p:cNvPr>
          <p:cNvSpPr txBox="1"/>
          <p:nvPr/>
        </p:nvSpPr>
        <p:spPr>
          <a:xfrm>
            <a:off x="5604077" y="462803"/>
            <a:ext cx="6587923" cy="5932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15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@Override</a:t>
            </a:r>
            <a:br>
              <a:rPr lang="en-US" altLang="ko-KR" sz="115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</a:t>
            </a:r>
            <a:r>
              <a:rPr lang="en-US" altLang="ko-KR" sz="1150" dirty="0" err="1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boolean</a:t>
            </a:r>
            <a:r>
              <a:rPr lang="en-US" altLang="ko-KR" sz="115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150" dirty="0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login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15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15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accountNo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15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15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password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15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 </a:t>
            </a:r>
            <a:r>
              <a:rPr lang="en-US" altLang="ko-KR" sz="115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15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findAccount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15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accountNo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15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15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중복 로그인 방지</a:t>
            </a:r>
            <a:br>
              <a:rPr lang="ko-KR" altLang="en-US" sz="115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en-US" sz="115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15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15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 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 : </a:t>
            </a:r>
            <a:r>
              <a:rPr lang="en-US" altLang="ko-KR" sz="1150" dirty="0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accounts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){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15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15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a.</a:t>
            </a:r>
            <a:r>
              <a:rPr lang="en-US" altLang="ko-KR" sz="115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isLogined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 == </a:t>
            </a:r>
            <a:r>
              <a:rPr lang="en-US" altLang="ko-KR" sz="115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true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){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    </a:t>
            </a:r>
            <a:r>
              <a:rPr lang="en-US" altLang="ko-KR" sz="115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System</a:t>
            </a:r>
            <a:r>
              <a:rPr lang="en-US" altLang="ko-KR" sz="115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15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out</a:t>
            </a:r>
            <a:r>
              <a:rPr lang="en-US" altLang="ko-KR" sz="115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15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println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15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15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로그아웃이 필요합니다</a:t>
            </a:r>
            <a:r>
              <a:rPr lang="en-US" altLang="ko-KR" sz="115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."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    </a:t>
            </a:r>
            <a:r>
              <a:rPr lang="en-US" altLang="ko-KR" sz="115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 false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}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15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 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(account == </a:t>
            </a:r>
            <a:r>
              <a:rPr lang="en-US" altLang="ko-KR" sz="115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null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15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System</a:t>
            </a:r>
            <a:r>
              <a:rPr lang="en-US" altLang="ko-KR" sz="115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15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out</a:t>
            </a:r>
            <a:r>
              <a:rPr lang="en-US" altLang="ko-KR" sz="115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15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println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15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15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계좌가 존재하지 않습니다</a:t>
            </a:r>
            <a:r>
              <a:rPr lang="en-US" altLang="ko-KR" sz="115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."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15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 false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</a:p>
          <a:p>
            <a:pPr>
              <a:buNone/>
            </a:pP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15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 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15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account.</a:t>
            </a:r>
            <a:r>
              <a:rPr lang="en-US" altLang="ko-KR" sz="115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isLocked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()) {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15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System</a:t>
            </a:r>
            <a:r>
              <a:rPr lang="en-US" altLang="ko-KR" sz="115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15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out</a:t>
            </a:r>
            <a:r>
              <a:rPr lang="en-US" altLang="ko-KR" sz="115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15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println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15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15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계좌가 </a:t>
            </a:r>
            <a:r>
              <a:rPr lang="ko-KR" altLang="en-US" sz="1150" dirty="0" err="1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잠겨있습니다</a:t>
            </a:r>
            <a:r>
              <a:rPr lang="en-US" altLang="ko-KR" sz="115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 </a:t>
            </a:r>
            <a:r>
              <a:rPr lang="ko-KR" altLang="en-US" sz="115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해제하려면 은행을 방문해 주세요</a:t>
            </a:r>
            <a:r>
              <a:rPr lang="en-US" altLang="ko-KR" sz="115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."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15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 false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15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 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(!</a:t>
            </a:r>
            <a:r>
              <a:rPr lang="en-US" altLang="ko-KR" sz="115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account.</a:t>
            </a:r>
            <a:r>
              <a:rPr lang="en-US" altLang="ko-KR" sz="115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getPassword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().</a:t>
            </a:r>
            <a:r>
              <a:rPr lang="en-US" altLang="ko-KR" sz="1150" dirty="0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equals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15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password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 {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15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System</a:t>
            </a:r>
            <a:r>
              <a:rPr lang="en-US" altLang="ko-KR" sz="115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15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out</a:t>
            </a:r>
            <a:r>
              <a:rPr lang="en-US" altLang="ko-KR" sz="115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15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println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15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15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비밀번호가 일치하지 않습니다</a:t>
            </a:r>
            <a:r>
              <a:rPr lang="en-US" altLang="ko-KR" sz="115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."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15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handlePasswordError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(account);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15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 false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15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System</a:t>
            </a:r>
            <a:r>
              <a:rPr lang="en-US" altLang="ko-KR" sz="115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15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out</a:t>
            </a:r>
            <a:r>
              <a:rPr lang="en-US" altLang="ko-KR" sz="115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15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println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15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15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로그인 성공</a:t>
            </a:r>
            <a:r>
              <a:rPr lang="en-US" altLang="ko-KR" sz="115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15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account.</a:t>
            </a:r>
            <a:r>
              <a:rPr lang="en-US" altLang="ko-KR" sz="115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resetPasswordErrorCount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15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account.</a:t>
            </a:r>
            <a:r>
              <a:rPr lang="en-US" altLang="ko-KR" sz="115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setLogined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15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true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15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 true</a:t>
            </a: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15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528C9E-1FE7-F779-D004-82629915CF31}"/>
              </a:ext>
            </a:extLst>
          </p:cNvPr>
          <p:cNvSpPr txBox="1"/>
          <p:nvPr/>
        </p:nvSpPr>
        <p:spPr>
          <a:xfrm>
            <a:off x="468921" y="3214694"/>
            <a:ext cx="497117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계좌번호와 비밀번호를 입력 받는다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로그인 상태</a:t>
            </a:r>
            <a:r>
              <a:rPr lang="en-US" altLang="ko-KR" dirty="0"/>
              <a:t>(</a:t>
            </a:r>
            <a:r>
              <a:rPr lang="ko-KR" altLang="en-US" dirty="0"/>
              <a:t>중복 로그인</a:t>
            </a:r>
            <a:r>
              <a:rPr lang="en-US" altLang="ko-KR" dirty="0"/>
              <a:t>)</a:t>
            </a:r>
            <a:r>
              <a:rPr lang="ko-KR" altLang="en-US" dirty="0"/>
              <a:t>인지 확인하고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모든 검사를 통과하면 비밀번호 오류 횟수를 초기화 하고 로그인 플래그를 </a:t>
            </a:r>
            <a:r>
              <a:rPr lang="en-US" altLang="ko-KR" dirty="0"/>
              <a:t>true</a:t>
            </a:r>
            <a:r>
              <a:rPr lang="ko-KR" altLang="en-US" dirty="0"/>
              <a:t>로 바꾸는 메서드이다</a:t>
            </a:r>
            <a:r>
              <a:rPr lang="en-US" altLang="ko-K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7219949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8E6ED-42CF-44CA-92B4-EA0B4CC37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F0C049D-D045-B911-3120-7AAD22717976}"/>
              </a:ext>
            </a:extLst>
          </p:cNvPr>
          <p:cNvSpPr txBox="1"/>
          <p:nvPr/>
        </p:nvSpPr>
        <p:spPr>
          <a:xfrm>
            <a:off x="328246" y="377952"/>
            <a:ext cx="46423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+mj-lt"/>
              </a:rPr>
              <a:t>주요 기능 </a:t>
            </a:r>
            <a:r>
              <a:rPr lang="en-US" altLang="ko-KR" sz="3200" dirty="0">
                <a:latin typeface="+mj-lt"/>
              </a:rPr>
              <a:t>– </a:t>
            </a:r>
            <a:r>
              <a:rPr lang="ko-KR" altLang="en-US" sz="3200" dirty="0">
                <a:latin typeface="+mj-lt"/>
              </a:rPr>
              <a:t>사용자 관리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2FE546-D84E-3787-59E2-44E6B06FC485}"/>
              </a:ext>
            </a:extLst>
          </p:cNvPr>
          <p:cNvSpPr txBox="1"/>
          <p:nvPr/>
        </p:nvSpPr>
        <p:spPr>
          <a:xfrm>
            <a:off x="468922" y="945115"/>
            <a:ext cx="5627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AccountAuthServiceImp.java - logout()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B60CCE-36EC-BE95-E2B6-BB280078D9D2}"/>
              </a:ext>
            </a:extLst>
          </p:cNvPr>
          <p:cNvSpPr txBox="1"/>
          <p:nvPr/>
        </p:nvSpPr>
        <p:spPr>
          <a:xfrm>
            <a:off x="7080738" y="3105834"/>
            <a:ext cx="46423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계좌 객체 리스트 중 로그인 된 계정을 찾아 로그인 플래그를 </a:t>
            </a:r>
            <a:r>
              <a:rPr lang="en-US" altLang="ko-KR" dirty="0"/>
              <a:t>false</a:t>
            </a:r>
            <a:r>
              <a:rPr lang="ko-KR" altLang="en-US" dirty="0"/>
              <a:t>로 만드는 메서드이다</a:t>
            </a:r>
            <a:r>
              <a:rPr lang="en-US" altLang="ko-KR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9EB0AB-0A52-E81C-9E17-5D30A0396F8E}"/>
              </a:ext>
            </a:extLst>
          </p:cNvPr>
          <p:cNvSpPr txBox="1"/>
          <p:nvPr/>
        </p:nvSpPr>
        <p:spPr>
          <a:xfrm>
            <a:off x="468922" y="2274837"/>
            <a:ext cx="609407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@Override</a:t>
            </a:r>
            <a:b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void </a:t>
            </a:r>
            <a:r>
              <a:rPr lang="en-US" altLang="ko-KR" sz="1600" dirty="0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logout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 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 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: </a:t>
            </a:r>
            <a:r>
              <a:rPr lang="en-US" altLang="ko-KR" sz="1600" dirty="0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accounts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isLogined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 ==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true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    </a:t>
            </a:r>
            <a:r>
              <a:rPr lang="en-US" altLang="ko-KR" sz="16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System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out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println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로그아웃 하였습니다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."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    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setLogined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false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}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664837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E5AD0-D322-B915-B027-70B0AE35F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8107C25-B789-A49C-4C31-94A292A320A1}"/>
              </a:ext>
            </a:extLst>
          </p:cNvPr>
          <p:cNvSpPr txBox="1"/>
          <p:nvPr/>
        </p:nvSpPr>
        <p:spPr>
          <a:xfrm>
            <a:off x="328246" y="377952"/>
            <a:ext cx="46423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+mj-lt"/>
              </a:rPr>
              <a:t>주요 기능 </a:t>
            </a:r>
            <a:r>
              <a:rPr lang="en-US" altLang="ko-KR" sz="3200" dirty="0">
                <a:latin typeface="+mj-lt"/>
              </a:rPr>
              <a:t>– </a:t>
            </a:r>
            <a:r>
              <a:rPr lang="ko-KR" altLang="en-US" sz="3200" dirty="0">
                <a:latin typeface="+mj-lt"/>
              </a:rPr>
              <a:t>사용자 관리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EB43F9-5863-7764-CEFF-4115CBC970B9}"/>
              </a:ext>
            </a:extLst>
          </p:cNvPr>
          <p:cNvSpPr txBox="1"/>
          <p:nvPr/>
        </p:nvSpPr>
        <p:spPr>
          <a:xfrm>
            <a:off x="468922" y="945115"/>
            <a:ext cx="6001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AccountAuthServiceImp.java - </a:t>
            </a:r>
            <a:r>
              <a:rPr lang="en-US" altLang="ko-KR" dirty="0" err="1"/>
              <a:t>handlePasswordError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25EE72-7255-7B89-C060-295B3841AB28}"/>
              </a:ext>
            </a:extLst>
          </p:cNvPr>
          <p:cNvSpPr txBox="1"/>
          <p:nvPr/>
        </p:nvSpPr>
        <p:spPr>
          <a:xfrm>
            <a:off x="6319777" y="1864343"/>
            <a:ext cx="54033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계좌 객체마다 비밀번호 오류 횟수를 </a:t>
            </a:r>
            <a:r>
              <a:rPr lang="ko-KR" altLang="en-US" dirty="0" err="1"/>
              <a:t>카운팅</a:t>
            </a:r>
            <a:r>
              <a:rPr lang="ko-KR" altLang="en-US" dirty="0"/>
              <a:t> 하고</a:t>
            </a:r>
            <a:r>
              <a:rPr lang="en-US" altLang="ko-KR" dirty="0"/>
              <a:t>, </a:t>
            </a:r>
            <a:r>
              <a:rPr lang="ko-KR" altLang="en-US" dirty="0"/>
              <a:t>세 번 틀렸을 시 계좌를 잠그는 메서드이다</a:t>
            </a:r>
            <a:r>
              <a:rPr lang="en-US" altLang="ko-KR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5ED522-3AE5-8F00-0B58-6CBFD4003F46}"/>
              </a:ext>
            </a:extLst>
          </p:cNvPr>
          <p:cNvSpPr txBox="1"/>
          <p:nvPr/>
        </p:nvSpPr>
        <p:spPr>
          <a:xfrm>
            <a:off x="468922" y="2105560"/>
            <a:ext cx="11254156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@Override</a:t>
            </a:r>
            <a:b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void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handlePasswordError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increasePasswordErrorCount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System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out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println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비밀번호 오류 횟수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"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+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getPasswordErrorCount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getPasswordErrorCount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 &gt;=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setLocked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true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6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System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out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println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비밀번호 오류로 인해 계좌가 </a:t>
            </a:r>
            <a:r>
              <a:rPr lang="ko-KR" altLang="en-US" sz="1600" dirty="0" err="1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잠금되었습니다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 </a:t>
            </a:r>
            <a:r>
              <a:rPr lang="ko-KR" altLang="en-US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해제하려면 은행을 방문해 주세요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."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761446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6D2C9-A52F-C481-211A-AD929C96C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CA5F632-BB2E-1E23-67FD-864088872C07}"/>
              </a:ext>
            </a:extLst>
          </p:cNvPr>
          <p:cNvSpPr txBox="1"/>
          <p:nvPr/>
        </p:nvSpPr>
        <p:spPr>
          <a:xfrm>
            <a:off x="1054779" y="2228145"/>
            <a:ext cx="372437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dirty="0"/>
              <a:t>TransactionLog.java</a:t>
            </a:r>
            <a:endParaRPr lang="ko-KR" alt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432A56-22B8-BC16-9ACB-D97AB6137B5F}"/>
              </a:ext>
            </a:extLst>
          </p:cNvPr>
          <p:cNvSpPr txBox="1"/>
          <p:nvPr/>
        </p:nvSpPr>
        <p:spPr>
          <a:xfrm>
            <a:off x="6096000" y="2228145"/>
            <a:ext cx="443829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dirty="0"/>
              <a:t>TransactionService.java</a:t>
            </a:r>
            <a:endParaRPr lang="ko-KR" altLang="en-US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651268-19B3-9DF2-2974-C521F0DC2288}"/>
              </a:ext>
            </a:extLst>
          </p:cNvPr>
          <p:cNvSpPr txBox="1"/>
          <p:nvPr/>
        </p:nvSpPr>
        <p:spPr>
          <a:xfrm>
            <a:off x="5416081" y="4106635"/>
            <a:ext cx="5798127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dirty="0"/>
              <a:t>TransactionBalanceService.java</a:t>
            </a:r>
            <a:endParaRPr lang="ko-KR" altLang="en-US" sz="2800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701AF607-643F-6B2D-8944-EF4A05538C86}"/>
              </a:ext>
            </a:extLst>
          </p:cNvPr>
          <p:cNvGrpSpPr/>
          <p:nvPr/>
        </p:nvGrpSpPr>
        <p:grpSpPr>
          <a:xfrm>
            <a:off x="8315146" y="2751365"/>
            <a:ext cx="1862752" cy="1355270"/>
            <a:chOff x="7760965" y="2750222"/>
            <a:chExt cx="1928181" cy="1355270"/>
          </a:xfrm>
        </p:grpSpPr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1678BC68-430E-B952-CF9A-1785B24B85E8}"/>
                </a:ext>
              </a:extLst>
            </p:cNvPr>
            <p:cNvCxnSpPr>
              <a:cxnSpLocks/>
              <a:stCxn id="12" idx="0"/>
              <a:endCxn id="10" idx="2"/>
            </p:cNvCxnSpPr>
            <p:nvPr/>
          </p:nvCxnSpPr>
          <p:spPr>
            <a:xfrm flipV="1">
              <a:off x="7760965" y="2750222"/>
              <a:ext cx="4" cy="135527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F332B11-A22C-3337-16E9-57DA11BC0619}"/>
                </a:ext>
              </a:extLst>
            </p:cNvPr>
            <p:cNvSpPr txBox="1"/>
            <p:nvPr/>
          </p:nvSpPr>
          <p:spPr>
            <a:xfrm>
              <a:off x="8182729" y="3243191"/>
              <a:ext cx="15064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implements</a:t>
              </a:r>
              <a:endParaRPr lang="ko-KR" altLang="en-US" dirty="0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B90E99C1-ABF1-EE63-FEEB-B425971FA797}"/>
              </a:ext>
            </a:extLst>
          </p:cNvPr>
          <p:cNvSpPr txBox="1"/>
          <p:nvPr/>
        </p:nvSpPr>
        <p:spPr>
          <a:xfrm>
            <a:off x="328246" y="377952"/>
            <a:ext cx="51997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+mj-lt"/>
              </a:rPr>
              <a:t>주요 기능 </a:t>
            </a:r>
            <a:r>
              <a:rPr lang="en-US" altLang="ko-KR" sz="3200" dirty="0">
                <a:latin typeface="+mj-lt"/>
              </a:rPr>
              <a:t>– </a:t>
            </a:r>
            <a:r>
              <a:rPr lang="ko-KR" altLang="en-US" sz="3200" dirty="0">
                <a:latin typeface="+mj-lt"/>
              </a:rPr>
              <a:t>거래 및 입출금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913CB0-5A5F-3928-7474-D6D82B21E15C}"/>
              </a:ext>
            </a:extLst>
          </p:cNvPr>
          <p:cNvSpPr txBox="1"/>
          <p:nvPr/>
        </p:nvSpPr>
        <p:spPr>
          <a:xfrm>
            <a:off x="468922" y="945115"/>
            <a:ext cx="844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구조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CDBE4E-3FB5-162C-108D-F62D1082BD44}"/>
              </a:ext>
            </a:extLst>
          </p:cNvPr>
          <p:cNvSpPr txBox="1"/>
          <p:nvPr/>
        </p:nvSpPr>
        <p:spPr>
          <a:xfrm>
            <a:off x="7469062" y="1396885"/>
            <a:ext cx="16921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/>
              <a:t>구현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786C2C-1A8D-CE21-C3BF-35DD2E195586}"/>
              </a:ext>
            </a:extLst>
          </p:cNvPr>
          <p:cNvSpPr txBox="1"/>
          <p:nvPr/>
        </p:nvSpPr>
        <p:spPr>
          <a:xfrm>
            <a:off x="2070885" y="1396885"/>
            <a:ext cx="16921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/>
              <a:t>엔티티</a:t>
            </a:r>
          </a:p>
        </p:txBody>
      </p:sp>
    </p:spTree>
    <p:extLst>
      <p:ext uri="{BB962C8B-B14F-4D97-AF65-F5344CB8AC3E}">
        <p14:creationId xmlns:p14="http://schemas.microsoft.com/office/powerpoint/2010/main" val="36096000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A090B-B3A1-CB0D-8D98-8901DB2E7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0AEBB519-4656-307B-EA54-9B4D1E108C72}"/>
              </a:ext>
            </a:extLst>
          </p:cNvPr>
          <p:cNvSpPr txBox="1"/>
          <p:nvPr/>
        </p:nvSpPr>
        <p:spPr>
          <a:xfrm>
            <a:off x="328246" y="377952"/>
            <a:ext cx="48919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</a:t>
            </a:r>
            <a:r>
              <a:rPr lang="ko-KR" altLang="en-US" sz="3200" dirty="0"/>
              <a:t>거래 및 입출금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6C36BF-10D9-4404-FF09-B11755BE3C69}"/>
              </a:ext>
            </a:extLst>
          </p:cNvPr>
          <p:cNvSpPr txBox="1"/>
          <p:nvPr/>
        </p:nvSpPr>
        <p:spPr>
          <a:xfrm>
            <a:off x="2938895" y="1719269"/>
            <a:ext cx="6314209" cy="19386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ko-KR" sz="2800" dirty="0">
                <a:latin typeface="+mn-ea"/>
              </a:rPr>
              <a:t>입출금 및 잔액 제어</a:t>
            </a:r>
            <a:endParaRPr lang="ko-KR" altLang="en-US" sz="2800" dirty="0">
              <a:latin typeface="+mn-ea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ko-KR" sz="2800" dirty="0">
                <a:latin typeface="+mn-ea"/>
              </a:rPr>
              <a:t>계좌 이체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ko-KR" sz="2800" dirty="0">
                <a:latin typeface="+mn-ea"/>
              </a:rPr>
              <a:t>거래 내역 기록</a:t>
            </a:r>
            <a:r>
              <a:rPr lang="en-US" altLang="ko-KR" sz="2800" dirty="0">
                <a:latin typeface="+mn-ea"/>
              </a:rPr>
              <a:t>(Log)</a:t>
            </a:r>
            <a:endParaRPr lang="ko-KR" altLang="en-US" sz="2800" dirty="0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42678C-990C-1B8E-C6B2-B7AFCBD7014F}"/>
              </a:ext>
            </a:extLst>
          </p:cNvPr>
          <p:cNvSpPr txBox="1"/>
          <p:nvPr/>
        </p:nvSpPr>
        <p:spPr>
          <a:xfrm>
            <a:off x="468922" y="945115"/>
            <a:ext cx="1162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구현 기능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2411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E9EC8-B9B9-8379-258F-2962A16F7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87FB13E-C779-4622-5F86-DE2FDDCECA25}"/>
              </a:ext>
            </a:extLst>
          </p:cNvPr>
          <p:cNvSpPr txBox="1"/>
          <p:nvPr/>
        </p:nvSpPr>
        <p:spPr>
          <a:xfrm>
            <a:off x="677805" y="1529890"/>
            <a:ext cx="10836387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interface </a:t>
            </a:r>
            <a:r>
              <a:rPr lang="en-US" altLang="ko-KR" sz="16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TransactionService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입출금 및 잔액 제어</a:t>
            </a: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long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checkBalance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accountNo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현재 잔액 확인</a:t>
            </a: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void </a:t>
            </a:r>
            <a:r>
              <a:rPr lang="en-US" altLang="ko-KR" sz="1600" dirty="0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deposit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accountNo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long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현금 입금</a:t>
            </a: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void </a:t>
            </a:r>
            <a:r>
              <a:rPr lang="en-US" altLang="ko-KR" sz="1600" dirty="0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withdraw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accountNo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long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throws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Exception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현금 출금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잔액 차감 및 단위 제한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부족 시 제한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계좌 이체 </a:t>
            </a: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void </a:t>
            </a:r>
            <a:r>
              <a:rPr lang="en-US" altLang="ko-KR" sz="1600" dirty="0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transfer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fromAccountNo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toAccountNo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long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throws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Exception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 </a:t>
            </a:r>
          </a:p>
          <a:p>
            <a:pPr>
              <a:buNone/>
            </a:pPr>
            <a:r>
              <a:rPr lang="en-US" altLang="ko-KR" sz="1600" dirty="0">
                <a:solidFill>
                  <a:srgbClr val="BBBBB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보내는 계좌 차감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+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받는 계좌 합산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없는 계좌 체크</a:t>
            </a: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거래 내역 기록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(Log) </a:t>
            </a: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void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recordTransaction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accountNo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type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long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입금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출금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이체 발생 시 시간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금액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거래 유형 기록</a:t>
            </a: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List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getRecentHistory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accountNo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최근 거래 내역 리스트 보기</a:t>
            </a: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800217-4893-BB04-CE8D-8D6FF066379E}"/>
              </a:ext>
            </a:extLst>
          </p:cNvPr>
          <p:cNvSpPr txBox="1"/>
          <p:nvPr/>
        </p:nvSpPr>
        <p:spPr>
          <a:xfrm>
            <a:off x="328246" y="377952"/>
            <a:ext cx="52932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</a:t>
            </a:r>
            <a:r>
              <a:rPr lang="ko-KR" altLang="en-US" sz="3200" dirty="0"/>
              <a:t>거래 및 입출금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E0582A-AAE2-B24A-CB17-9A6CBD1913DE}"/>
              </a:ext>
            </a:extLst>
          </p:cNvPr>
          <p:cNvSpPr txBox="1"/>
          <p:nvPr/>
        </p:nvSpPr>
        <p:spPr>
          <a:xfrm>
            <a:off x="468922" y="945115"/>
            <a:ext cx="4009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TransactionService.java (</a:t>
            </a:r>
            <a:r>
              <a:rPr lang="ko-KR" altLang="en-US" dirty="0"/>
              <a:t>인터페이스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33A8CC-A922-8FE6-88B7-F3FAD78E13C5}"/>
              </a:ext>
            </a:extLst>
          </p:cNvPr>
          <p:cNvSpPr txBox="1"/>
          <p:nvPr/>
        </p:nvSpPr>
        <p:spPr>
          <a:xfrm>
            <a:off x="2419213" y="5543553"/>
            <a:ext cx="7353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highlight>
                  <a:srgbClr val="FFFFFF"/>
                </a:highlight>
                <a:latin typeface="+mn-ea"/>
              </a:rPr>
              <a:t>거래 및 입출금</a:t>
            </a:r>
            <a:r>
              <a:rPr lang="en-US" altLang="ko-KR" dirty="0">
                <a:highlight>
                  <a:srgbClr val="FFFFFF"/>
                </a:highlight>
                <a:latin typeface="+mn-ea"/>
              </a:rPr>
              <a:t>, </a:t>
            </a:r>
            <a:r>
              <a:rPr lang="ko-KR" altLang="en-US" dirty="0">
                <a:highlight>
                  <a:srgbClr val="FFFFFF"/>
                </a:highlight>
                <a:latin typeface="+mn-ea"/>
              </a:rPr>
              <a:t>추적을 위한 로그 작성 기능 구현을 위한 인터페이스를 생성한다</a:t>
            </a:r>
            <a:r>
              <a:rPr lang="en-US" altLang="ko-KR" dirty="0">
                <a:highlight>
                  <a:srgbClr val="FFFFFF"/>
                </a:highlight>
                <a:latin typeface="+mn-ea"/>
              </a:rPr>
              <a:t>.</a:t>
            </a:r>
            <a:endParaRPr lang="ko-KR" altLang="en-US" dirty="0">
              <a:highlight>
                <a:srgbClr val="FFFFFF"/>
              </a:highlight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392363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DC0F0-911E-9ED1-AB0A-3EFBB2228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879CA50-C395-68F2-3C37-576783AAAE51}"/>
              </a:ext>
            </a:extLst>
          </p:cNvPr>
          <p:cNvSpPr txBox="1"/>
          <p:nvPr/>
        </p:nvSpPr>
        <p:spPr>
          <a:xfrm>
            <a:off x="328246" y="377952"/>
            <a:ext cx="5043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</a:t>
            </a:r>
            <a:r>
              <a:rPr lang="ko-KR" altLang="en-US" sz="3200" dirty="0"/>
              <a:t>거래 및 입출금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05A12E-6962-6962-CBD9-8F41EB63B45F}"/>
              </a:ext>
            </a:extLst>
          </p:cNvPr>
          <p:cNvSpPr txBox="1"/>
          <p:nvPr/>
        </p:nvSpPr>
        <p:spPr>
          <a:xfrm>
            <a:off x="468921" y="945115"/>
            <a:ext cx="6350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TransactionBalanceService.java – </a:t>
            </a:r>
            <a:r>
              <a:rPr lang="ko-KR" altLang="en-US" dirty="0"/>
              <a:t>클래스 내부 필드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C90424-B3B9-8845-200F-C399790EE8D9}"/>
              </a:ext>
            </a:extLst>
          </p:cNvPr>
          <p:cNvSpPr txBox="1"/>
          <p:nvPr/>
        </p:nvSpPr>
        <p:spPr>
          <a:xfrm>
            <a:off x="1233719" y="4092970"/>
            <a:ext cx="97245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n-ea"/>
              </a:rPr>
              <a:t>계좌 목록 </a:t>
            </a:r>
            <a:r>
              <a:rPr lang="ko-KR" altLang="en-US" dirty="0" err="1">
                <a:latin typeface="+mn-ea"/>
              </a:rPr>
              <a:t>List</a:t>
            </a:r>
            <a:r>
              <a:rPr lang="ko-KR" altLang="en-US" dirty="0">
                <a:latin typeface="+mn-ea"/>
              </a:rPr>
              <a:t>&lt;</a:t>
            </a:r>
            <a:r>
              <a:rPr lang="ko-KR" altLang="en-US" dirty="0" err="1">
                <a:latin typeface="+mn-ea"/>
              </a:rPr>
              <a:t>Account</a:t>
            </a:r>
            <a:r>
              <a:rPr lang="ko-KR" altLang="en-US" dirty="0">
                <a:latin typeface="+mn-ea"/>
              </a:rPr>
              <a:t>&gt; =&gt; ATM 거래 시에 </a:t>
            </a:r>
            <a:r>
              <a:rPr lang="ko-KR" altLang="en-US" dirty="0" err="1">
                <a:latin typeface="+mn-ea"/>
              </a:rPr>
              <a:t>atm</a:t>
            </a:r>
            <a:r>
              <a:rPr lang="ko-KR" altLang="en-US" dirty="0">
                <a:latin typeface="+mn-ea"/>
              </a:rPr>
              <a:t> 내부에 현금 잔액을 변경위해</a:t>
            </a:r>
            <a:endParaRPr lang="ko-KR" altLang="ko-KR" dirty="0">
              <a:latin typeface="+mn-ea"/>
            </a:endParaRPr>
          </a:p>
          <a:p>
            <a:r>
              <a:rPr lang="ko-KR" altLang="en-US" dirty="0" err="1">
                <a:latin typeface="+mn-ea"/>
              </a:rPr>
              <a:t>Atm</a:t>
            </a:r>
            <a:r>
              <a:rPr lang="ko-KR" altLang="en-US" dirty="0">
                <a:latin typeface="+mn-ea"/>
              </a:rPr>
              <a:t> 기계 </a:t>
            </a:r>
            <a:r>
              <a:rPr lang="ko-KR" altLang="en-US" dirty="0" err="1">
                <a:latin typeface="+mn-ea"/>
              </a:rPr>
              <a:t>AtmMachine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 err="1">
                <a:latin typeface="+mn-ea"/>
              </a:rPr>
              <a:t>atmMachine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ko-KR" dirty="0">
                <a:latin typeface="+mn-ea"/>
              </a:rPr>
              <a:t>=&gt; </a:t>
            </a:r>
            <a:r>
              <a:rPr lang="ko-KR" altLang="ko-KR" dirty="0" err="1">
                <a:latin typeface="+mn-ea"/>
              </a:rPr>
              <a:t>atm</a:t>
            </a:r>
            <a:r>
              <a:rPr lang="ko-KR" altLang="ko-KR" dirty="0">
                <a:latin typeface="+mn-ea"/>
              </a:rPr>
              <a:t> 기계에 잔액을 변경하기 위해</a:t>
            </a:r>
          </a:p>
          <a:p>
            <a:r>
              <a:rPr lang="ko-KR" altLang="en-US" dirty="0">
                <a:latin typeface="+mn-ea"/>
              </a:rPr>
              <a:t>파일(.</a:t>
            </a:r>
            <a:r>
              <a:rPr lang="ko-KR" altLang="en-US" dirty="0" err="1">
                <a:latin typeface="+mn-ea"/>
              </a:rPr>
              <a:t>txt</a:t>
            </a:r>
            <a:r>
              <a:rPr lang="ko-KR" altLang="en-US" dirty="0">
                <a:latin typeface="+mn-ea"/>
              </a:rPr>
              <a:t>) 저장 </a:t>
            </a:r>
            <a:r>
              <a:rPr lang="ko-KR" altLang="en-US" dirty="0" err="1">
                <a:latin typeface="+mn-ea"/>
              </a:rPr>
              <a:t>FileDataManager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en-US" dirty="0" err="1">
                <a:latin typeface="+mn-ea"/>
              </a:rPr>
              <a:t>f</a:t>
            </a:r>
            <a:r>
              <a:rPr lang="en-US" altLang="ko-KR" dirty="0" err="1">
                <a:latin typeface="+mn-ea"/>
              </a:rPr>
              <a:t>ileDataManager</a:t>
            </a:r>
            <a:r>
              <a:rPr lang="ko-KR" altLang="en-US" dirty="0">
                <a:latin typeface="+mn-ea"/>
              </a:rPr>
              <a:t> </a:t>
            </a:r>
            <a:r>
              <a:rPr lang="ko-KR" altLang="ko-KR" dirty="0">
                <a:latin typeface="+mn-ea"/>
              </a:rPr>
              <a:t>=&gt; 전체 거래 기록 .</a:t>
            </a:r>
            <a:r>
              <a:rPr lang="ko-KR" altLang="ko-KR" dirty="0" err="1">
                <a:latin typeface="+mn-ea"/>
              </a:rPr>
              <a:t>txt</a:t>
            </a:r>
            <a:r>
              <a:rPr lang="ko-KR" altLang="ko-KR" dirty="0">
                <a:latin typeface="+mn-ea"/>
              </a:rPr>
              <a:t> 로 저장</a:t>
            </a:r>
          </a:p>
          <a:p>
            <a:r>
              <a:rPr lang="ko-KR" altLang="en-US" dirty="0">
                <a:latin typeface="+mn-ea"/>
              </a:rPr>
              <a:t>거래 시각 포맷 </a:t>
            </a:r>
            <a:r>
              <a:rPr lang="en-US" altLang="ko-KR" dirty="0" err="1">
                <a:latin typeface="+mn-ea"/>
              </a:rPr>
              <a:t>DateTimeFormatter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HISTORY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TIME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FORMAT</a:t>
            </a:r>
            <a:r>
              <a:rPr lang="ko-KR" altLang="en-US" dirty="0">
                <a:latin typeface="+mn-ea"/>
              </a:rPr>
              <a:t> =&gt; 시간을 사용자가 읽기 쉬운 포맷으로 변경위해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A9A972-CF20-54D2-2055-644A0C844973}"/>
              </a:ext>
            </a:extLst>
          </p:cNvPr>
          <p:cNvSpPr txBox="1"/>
          <p:nvPr/>
        </p:nvSpPr>
        <p:spPr>
          <a:xfrm>
            <a:off x="328246" y="2018777"/>
            <a:ext cx="848324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final 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List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 </a:t>
            </a:r>
            <a:r>
              <a:rPr lang="en-US" altLang="ko-KR" sz="18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accountList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</a:t>
            </a:r>
            <a:r>
              <a:rPr lang="en-US" altLang="ko-KR" sz="18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AtmMachine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8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atmMachine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final </a:t>
            </a:r>
            <a:r>
              <a:rPr lang="en-US" altLang="ko-KR" sz="18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8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</a:p>
          <a:p>
            <a:pPr>
              <a:buNone/>
            </a:pP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static final </a:t>
            </a:r>
            <a:r>
              <a:rPr lang="en-US" altLang="ko-KR" sz="18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DateTimeFormatter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8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HISTORY_TIME_FORMAT 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 </a:t>
            </a:r>
            <a:r>
              <a:rPr lang="en-US" altLang="ko-KR" sz="18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DateTimeFormatter</a:t>
            </a:r>
            <a:r>
              <a:rPr lang="en-US" altLang="ko-KR" sz="18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ofPattern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800" dirty="0" err="1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yyyy</a:t>
            </a:r>
            <a:r>
              <a:rPr lang="en-US" altLang="ko-KR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-MM-dd </a:t>
            </a:r>
            <a:r>
              <a:rPr lang="en-US" altLang="ko-KR" sz="1800" dirty="0" err="1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HH:mm:ss</a:t>
            </a:r>
            <a:r>
              <a:rPr lang="en-US" altLang="ko-KR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5840353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360AF-405D-26FE-5291-20557E624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56DA59A-57A9-67C3-F31A-05796E1258CC}"/>
              </a:ext>
            </a:extLst>
          </p:cNvPr>
          <p:cNvSpPr txBox="1"/>
          <p:nvPr/>
        </p:nvSpPr>
        <p:spPr>
          <a:xfrm>
            <a:off x="328246" y="377952"/>
            <a:ext cx="5043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</a:t>
            </a:r>
            <a:r>
              <a:rPr lang="ko-KR" altLang="en-US" sz="3200" dirty="0"/>
              <a:t>거래 및 입출금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0A2B07-A3F7-5DD7-87BF-983E0B1A8AFD}"/>
              </a:ext>
            </a:extLst>
          </p:cNvPr>
          <p:cNvSpPr txBox="1"/>
          <p:nvPr/>
        </p:nvSpPr>
        <p:spPr>
          <a:xfrm>
            <a:off x="468921" y="945115"/>
            <a:ext cx="9038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TransactionBalanceService.java – </a:t>
            </a:r>
            <a:r>
              <a:rPr lang="en-US" altLang="ko-KR" dirty="0" err="1"/>
              <a:t>TransactionBalanceService</a:t>
            </a:r>
            <a:r>
              <a:rPr lang="en-US" altLang="ko-KR" dirty="0"/>
              <a:t>() (</a:t>
            </a:r>
            <a:r>
              <a:rPr lang="ko-KR" altLang="en-US" dirty="0"/>
              <a:t>생성자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87DEA9-CF78-B412-0543-C97E1D2267E4}"/>
              </a:ext>
            </a:extLst>
          </p:cNvPr>
          <p:cNvSpPr txBox="1"/>
          <p:nvPr/>
        </p:nvSpPr>
        <p:spPr>
          <a:xfrm>
            <a:off x="468921" y="2551837"/>
            <a:ext cx="724246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TransactionBalanceService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List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 </a:t>
            </a:r>
            <a:r>
              <a:rPr lang="en-US" altLang="ko-KR" sz="18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accountList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8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AtmMachine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8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atmMachine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8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8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 err="1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this</a:t>
            </a:r>
            <a:r>
              <a:rPr lang="en-US" altLang="ko-KR" sz="18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8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accountList</a:t>
            </a:r>
            <a:r>
              <a:rPr lang="en-US" altLang="ko-KR" sz="1800" dirty="0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 </a:t>
            </a:r>
            <a:r>
              <a:rPr lang="en-US" altLang="ko-KR" sz="18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accountList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 err="1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this</a:t>
            </a:r>
            <a:r>
              <a:rPr lang="en-US" altLang="ko-KR" sz="18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8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atmMachine</a:t>
            </a:r>
            <a:r>
              <a:rPr lang="en-US" altLang="ko-KR" sz="1800" dirty="0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 </a:t>
            </a:r>
            <a:r>
              <a:rPr lang="en-US" altLang="ko-KR" sz="18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atmMachine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 err="1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this</a:t>
            </a:r>
            <a:r>
              <a:rPr lang="en-US" altLang="ko-KR" sz="18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8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sz="1800" dirty="0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 </a:t>
            </a:r>
            <a:r>
              <a:rPr lang="en-US" altLang="ko-KR" sz="18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93A5FE-7864-02DC-68CC-A5706CF6D2DB}"/>
              </a:ext>
            </a:extLst>
          </p:cNvPr>
          <p:cNvSpPr txBox="1"/>
          <p:nvPr/>
        </p:nvSpPr>
        <p:spPr>
          <a:xfrm>
            <a:off x="7211291" y="4413314"/>
            <a:ext cx="4774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highlight>
                  <a:srgbClr val="FFFFFF"/>
                </a:highlight>
                <a:latin typeface="+mn-ea"/>
              </a:rPr>
              <a:t>거래 시각을 제외한  나머지 필드는 생성자로 받는다</a:t>
            </a:r>
            <a:r>
              <a:rPr lang="en-US" altLang="ko-KR" dirty="0">
                <a:highlight>
                  <a:srgbClr val="FFFFFF"/>
                </a:highlight>
                <a:latin typeface="+mn-ea"/>
              </a:rPr>
              <a:t>.</a:t>
            </a:r>
            <a:endParaRPr lang="ko-KR" altLang="en-US" dirty="0">
              <a:highlight>
                <a:srgbClr val="FFFFFF"/>
              </a:highlight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307584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4A33D-DDE5-61FB-CA26-E51D98C05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991F7F2-8B59-C13F-C63B-4937D4CDB3A9}"/>
              </a:ext>
            </a:extLst>
          </p:cNvPr>
          <p:cNvSpPr txBox="1"/>
          <p:nvPr/>
        </p:nvSpPr>
        <p:spPr>
          <a:xfrm>
            <a:off x="328246" y="377952"/>
            <a:ext cx="5043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</a:t>
            </a:r>
            <a:r>
              <a:rPr lang="ko-KR" altLang="en-US" sz="3200" dirty="0"/>
              <a:t>거래 및 입출금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03CA71-1B07-83DA-DF3A-23F2E0038C77}"/>
              </a:ext>
            </a:extLst>
          </p:cNvPr>
          <p:cNvSpPr txBox="1"/>
          <p:nvPr/>
        </p:nvSpPr>
        <p:spPr>
          <a:xfrm>
            <a:off x="468921" y="945115"/>
            <a:ext cx="9038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TransactionBalanceService.java – </a:t>
            </a:r>
            <a:r>
              <a:rPr lang="en-US" altLang="ko-KR" dirty="0" err="1"/>
              <a:t>findAccount</a:t>
            </a:r>
            <a:r>
              <a:rPr lang="en-US" altLang="ko-KR" dirty="0"/>
              <a:t>() 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9DA77F-DC3D-73F1-FD97-6076BDC78B0E}"/>
              </a:ext>
            </a:extLst>
          </p:cNvPr>
          <p:cNvSpPr txBox="1"/>
          <p:nvPr/>
        </p:nvSpPr>
        <p:spPr>
          <a:xfrm>
            <a:off x="5694218" y="3654778"/>
            <a:ext cx="62008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highlight>
                  <a:srgbClr val="FFFFFF"/>
                </a:highlight>
                <a:latin typeface="+mn-ea"/>
              </a:rPr>
              <a:t>계좌번호를 매개변수로 받아 계좌를 </a:t>
            </a:r>
            <a:r>
              <a:rPr lang="ko-KR" altLang="en-US" dirty="0" err="1">
                <a:highlight>
                  <a:srgbClr val="FFFFFF"/>
                </a:highlight>
                <a:latin typeface="+mn-ea"/>
              </a:rPr>
              <a:t>Account</a:t>
            </a:r>
            <a:r>
              <a:rPr lang="ko-KR" altLang="en-US" dirty="0">
                <a:highlight>
                  <a:srgbClr val="FFFFFF"/>
                </a:highlight>
                <a:latin typeface="+mn-ea"/>
              </a:rPr>
              <a:t> 타입으로 반환해주는 메서드</a:t>
            </a:r>
          </a:p>
          <a:p>
            <a:r>
              <a:rPr lang="ko-KR" altLang="en-US" dirty="0">
                <a:highlight>
                  <a:srgbClr val="FFFFFF"/>
                </a:highlight>
                <a:latin typeface="+mn-ea"/>
              </a:rPr>
              <a:t>=&gt; 계좌 번호로 계좌를 조회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7D9D66-0C08-9ABC-DE7A-A78F3C515797}"/>
              </a:ext>
            </a:extLst>
          </p:cNvPr>
          <p:cNvSpPr txBox="1"/>
          <p:nvPr/>
        </p:nvSpPr>
        <p:spPr>
          <a:xfrm>
            <a:off x="328245" y="2136338"/>
            <a:ext cx="688304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 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findAccount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8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accountNo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 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 </a:t>
            </a:r>
            <a:r>
              <a:rPr lang="en-US" altLang="ko-KR" sz="18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: </a:t>
            </a:r>
            <a:r>
              <a:rPr lang="en-US" altLang="ko-KR" sz="18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accountList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 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account.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getAccountNo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().</a:t>
            </a:r>
            <a:r>
              <a:rPr lang="en-US" altLang="ko-KR" sz="1800" dirty="0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equals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accountNo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 {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   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 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}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 null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143040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98466-F0DB-B4E8-92D9-B51E966C6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97B2062-DB73-07BC-BEAC-23DF3A3C4DC7}"/>
              </a:ext>
            </a:extLst>
          </p:cNvPr>
          <p:cNvSpPr txBox="1"/>
          <p:nvPr/>
        </p:nvSpPr>
        <p:spPr>
          <a:xfrm>
            <a:off x="328246" y="377952"/>
            <a:ext cx="5043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</a:t>
            </a:r>
            <a:r>
              <a:rPr lang="ko-KR" altLang="en-US" sz="3200" dirty="0"/>
              <a:t>거래 및 입출금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65FE8D-4207-3FD4-A0E3-8D18543B044B}"/>
              </a:ext>
            </a:extLst>
          </p:cNvPr>
          <p:cNvSpPr txBox="1"/>
          <p:nvPr/>
        </p:nvSpPr>
        <p:spPr>
          <a:xfrm>
            <a:off x="468921" y="945115"/>
            <a:ext cx="9038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TransactionBalanceService.java – </a:t>
            </a:r>
            <a:r>
              <a:rPr lang="en-US" altLang="ko-KR" dirty="0" err="1"/>
              <a:t>validateBalance</a:t>
            </a:r>
            <a:r>
              <a:rPr lang="en-US" altLang="ko-KR" dirty="0"/>
              <a:t>() 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C8DA80-CC5B-826D-DF7C-81206913105A}"/>
              </a:ext>
            </a:extLst>
          </p:cNvPr>
          <p:cNvSpPr txBox="1"/>
          <p:nvPr/>
        </p:nvSpPr>
        <p:spPr>
          <a:xfrm>
            <a:off x="4239491" y="4039242"/>
            <a:ext cx="76242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highlight>
                  <a:srgbClr val="FFFFFF"/>
                </a:highlight>
                <a:latin typeface="+mn-ea"/>
              </a:rPr>
              <a:t>계좌(객체)</a:t>
            </a:r>
            <a:r>
              <a:rPr lang="ko-KR" altLang="en-US" dirty="0" err="1">
                <a:highlight>
                  <a:srgbClr val="FFFFFF"/>
                </a:highlight>
                <a:latin typeface="+mn-ea"/>
              </a:rPr>
              <a:t>를</a:t>
            </a:r>
            <a:r>
              <a:rPr lang="ko-KR" altLang="en-US" dirty="0">
                <a:highlight>
                  <a:srgbClr val="FFFFFF"/>
                </a:highlight>
                <a:latin typeface="+mn-ea"/>
              </a:rPr>
              <a:t> 매개변수로 받아 계좌를 잔액이 0보다 작을 경우에 잔액 검증을 해주는 메서드</a:t>
            </a:r>
          </a:p>
          <a:p>
            <a:r>
              <a:rPr lang="ko-KR" altLang="en-US" dirty="0">
                <a:highlight>
                  <a:srgbClr val="FFFFFF"/>
                </a:highlight>
                <a:latin typeface="+mn-ea"/>
              </a:rPr>
              <a:t>=&gt; 잔액 부족하면 거래 중지를 위한 메서드이다</a:t>
            </a:r>
            <a:r>
              <a:rPr lang="en-US" altLang="ko-KR" dirty="0">
                <a:highlight>
                  <a:srgbClr val="FFFFFF"/>
                </a:highlight>
                <a:latin typeface="+mn-ea"/>
              </a:rPr>
              <a:t>.</a:t>
            </a:r>
            <a:endParaRPr lang="ko-KR" altLang="en-US" dirty="0">
              <a:highlight>
                <a:srgbClr val="FFFFFF"/>
              </a:highlight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3A04C7-8D32-A9FE-F10E-48F49A253DE9}"/>
              </a:ext>
            </a:extLst>
          </p:cNvPr>
          <p:cNvSpPr txBox="1"/>
          <p:nvPr/>
        </p:nvSpPr>
        <p:spPr>
          <a:xfrm>
            <a:off x="328246" y="2551837"/>
            <a:ext cx="609426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void 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validateBalance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 </a:t>
            </a:r>
            <a:r>
              <a:rPr lang="en-US" altLang="ko-KR" sz="18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throws 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Exception 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 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8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getBalance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 &lt; </a:t>
            </a:r>
            <a:r>
              <a:rPr lang="en-US" altLang="ko-KR" sz="18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throw new 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Exception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잔액이 부족합니다</a:t>
            </a:r>
            <a:r>
              <a:rPr lang="en-US" altLang="ko-KR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."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057250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D16F2-8DC6-5067-B216-C6B52913E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B987FBC-781D-9D76-9BF0-FB070856D934}"/>
              </a:ext>
            </a:extLst>
          </p:cNvPr>
          <p:cNvSpPr txBox="1"/>
          <p:nvPr/>
        </p:nvSpPr>
        <p:spPr>
          <a:xfrm>
            <a:off x="328246" y="377952"/>
            <a:ext cx="5043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</a:t>
            </a:r>
            <a:r>
              <a:rPr lang="ko-KR" altLang="en-US" sz="3200" dirty="0"/>
              <a:t>거래 및 입출금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7326C6-14F3-1CBE-21F2-9E0D0E99E07F}"/>
              </a:ext>
            </a:extLst>
          </p:cNvPr>
          <p:cNvSpPr txBox="1"/>
          <p:nvPr/>
        </p:nvSpPr>
        <p:spPr>
          <a:xfrm>
            <a:off x="468921" y="945115"/>
            <a:ext cx="9038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TransactionBalanceService.java – </a:t>
            </a:r>
            <a:r>
              <a:rPr lang="en-US" altLang="ko-KR" dirty="0" err="1"/>
              <a:t>recordTransaction</a:t>
            </a:r>
            <a:r>
              <a:rPr lang="en-US" altLang="ko-KR" dirty="0"/>
              <a:t>() 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64B8FE-73EC-5BD7-2BA1-19F97C2ACB54}"/>
              </a:ext>
            </a:extLst>
          </p:cNvPr>
          <p:cNvSpPr txBox="1"/>
          <p:nvPr/>
        </p:nvSpPr>
        <p:spPr>
          <a:xfrm>
            <a:off x="5808518" y="4413314"/>
            <a:ext cx="61775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highlight>
                  <a:srgbClr val="FFFFFF"/>
                </a:highlight>
                <a:latin typeface="+mn-ea"/>
              </a:rPr>
              <a:t>계좌</a:t>
            </a:r>
            <a:r>
              <a:rPr lang="en-US" altLang="ko-KR" dirty="0">
                <a:highlight>
                  <a:srgbClr val="FFFFFF"/>
                </a:highlight>
                <a:latin typeface="+mn-ea"/>
              </a:rPr>
              <a:t>,</a:t>
            </a:r>
            <a:r>
              <a:rPr lang="ko-KR" altLang="en-US" dirty="0">
                <a:highlight>
                  <a:srgbClr val="FFFFFF"/>
                </a:highlight>
                <a:latin typeface="+mn-ea"/>
              </a:rPr>
              <a:t> </a:t>
            </a:r>
            <a:r>
              <a:rPr lang="ko-KR" altLang="en-US" dirty="0" err="1">
                <a:highlight>
                  <a:srgbClr val="FFFFFF"/>
                </a:highlight>
                <a:latin typeface="+mn-ea"/>
              </a:rPr>
              <a:t>type</a:t>
            </a:r>
            <a:r>
              <a:rPr lang="ko-KR" altLang="en-US" dirty="0">
                <a:highlight>
                  <a:srgbClr val="FFFFFF"/>
                </a:highlight>
                <a:latin typeface="+mn-ea"/>
              </a:rPr>
              <a:t>(입/출금/이체정보) , 거래량을 가지고 새로운 거래정보 객체를 만들어서 계좌 객체 안에 있는 거래 내역에 추가한다.</a:t>
            </a:r>
          </a:p>
          <a:p>
            <a:endParaRPr lang="ko-KR" altLang="en-US" dirty="0">
              <a:highlight>
                <a:srgbClr val="FFFFFF"/>
              </a:highlight>
              <a:latin typeface="+mn-ea"/>
            </a:endParaRPr>
          </a:p>
          <a:p>
            <a:r>
              <a:rPr lang="ko-KR" altLang="en-US" dirty="0">
                <a:highlight>
                  <a:srgbClr val="FFFFFF"/>
                </a:highlight>
                <a:latin typeface="+mn-ea"/>
              </a:rPr>
              <a:t>=&gt; 요약 :  계좌 정보를 계좌 내부의 거래 내역에 추가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2E4391-3642-D4DA-0930-18898BA49842}"/>
              </a:ext>
            </a:extLst>
          </p:cNvPr>
          <p:cNvSpPr txBox="1"/>
          <p:nvPr/>
        </p:nvSpPr>
        <p:spPr>
          <a:xfrm>
            <a:off x="468921" y="1859339"/>
            <a:ext cx="895563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private void 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recordTransaction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 </a:t>
            </a:r>
            <a:r>
              <a:rPr lang="en-US" altLang="ko-KR" sz="18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8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type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long </a:t>
            </a:r>
            <a:r>
              <a:rPr lang="en-US" altLang="ko-KR" sz="18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TransactionLog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8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transactionLog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new </a:t>
            </a:r>
            <a:r>
              <a:rPr lang="en-US" altLang="ko-KR" sz="18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TransactionLog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    </a:t>
            </a:r>
            <a:r>
              <a:rPr lang="en-US" altLang="ko-KR" sz="18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8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getAccountNo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(),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    </a:t>
            </a:r>
            <a:r>
              <a:rPr lang="en-US" altLang="ko-KR" sz="18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type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    </a:t>
            </a:r>
            <a:r>
              <a:rPr lang="en-US" altLang="ko-KR" sz="18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    </a:t>
            </a:r>
            <a:r>
              <a:rPr lang="en-US" altLang="ko-KR" sz="18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8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getBalance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);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8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addTransactionLog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transactionLog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849847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07722-01A6-4D17-A19D-CCE2134B3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94213EE-43F8-E0ED-D6D4-508A90A264F3}"/>
              </a:ext>
            </a:extLst>
          </p:cNvPr>
          <p:cNvSpPr txBox="1"/>
          <p:nvPr/>
        </p:nvSpPr>
        <p:spPr>
          <a:xfrm>
            <a:off x="328246" y="377952"/>
            <a:ext cx="5043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</a:t>
            </a:r>
            <a:r>
              <a:rPr lang="ko-KR" altLang="en-US" sz="3200" dirty="0"/>
              <a:t>거래 및 입출금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ED5C2D-54F8-A0F0-9CCA-FB6C50C28653}"/>
              </a:ext>
            </a:extLst>
          </p:cNvPr>
          <p:cNvSpPr txBox="1"/>
          <p:nvPr/>
        </p:nvSpPr>
        <p:spPr>
          <a:xfrm>
            <a:off x="468921" y="945115"/>
            <a:ext cx="9038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TransactionBalanceService.java – </a:t>
            </a:r>
            <a:r>
              <a:rPr lang="en-US" altLang="ko-KR" dirty="0" err="1"/>
              <a:t>formatTransactionType</a:t>
            </a:r>
            <a:r>
              <a:rPr lang="en-US" altLang="ko-KR" dirty="0"/>
              <a:t>() 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AC2138-39D1-0B6E-EE78-18DC75400968}"/>
              </a:ext>
            </a:extLst>
          </p:cNvPr>
          <p:cNvSpPr txBox="1"/>
          <p:nvPr/>
        </p:nvSpPr>
        <p:spPr>
          <a:xfrm>
            <a:off x="6868391" y="2413337"/>
            <a:ext cx="477475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highlight>
                  <a:srgbClr val="FFFFFF"/>
                </a:highlight>
                <a:latin typeface="+mn-ea"/>
              </a:rPr>
              <a:t>거래 종류(</a:t>
            </a:r>
            <a:r>
              <a:rPr lang="ko-KR" altLang="en-US" dirty="0" err="1">
                <a:highlight>
                  <a:srgbClr val="FFFFFF"/>
                </a:highlight>
                <a:latin typeface="+mn-ea"/>
              </a:rPr>
              <a:t>type</a:t>
            </a:r>
            <a:r>
              <a:rPr lang="ko-KR" altLang="en-US" dirty="0">
                <a:highlight>
                  <a:srgbClr val="FFFFFF"/>
                </a:highlight>
                <a:latin typeface="+mn-ea"/>
              </a:rPr>
              <a:t>)</a:t>
            </a:r>
            <a:r>
              <a:rPr lang="ko-KR" altLang="en-US" dirty="0" err="1">
                <a:highlight>
                  <a:srgbClr val="FFFFFF"/>
                </a:highlight>
                <a:latin typeface="+mn-ea"/>
              </a:rPr>
              <a:t>를</a:t>
            </a:r>
            <a:r>
              <a:rPr lang="ko-KR" altLang="en-US" dirty="0">
                <a:highlight>
                  <a:srgbClr val="FFFFFF"/>
                </a:highlight>
                <a:latin typeface="+mn-ea"/>
              </a:rPr>
              <a:t> 매개변수로 받아서</a:t>
            </a:r>
          </a:p>
          <a:p>
            <a:r>
              <a:rPr lang="ko-KR" altLang="en-US" dirty="0">
                <a:highlight>
                  <a:srgbClr val="FFFFFF"/>
                </a:highlight>
                <a:latin typeface="+mn-ea"/>
              </a:rPr>
              <a:t> </a:t>
            </a:r>
          </a:p>
          <a:p>
            <a:r>
              <a:rPr lang="ko-KR" altLang="en-US" dirty="0">
                <a:highlight>
                  <a:srgbClr val="FFFFFF"/>
                </a:highlight>
                <a:latin typeface="+mn-ea"/>
              </a:rPr>
              <a:t>거래 종류에 맞는 각각의 사용자가 알아보기 쉬운 문자열로 반환해주는 메서드이다</a:t>
            </a:r>
            <a:r>
              <a:rPr lang="en-US" altLang="ko-KR" dirty="0">
                <a:highlight>
                  <a:srgbClr val="FFFFFF"/>
                </a:highlight>
                <a:latin typeface="+mn-ea"/>
              </a:rPr>
              <a:t>.</a:t>
            </a:r>
            <a:endParaRPr lang="ko-KR" altLang="en-US" dirty="0">
              <a:highlight>
                <a:srgbClr val="FFFFFF"/>
              </a:highlight>
              <a:latin typeface="+mn-ea"/>
            </a:endParaRPr>
          </a:p>
          <a:p>
            <a:endParaRPr lang="ko-KR" altLang="en-US" dirty="0">
              <a:highlight>
                <a:srgbClr val="FFFFFF"/>
              </a:highlight>
              <a:latin typeface="+mn-ea"/>
            </a:endParaRPr>
          </a:p>
          <a:p>
            <a:r>
              <a:rPr lang="ko-KR" altLang="en-US" dirty="0">
                <a:highlight>
                  <a:srgbClr val="FFFFFF"/>
                </a:highlight>
                <a:latin typeface="+mn-ea"/>
              </a:rPr>
              <a:t>=&gt; 거래종류(</a:t>
            </a:r>
            <a:r>
              <a:rPr lang="ko-KR" altLang="en-US" dirty="0" err="1">
                <a:highlight>
                  <a:srgbClr val="FFFFFF"/>
                </a:highlight>
                <a:latin typeface="+mn-ea"/>
              </a:rPr>
              <a:t>type</a:t>
            </a:r>
            <a:r>
              <a:rPr lang="ko-KR" altLang="en-US" dirty="0">
                <a:highlight>
                  <a:srgbClr val="FFFFFF"/>
                </a:highlight>
                <a:latin typeface="+mn-ea"/>
              </a:rPr>
              <a:t>) 로그를 작성할 때 사용, 지금은 </a:t>
            </a:r>
            <a:r>
              <a:rPr lang="ko-KR" altLang="en-US" dirty="0" err="1">
                <a:highlight>
                  <a:srgbClr val="FFFFFF"/>
                </a:highlight>
                <a:latin typeface="+mn-ea"/>
              </a:rPr>
              <a:t>public으로</a:t>
            </a:r>
            <a:r>
              <a:rPr lang="ko-KR" altLang="en-US" dirty="0">
                <a:highlight>
                  <a:srgbClr val="FFFFFF"/>
                </a:highlight>
                <a:latin typeface="+mn-ea"/>
              </a:rPr>
              <a:t> 만들어졌지만 </a:t>
            </a:r>
            <a:r>
              <a:rPr lang="ko-KR" altLang="en-US" dirty="0" err="1">
                <a:highlight>
                  <a:srgbClr val="FFFFFF"/>
                </a:highlight>
                <a:latin typeface="+mn-ea"/>
              </a:rPr>
              <a:t>private</a:t>
            </a:r>
            <a:r>
              <a:rPr lang="ko-KR" altLang="en-US" dirty="0">
                <a:highlight>
                  <a:srgbClr val="FFFFFF"/>
                </a:highlight>
                <a:latin typeface="+mn-ea"/>
              </a:rPr>
              <a:t> </a:t>
            </a:r>
            <a:r>
              <a:rPr lang="ko-KR" altLang="en-US" dirty="0" err="1">
                <a:highlight>
                  <a:srgbClr val="FFFFFF"/>
                </a:highlight>
                <a:latin typeface="+mn-ea"/>
              </a:rPr>
              <a:t>으로</a:t>
            </a:r>
            <a:r>
              <a:rPr lang="ko-KR" altLang="en-US" dirty="0">
                <a:highlight>
                  <a:srgbClr val="FFFFFF"/>
                </a:highlight>
                <a:latin typeface="+mn-ea"/>
              </a:rPr>
              <a:t> 바꿔도 무관하다.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C9D61D-0E29-1322-0BF6-91E39A8E2C15}"/>
              </a:ext>
            </a:extLst>
          </p:cNvPr>
          <p:cNvSpPr txBox="1"/>
          <p:nvPr/>
        </p:nvSpPr>
        <p:spPr>
          <a:xfrm>
            <a:off x="468921" y="1582340"/>
            <a:ext cx="639947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formatTransactionType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8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type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 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type</a:t>
            </a:r>
            <a:r>
              <a:rPr lang="en-US" altLang="ko-KR" sz="18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equals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800" dirty="0" err="1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recordDeposit</a:t>
            </a:r>
            <a:r>
              <a:rPr lang="en-US" altLang="ko-KR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 {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 </a:t>
            </a:r>
            <a:r>
              <a:rPr lang="en-US" altLang="ko-KR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입금</a:t>
            </a:r>
            <a:r>
              <a:rPr lang="en-US" altLang="ko-KR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}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else if 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type</a:t>
            </a:r>
            <a:r>
              <a:rPr lang="en-US" altLang="ko-KR" sz="18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equals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800" dirty="0" err="1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recordWithdraw</a:t>
            </a:r>
            <a:r>
              <a:rPr lang="en-US" altLang="ko-KR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 {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 </a:t>
            </a:r>
            <a:r>
              <a:rPr lang="en-US" altLang="ko-KR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출금</a:t>
            </a:r>
            <a:r>
              <a:rPr lang="en-US" altLang="ko-KR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}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else if 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type</a:t>
            </a:r>
            <a:r>
              <a:rPr lang="en-US" altLang="ko-KR" sz="18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equals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800" dirty="0" err="1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recordTransferPlus</a:t>
            </a:r>
            <a:r>
              <a:rPr lang="en-US" altLang="ko-KR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 {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 </a:t>
            </a:r>
            <a:r>
              <a:rPr lang="en-US" altLang="ko-KR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800" dirty="0" err="1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이체받음</a:t>
            </a:r>
            <a:r>
              <a:rPr lang="en-US" altLang="ko-KR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}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else if 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type</a:t>
            </a:r>
            <a:r>
              <a:rPr lang="en-US" altLang="ko-KR" sz="18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equals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800" dirty="0" err="1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recordTransferMinus</a:t>
            </a:r>
            <a:r>
              <a:rPr lang="en-US" altLang="ko-KR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 {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 </a:t>
            </a:r>
            <a:r>
              <a:rPr lang="en-US" altLang="ko-KR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800" dirty="0" err="1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이체보냄</a:t>
            </a:r>
            <a:r>
              <a:rPr lang="en-US" altLang="ko-KR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 </a:t>
            </a:r>
            <a:r>
              <a:rPr lang="en-US" altLang="ko-KR" sz="18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type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035516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671F5-98F3-E8B5-4773-EC8D8F37C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5A75055-23B7-4D7A-2E2A-5E508F2DD109}"/>
              </a:ext>
            </a:extLst>
          </p:cNvPr>
          <p:cNvSpPr txBox="1"/>
          <p:nvPr/>
        </p:nvSpPr>
        <p:spPr>
          <a:xfrm>
            <a:off x="328246" y="377952"/>
            <a:ext cx="5043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</a:t>
            </a:r>
            <a:r>
              <a:rPr lang="ko-KR" altLang="en-US" sz="3200" dirty="0"/>
              <a:t>거래 및 입출금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E42BDB-B6B6-722D-6653-1B9385C3ED8F}"/>
              </a:ext>
            </a:extLst>
          </p:cNvPr>
          <p:cNvSpPr txBox="1"/>
          <p:nvPr/>
        </p:nvSpPr>
        <p:spPr>
          <a:xfrm>
            <a:off x="468921" y="945115"/>
            <a:ext cx="9038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TransactionBalanceService.java – </a:t>
            </a:r>
            <a:r>
              <a:rPr lang="en-US" altLang="ko-KR" dirty="0" err="1"/>
              <a:t>formatHistory</a:t>
            </a:r>
            <a:r>
              <a:rPr lang="en-US" altLang="ko-KR" dirty="0"/>
              <a:t>() 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9609D5-AD12-21FC-2994-0E9350AF807B}"/>
              </a:ext>
            </a:extLst>
          </p:cNvPr>
          <p:cNvSpPr txBox="1"/>
          <p:nvPr/>
        </p:nvSpPr>
        <p:spPr>
          <a:xfrm>
            <a:off x="6439700" y="4171724"/>
            <a:ext cx="54240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n-ea"/>
              </a:rPr>
              <a:t>계좌 거래 기록을 가지고 거래종류(</a:t>
            </a:r>
            <a:r>
              <a:rPr lang="ko-KR" altLang="en-US" dirty="0" err="1">
                <a:latin typeface="+mn-ea"/>
              </a:rPr>
              <a:t>type</a:t>
            </a:r>
            <a:r>
              <a:rPr lang="ko-KR" altLang="en-US" dirty="0">
                <a:latin typeface="+mn-ea"/>
              </a:rPr>
              <a:t>)</a:t>
            </a:r>
            <a:r>
              <a:rPr lang="ko-KR" altLang="en-US" dirty="0" err="1">
                <a:latin typeface="+mn-ea"/>
              </a:rPr>
              <a:t>에</a:t>
            </a:r>
            <a:r>
              <a:rPr lang="ko-KR" altLang="en-US" dirty="0">
                <a:latin typeface="+mn-ea"/>
              </a:rPr>
              <a:t> 따라 </a:t>
            </a:r>
          </a:p>
          <a:p>
            <a:r>
              <a:rPr lang="ko-KR" altLang="en-US" dirty="0">
                <a:latin typeface="+mn-ea"/>
              </a:rPr>
              <a:t>사용자가 알아보기 쉽게 거래 기록을 만들어주는 메서드</a:t>
            </a:r>
          </a:p>
          <a:p>
            <a:endParaRPr lang="ko-KR" altLang="en-US" dirty="0">
              <a:latin typeface="+mn-ea"/>
            </a:endParaRPr>
          </a:p>
          <a:p>
            <a:r>
              <a:rPr lang="ko-KR" altLang="en-US" dirty="0">
                <a:latin typeface="+mn-ea"/>
              </a:rPr>
              <a:t>=&gt; 요약 :  계좌 기록(객체)</a:t>
            </a:r>
            <a:r>
              <a:rPr lang="ko-KR" altLang="en-US" dirty="0" err="1">
                <a:latin typeface="+mn-ea"/>
              </a:rPr>
              <a:t>를</a:t>
            </a:r>
            <a:r>
              <a:rPr lang="ko-KR" altLang="en-US" dirty="0">
                <a:latin typeface="+mn-ea"/>
              </a:rPr>
              <a:t> 사용자가 편의성을 위해 계좌 기록 (문자열)로 만듦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491E7B-3A7C-DB9C-9ACA-67469B0812BD}"/>
              </a:ext>
            </a:extLst>
          </p:cNvPr>
          <p:cNvSpPr txBox="1"/>
          <p:nvPr/>
        </p:nvSpPr>
        <p:spPr>
          <a:xfrm>
            <a:off x="328245" y="1659285"/>
            <a:ext cx="10935499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formatHistory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TransactionLog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transactionLog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amountPrefix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    (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transactionLog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getTransactionType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().</a:t>
            </a:r>
            <a:r>
              <a:rPr lang="en-US" altLang="ko-KR" sz="1600" dirty="0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equals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600" dirty="0" err="1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recordWithdraw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            ||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transactionLog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getTransactionType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().</a:t>
            </a:r>
            <a:r>
              <a:rPr lang="en-US" altLang="ko-KR" sz="1600" dirty="0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equals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600" dirty="0" err="1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recordTransferMinus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 ? 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"-"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"+"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transactionLog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getTimestamp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().</a:t>
            </a:r>
            <a:r>
              <a:rPr lang="en-US" altLang="ko-KR" sz="1600" dirty="0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format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HISTORY_TIME_FORMAT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    + 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 | "</a:t>
            </a:r>
            <a:b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   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+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formatTransactionType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transactionLog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getTransactionType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())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    + 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 | "</a:t>
            </a:r>
            <a:b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   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+ 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amountPrefix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+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transactionLog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getAmount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    + 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 | </a:t>
            </a:r>
            <a:r>
              <a:rPr lang="ko-KR" altLang="en-US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잔액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"</a:t>
            </a:r>
            <a:b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   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+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transactionLog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getBalanceAfter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606055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A3922-5460-D0D2-9FA9-33268A108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EAF0BFB-8394-632B-A4EF-D8CCC60AF0A2}"/>
              </a:ext>
            </a:extLst>
          </p:cNvPr>
          <p:cNvSpPr txBox="1"/>
          <p:nvPr/>
        </p:nvSpPr>
        <p:spPr>
          <a:xfrm>
            <a:off x="328246" y="377952"/>
            <a:ext cx="5043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</a:t>
            </a:r>
            <a:r>
              <a:rPr lang="ko-KR" altLang="en-US" sz="3200" dirty="0"/>
              <a:t>거래 및 입출금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044E89-FF57-2D41-9193-57CC327506FE}"/>
              </a:ext>
            </a:extLst>
          </p:cNvPr>
          <p:cNvSpPr txBox="1"/>
          <p:nvPr/>
        </p:nvSpPr>
        <p:spPr>
          <a:xfrm>
            <a:off x="468921" y="945115"/>
            <a:ext cx="9038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TransactionBalanceService.java – deposit() 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7B7CE4-C80E-F7F2-7866-283E89E39140}"/>
              </a:ext>
            </a:extLst>
          </p:cNvPr>
          <p:cNvSpPr txBox="1"/>
          <p:nvPr/>
        </p:nvSpPr>
        <p:spPr>
          <a:xfrm>
            <a:off x="5756564" y="4466906"/>
            <a:ext cx="66107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highlight>
                  <a:srgbClr val="FFFFFF"/>
                </a:highlight>
                <a:latin typeface="+mn-ea"/>
              </a:rPr>
              <a:t>계좌번호, 그리고 거래금액을 가져와 1000 원 이상 단위인지 확인하고 </a:t>
            </a:r>
          </a:p>
          <a:p>
            <a:r>
              <a:rPr lang="ko-KR" altLang="en-US" dirty="0" err="1">
                <a:highlight>
                  <a:srgbClr val="FFFFFF"/>
                </a:highlight>
                <a:latin typeface="+mn-ea"/>
              </a:rPr>
              <a:t>Atm</a:t>
            </a:r>
            <a:r>
              <a:rPr lang="ko-KR" altLang="en-US" dirty="0">
                <a:highlight>
                  <a:srgbClr val="FFFFFF"/>
                </a:highlight>
                <a:latin typeface="+mn-ea"/>
              </a:rPr>
              <a:t> 기계 잔액, 계좌 잔액을 증가시킨 뒤 해당 기록을 저장하는 메서드이다</a:t>
            </a:r>
            <a:r>
              <a:rPr lang="en-US" altLang="ko-KR" dirty="0">
                <a:highlight>
                  <a:srgbClr val="FFFFFF"/>
                </a:highlight>
                <a:latin typeface="+mn-ea"/>
              </a:rPr>
              <a:t>.</a:t>
            </a:r>
            <a:endParaRPr lang="ko-KR" altLang="en-US" dirty="0">
              <a:highlight>
                <a:srgbClr val="FFFFFF"/>
              </a:highlight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D4FCE2-CD28-B09C-C36C-B8DFFCAA7ECF}"/>
              </a:ext>
            </a:extLst>
          </p:cNvPr>
          <p:cNvSpPr txBox="1"/>
          <p:nvPr/>
        </p:nvSpPr>
        <p:spPr>
          <a:xfrm>
            <a:off x="468921" y="1859339"/>
            <a:ext cx="722035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@Override</a:t>
            </a:r>
            <a:b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void </a:t>
            </a:r>
            <a:r>
              <a:rPr lang="en-US" altLang="ko-KR" sz="1800" dirty="0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deposit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8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accountNo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long </a:t>
            </a:r>
            <a:r>
              <a:rPr lang="en-US" altLang="ko-KR" sz="18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 </a:t>
            </a:r>
            <a:r>
              <a:rPr lang="en-US" altLang="ko-KR" sz="18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findAccount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accountNo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 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 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% </a:t>
            </a:r>
            <a:r>
              <a:rPr lang="en-US" altLang="ko-KR" sz="18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1000 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== </a:t>
            </a:r>
            <a:r>
              <a:rPr lang="en-US" altLang="ko-KR" sz="18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8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account.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setBalance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account.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getBalance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 + </a:t>
            </a:r>
            <a:r>
              <a:rPr lang="en-US" altLang="ko-KR" sz="18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8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atmMachine</a:t>
            </a:r>
            <a:r>
              <a:rPr lang="en-US" altLang="ko-KR" sz="18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addCash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recordTransaction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(account, </a:t>
            </a:r>
            <a:r>
              <a:rPr lang="en-US" altLang="ko-KR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800" dirty="0" err="1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recordDeposit</a:t>
            </a:r>
            <a:r>
              <a:rPr lang="en-US" altLang="ko-KR" sz="18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8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8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sz="18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saveAccounts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accountList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8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sz="18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saveAtmMachine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atmMachine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486673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3684F-6938-B2D0-7921-FD86C9497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64014AB-0CFE-31C9-57E5-CD7DD270D734}"/>
              </a:ext>
            </a:extLst>
          </p:cNvPr>
          <p:cNvSpPr txBox="1"/>
          <p:nvPr/>
        </p:nvSpPr>
        <p:spPr>
          <a:xfrm>
            <a:off x="328246" y="377952"/>
            <a:ext cx="5043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</a:t>
            </a:r>
            <a:r>
              <a:rPr lang="ko-KR" altLang="en-US" sz="3200" dirty="0"/>
              <a:t>거래 및 입출금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9D15C0-65CC-FA70-6140-4A47FFD3F3C0}"/>
              </a:ext>
            </a:extLst>
          </p:cNvPr>
          <p:cNvSpPr txBox="1"/>
          <p:nvPr/>
        </p:nvSpPr>
        <p:spPr>
          <a:xfrm>
            <a:off x="468921" y="945115"/>
            <a:ext cx="9038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TransactionBalanceService.java – withdraw() 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9CD612-6D7C-A914-B095-E3BB1D15289D}"/>
              </a:ext>
            </a:extLst>
          </p:cNvPr>
          <p:cNvSpPr txBox="1"/>
          <p:nvPr/>
        </p:nvSpPr>
        <p:spPr>
          <a:xfrm>
            <a:off x="6764482" y="4158559"/>
            <a:ext cx="477475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n-ea"/>
              </a:rPr>
              <a:t>계좌번호, 그리고 거래금액을 가져와서 메서드를 호출한 쪽으로 예외를 넘기고 10000원 이상의 단위 출금인지 확인한</a:t>
            </a:r>
            <a:r>
              <a:rPr lang="en-US" altLang="ko-KR" dirty="0">
                <a:latin typeface="+mn-ea"/>
              </a:rPr>
              <a:t> </a:t>
            </a:r>
            <a:r>
              <a:rPr lang="ko-KR" altLang="en-US" dirty="0">
                <a:latin typeface="+mn-ea"/>
              </a:rPr>
              <a:t>뒤 유효한 계좌인지 검증(</a:t>
            </a:r>
            <a:r>
              <a:rPr lang="ko-KR" altLang="en-US" dirty="0" err="1">
                <a:latin typeface="+mn-ea"/>
              </a:rPr>
              <a:t>출금액</a:t>
            </a:r>
            <a:r>
              <a:rPr lang="ko-KR" altLang="en-US" dirty="0">
                <a:latin typeface="+mn-ea"/>
              </a:rPr>
              <a:t> 보다 잔액이 </a:t>
            </a:r>
            <a:r>
              <a:rPr lang="ko-KR" altLang="en-US" dirty="0" err="1">
                <a:latin typeface="+mn-ea"/>
              </a:rPr>
              <a:t>많은지</a:t>
            </a:r>
            <a:r>
              <a:rPr lang="ko-KR" altLang="en-US" dirty="0">
                <a:latin typeface="+mn-ea"/>
              </a:rPr>
              <a:t> 확인) 후 </a:t>
            </a:r>
            <a:r>
              <a:rPr lang="ko-KR" altLang="en-US" dirty="0" err="1">
                <a:latin typeface="+mn-ea"/>
              </a:rPr>
              <a:t>Atm</a:t>
            </a:r>
            <a:r>
              <a:rPr lang="ko-KR" altLang="en-US" dirty="0">
                <a:latin typeface="+mn-ea"/>
              </a:rPr>
              <a:t> 기계 잔액, 계좌 잔액 감소</a:t>
            </a:r>
          </a:p>
          <a:p>
            <a:endParaRPr lang="ko-KR" altLang="en-US" dirty="0">
              <a:latin typeface="+mn-ea"/>
            </a:endParaRPr>
          </a:p>
          <a:p>
            <a:r>
              <a:rPr lang="ko-KR" altLang="en-US" dirty="0">
                <a:latin typeface="+mn-ea"/>
              </a:rPr>
              <a:t>거래기록을 남기고, 저장하는 메서드이다</a:t>
            </a:r>
            <a:r>
              <a:rPr lang="en-US" altLang="ko-KR" dirty="0">
                <a:latin typeface="+mn-ea"/>
              </a:rPr>
              <a:t>.</a:t>
            </a:r>
            <a:endParaRPr lang="ko-KR" altLang="en-US" dirty="0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1497D9-EF81-B698-944C-56B1BC6C2661}"/>
              </a:ext>
            </a:extLst>
          </p:cNvPr>
          <p:cNvSpPr txBox="1"/>
          <p:nvPr/>
        </p:nvSpPr>
        <p:spPr>
          <a:xfrm>
            <a:off x="468921" y="1529890"/>
            <a:ext cx="717878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@Override</a:t>
            </a:r>
            <a:br>
              <a:rPr lang="en-US" altLang="ko-KR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void </a:t>
            </a:r>
            <a:r>
              <a:rPr lang="en-US" altLang="ko-KR" dirty="0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withdraw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accountNo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long </a:t>
            </a:r>
            <a:r>
              <a:rPr lang="en-US" altLang="ko-KR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en-US" altLang="ko-KR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throws </a:t>
            </a:r>
            <a:r>
              <a:rPr lang="en-US" altLang="ko-KR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Exception 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b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 </a:t>
            </a:r>
            <a:r>
              <a:rPr lang="en-US" altLang="ko-KR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findAccount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accountNo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 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 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% </a:t>
            </a:r>
            <a:r>
              <a:rPr lang="en-US" altLang="ko-KR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10000 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== </a:t>
            </a:r>
            <a:r>
              <a:rPr lang="en-US" altLang="ko-KR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account.</a:t>
            </a:r>
            <a:r>
              <a:rPr lang="en-US" altLang="ko-KR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setBalance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account.</a:t>
            </a:r>
            <a:r>
              <a:rPr lang="en-US" altLang="ko-KR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getBalance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 - </a:t>
            </a:r>
            <a:r>
              <a:rPr lang="en-US" altLang="ko-KR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validateBalance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(account);</a:t>
            </a:r>
            <a:b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atmMachine</a:t>
            </a:r>
            <a:r>
              <a:rPr lang="en-US" altLang="ko-KR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withdrawCash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recordTransaction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(account, </a:t>
            </a:r>
            <a:r>
              <a:rPr lang="en-US" altLang="ko-KR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dirty="0" err="1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recordWithdraw</a:t>
            </a:r>
            <a:r>
              <a:rPr lang="en-US" altLang="ko-KR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saveAccounts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accountList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saveAtmMachine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atmMachine</a:t>
            </a: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  <a:b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79087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F6D76-0D52-3D7F-FF78-776E3DD2C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236A097-6B22-9706-F84C-B3CC09AFEA48}"/>
              </a:ext>
            </a:extLst>
          </p:cNvPr>
          <p:cNvSpPr txBox="1"/>
          <p:nvPr/>
        </p:nvSpPr>
        <p:spPr>
          <a:xfrm>
            <a:off x="328246" y="377952"/>
            <a:ext cx="5043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</a:t>
            </a:r>
            <a:r>
              <a:rPr lang="ko-KR" altLang="en-US" sz="3200" dirty="0"/>
              <a:t>거래 및 입출금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C4E707-ECFC-13C5-37EF-2D50426DE0DE}"/>
              </a:ext>
            </a:extLst>
          </p:cNvPr>
          <p:cNvSpPr txBox="1"/>
          <p:nvPr/>
        </p:nvSpPr>
        <p:spPr>
          <a:xfrm>
            <a:off x="468921" y="945115"/>
            <a:ext cx="9038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TransactionBalanceService.java – transfer() 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4EABE4-4D36-3D8A-159E-DB0D962AC107}"/>
              </a:ext>
            </a:extLst>
          </p:cNvPr>
          <p:cNvSpPr txBox="1"/>
          <p:nvPr/>
        </p:nvSpPr>
        <p:spPr>
          <a:xfrm>
            <a:off x="7200900" y="3444389"/>
            <a:ext cx="477475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n-ea"/>
              </a:rPr>
              <a:t>계좌 이체 보낼 계좌번호, 받을 계좌번호 그리고 거래금액을 가져와서 메서드를 호출한 쪽으로 예외를 넘기고,</a:t>
            </a:r>
          </a:p>
          <a:p>
            <a:r>
              <a:rPr lang="ko-KR" altLang="en-US" dirty="0">
                <a:latin typeface="+mn-ea"/>
              </a:rPr>
              <a:t>계좌 번호로 계좌를 찾아 유효한 계좌인지 검증( 보낸 금액 보다 잔액이 </a:t>
            </a:r>
            <a:r>
              <a:rPr lang="ko-KR" altLang="en-US" dirty="0" err="1">
                <a:latin typeface="+mn-ea"/>
              </a:rPr>
              <a:t>많은지</a:t>
            </a:r>
            <a:r>
              <a:rPr lang="ko-KR" altLang="en-US" dirty="0">
                <a:latin typeface="+mn-ea"/>
              </a:rPr>
              <a:t> 확인)</a:t>
            </a:r>
          </a:p>
          <a:p>
            <a:endParaRPr lang="ko-KR" altLang="en-US" dirty="0">
              <a:latin typeface="+mn-ea"/>
            </a:endParaRPr>
          </a:p>
          <a:p>
            <a:r>
              <a:rPr lang="ko-KR" altLang="en-US" dirty="0">
                <a:latin typeface="+mn-ea"/>
              </a:rPr>
              <a:t>거래기록을 남기고, 저장하는 메서드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73A94E-50B0-148B-8C0A-D2BE9C286AB2}"/>
              </a:ext>
            </a:extLst>
          </p:cNvPr>
          <p:cNvSpPr txBox="1"/>
          <p:nvPr/>
        </p:nvSpPr>
        <p:spPr>
          <a:xfrm>
            <a:off x="328246" y="1659285"/>
            <a:ext cx="7132427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@Override</a:t>
            </a:r>
            <a:b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void </a:t>
            </a:r>
            <a:r>
              <a:rPr lang="en-US" altLang="ko-KR" sz="1600" dirty="0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transfer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fromAccountNo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toAccountNo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long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throws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Exception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 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fromAccount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findAccount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fromAccountNo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 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findAccount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toAccountNo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fromAccount.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setBalance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fromAccount.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getBalance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 -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validateBalance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fromAccount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toAccount.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setBalance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toAccount.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getBalance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 +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recordTransaction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fromAccount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600" dirty="0" err="1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recordTransferMinus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recordTransaction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600" dirty="0" err="1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recordTransferPlus</a:t>
            </a:r>
            <a:r>
              <a:rPr lang="en-US" altLang="ko-KR" sz="1600" dirty="0">
                <a:solidFill>
                  <a:srgbClr val="89CA78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saveAccounts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accountList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233743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F67A4-8DD9-EB27-A778-C14C4F0CC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C8B0EF9-AD54-7E3F-B252-442833A07ACA}"/>
              </a:ext>
            </a:extLst>
          </p:cNvPr>
          <p:cNvSpPr txBox="1"/>
          <p:nvPr/>
        </p:nvSpPr>
        <p:spPr>
          <a:xfrm>
            <a:off x="328246" y="377952"/>
            <a:ext cx="5043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</a:t>
            </a:r>
            <a:r>
              <a:rPr lang="ko-KR" altLang="en-US" sz="3200" dirty="0"/>
              <a:t>거래 및 입출금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199092-9616-F7B5-0DA1-58E080DE4B9C}"/>
              </a:ext>
            </a:extLst>
          </p:cNvPr>
          <p:cNvSpPr txBox="1"/>
          <p:nvPr/>
        </p:nvSpPr>
        <p:spPr>
          <a:xfrm>
            <a:off x="468921" y="945115"/>
            <a:ext cx="9038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TransactionBalanceService.java – </a:t>
            </a:r>
            <a:r>
              <a:rPr lang="en-US" altLang="ko-KR" dirty="0" err="1"/>
              <a:t>recordTransaction</a:t>
            </a:r>
            <a:r>
              <a:rPr lang="en-US" altLang="ko-KR" dirty="0"/>
              <a:t>() 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834C72-8D12-77EA-187B-EDEF51471210}"/>
              </a:ext>
            </a:extLst>
          </p:cNvPr>
          <p:cNvSpPr txBox="1"/>
          <p:nvPr/>
        </p:nvSpPr>
        <p:spPr>
          <a:xfrm>
            <a:off x="6889174" y="2773564"/>
            <a:ext cx="437099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highlight>
                  <a:srgbClr val="FFFFFF"/>
                </a:highlight>
                <a:latin typeface="+mn-ea"/>
              </a:rPr>
              <a:t>계좌번호와, 거래량, 거래종류(입/출금/계좌이체)</a:t>
            </a:r>
            <a:r>
              <a:rPr lang="ko-KR" altLang="en-US" dirty="0" err="1">
                <a:highlight>
                  <a:srgbClr val="FFFFFF"/>
                </a:highlight>
                <a:latin typeface="+mn-ea"/>
              </a:rPr>
              <a:t>를</a:t>
            </a:r>
            <a:r>
              <a:rPr lang="ko-KR" altLang="en-US" dirty="0">
                <a:highlight>
                  <a:srgbClr val="FFFFFF"/>
                </a:highlight>
                <a:latin typeface="+mn-ea"/>
              </a:rPr>
              <a:t> 가져와서 거래 기록을 남긴다. </a:t>
            </a:r>
          </a:p>
          <a:p>
            <a:endParaRPr lang="ko-KR" altLang="en-US" dirty="0">
              <a:highlight>
                <a:srgbClr val="FFFFFF"/>
              </a:highlight>
              <a:latin typeface="+mn-ea"/>
            </a:endParaRPr>
          </a:p>
          <a:p>
            <a:r>
              <a:rPr lang="ko-KR" altLang="en-US" dirty="0" err="1">
                <a:highlight>
                  <a:srgbClr val="FFFFFF"/>
                </a:highlight>
                <a:latin typeface="+mn-ea"/>
              </a:rPr>
              <a:t>Type</a:t>
            </a:r>
            <a:r>
              <a:rPr lang="ko-KR" altLang="en-US" dirty="0">
                <a:highlight>
                  <a:srgbClr val="FFFFFF"/>
                </a:highlight>
                <a:latin typeface="+mn-ea"/>
              </a:rPr>
              <a:t> </a:t>
            </a:r>
            <a:r>
              <a:rPr lang="ko-KR" altLang="en-US" dirty="0" err="1">
                <a:highlight>
                  <a:srgbClr val="FFFFFF"/>
                </a:highlight>
                <a:latin typeface="+mn-ea"/>
              </a:rPr>
              <a:t>으로는</a:t>
            </a:r>
            <a:r>
              <a:rPr lang="ko-KR" altLang="en-US" dirty="0">
                <a:highlight>
                  <a:srgbClr val="FFFFFF"/>
                </a:highlight>
                <a:latin typeface="+mn-ea"/>
              </a:rPr>
              <a:t> </a:t>
            </a:r>
            <a:endParaRPr lang="en-US" altLang="ko-KR" dirty="0">
              <a:highlight>
                <a:srgbClr val="FFFFFF"/>
              </a:highlight>
              <a:latin typeface="+mn-ea"/>
            </a:endParaRPr>
          </a:p>
          <a:p>
            <a:r>
              <a:rPr lang="ko-KR" altLang="en-US" dirty="0">
                <a:highlight>
                  <a:srgbClr val="FFFFFF"/>
                </a:highlight>
                <a:latin typeface="+mn-ea"/>
              </a:rPr>
              <a:t>입금(</a:t>
            </a:r>
            <a:r>
              <a:rPr lang="ko-KR" altLang="en-US" dirty="0" err="1">
                <a:highlight>
                  <a:srgbClr val="FFFFFF"/>
                </a:highlight>
                <a:latin typeface="+mn-ea"/>
              </a:rPr>
              <a:t>recordDeposit</a:t>
            </a:r>
            <a:r>
              <a:rPr lang="ko-KR" altLang="en-US" dirty="0">
                <a:highlight>
                  <a:srgbClr val="FFFFFF"/>
                </a:highlight>
                <a:latin typeface="+mn-ea"/>
              </a:rPr>
              <a:t>), </a:t>
            </a:r>
            <a:endParaRPr lang="en-US" altLang="ko-KR" dirty="0">
              <a:highlight>
                <a:srgbClr val="FFFFFF"/>
              </a:highlight>
              <a:latin typeface="+mn-ea"/>
            </a:endParaRPr>
          </a:p>
          <a:p>
            <a:r>
              <a:rPr lang="ko-KR" altLang="en-US" dirty="0">
                <a:highlight>
                  <a:srgbClr val="FFFFFF"/>
                </a:highlight>
                <a:latin typeface="+mn-ea"/>
              </a:rPr>
              <a:t>출금(</a:t>
            </a:r>
            <a:r>
              <a:rPr lang="ko-KR" altLang="en-US" dirty="0" err="1">
                <a:highlight>
                  <a:srgbClr val="FFFFFF"/>
                </a:highlight>
                <a:latin typeface="+mn-ea"/>
              </a:rPr>
              <a:t>recordWithdraw</a:t>
            </a:r>
            <a:r>
              <a:rPr lang="ko-KR" altLang="en-US" dirty="0">
                <a:highlight>
                  <a:srgbClr val="FFFFFF"/>
                </a:highlight>
                <a:latin typeface="+mn-ea"/>
              </a:rPr>
              <a:t>), </a:t>
            </a:r>
            <a:endParaRPr lang="en-US" altLang="ko-KR" dirty="0">
              <a:highlight>
                <a:srgbClr val="FFFFFF"/>
              </a:highlight>
              <a:latin typeface="+mn-ea"/>
            </a:endParaRPr>
          </a:p>
          <a:p>
            <a:r>
              <a:rPr lang="ko-KR" altLang="en-US" dirty="0">
                <a:highlight>
                  <a:srgbClr val="FFFFFF"/>
                </a:highlight>
                <a:latin typeface="+mn-ea"/>
              </a:rPr>
              <a:t>계좌이체 보냄(</a:t>
            </a:r>
            <a:r>
              <a:rPr lang="ko-KR" altLang="en-US" dirty="0" err="1">
                <a:highlight>
                  <a:srgbClr val="FFFFFF"/>
                </a:highlight>
                <a:latin typeface="+mn-ea"/>
              </a:rPr>
              <a:t>recordTrnasferMinus</a:t>
            </a:r>
            <a:r>
              <a:rPr lang="ko-KR" altLang="en-US" dirty="0">
                <a:highlight>
                  <a:srgbClr val="FFFFFF"/>
                </a:highlight>
                <a:latin typeface="+mn-ea"/>
              </a:rPr>
              <a:t>), </a:t>
            </a:r>
            <a:endParaRPr lang="en-US" altLang="ko-KR" dirty="0">
              <a:highlight>
                <a:srgbClr val="FFFFFF"/>
              </a:highlight>
              <a:latin typeface="+mn-ea"/>
            </a:endParaRPr>
          </a:p>
          <a:p>
            <a:r>
              <a:rPr lang="ko-KR" altLang="en-US" dirty="0">
                <a:highlight>
                  <a:srgbClr val="FFFFFF"/>
                </a:highlight>
                <a:latin typeface="+mn-ea"/>
              </a:rPr>
              <a:t>계좌이체 받음(</a:t>
            </a:r>
            <a:r>
              <a:rPr lang="ko-KR" altLang="en-US" dirty="0" err="1">
                <a:highlight>
                  <a:srgbClr val="FFFFFF"/>
                </a:highlight>
                <a:latin typeface="+mn-ea"/>
              </a:rPr>
              <a:t>recordTransferPlus</a:t>
            </a:r>
            <a:r>
              <a:rPr lang="ko-KR" altLang="en-US" dirty="0">
                <a:highlight>
                  <a:srgbClr val="FFFFFF"/>
                </a:highlight>
                <a:latin typeface="+mn-ea"/>
              </a:rPr>
              <a:t>)이 있다.</a:t>
            </a:r>
          </a:p>
          <a:p>
            <a:endParaRPr lang="ko-KR" altLang="en-US" dirty="0">
              <a:highlight>
                <a:srgbClr val="FFFFFF"/>
              </a:highlight>
              <a:latin typeface="+mn-ea"/>
            </a:endParaRPr>
          </a:p>
          <a:p>
            <a:endParaRPr lang="ko-KR" altLang="en-US" dirty="0">
              <a:highlight>
                <a:srgbClr val="FFFFFF"/>
              </a:highlight>
              <a:latin typeface="+mn-ea"/>
            </a:endParaRPr>
          </a:p>
          <a:p>
            <a:endParaRPr lang="ko-KR" altLang="en-US" dirty="0">
              <a:highlight>
                <a:srgbClr val="FFFFFF"/>
              </a:highlight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405EB6-3604-7FAF-0F67-E9C386291737}"/>
              </a:ext>
            </a:extLst>
          </p:cNvPr>
          <p:cNvSpPr txBox="1"/>
          <p:nvPr/>
        </p:nvSpPr>
        <p:spPr>
          <a:xfrm>
            <a:off x="468921" y="2551837"/>
            <a:ext cx="609426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@Override</a:t>
            </a:r>
            <a:b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void 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recordTransaction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8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accountNo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8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type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8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long </a:t>
            </a:r>
            <a:r>
              <a:rPr lang="en-US" altLang="ko-KR" sz="18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 </a:t>
            </a:r>
            <a:r>
              <a:rPr lang="en-US" altLang="ko-KR" sz="18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findAccount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8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accountNo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8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recordTransaction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(account, </a:t>
            </a:r>
            <a:r>
              <a:rPr lang="en-US" altLang="ko-KR" sz="18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type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8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8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575031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EDB1E-2CC6-E99A-3689-23BBC7759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1F91DCB-7E15-23F2-6BEB-2CD3797C18FD}"/>
              </a:ext>
            </a:extLst>
          </p:cNvPr>
          <p:cNvSpPr txBox="1"/>
          <p:nvPr/>
        </p:nvSpPr>
        <p:spPr>
          <a:xfrm>
            <a:off x="328246" y="377952"/>
            <a:ext cx="5043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</a:t>
            </a:r>
            <a:r>
              <a:rPr lang="ko-KR" altLang="en-US" sz="3200" dirty="0"/>
              <a:t>거래 및 입출금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41013E-68EF-81EE-C1D4-7B75247F82D7}"/>
              </a:ext>
            </a:extLst>
          </p:cNvPr>
          <p:cNvSpPr txBox="1"/>
          <p:nvPr/>
        </p:nvSpPr>
        <p:spPr>
          <a:xfrm>
            <a:off x="468921" y="945115"/>
            <a:ext cx="9038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TransactionBalanceService.java – </a:t>
            </a:r>
            <a:r>
              <a:rPr lang="en-US" altLang="ko-KR" dirty="0" err="1"/>
              <a:t>getRecentHistory</a:t>
            </a:r>
            <a:r>
              <a:rPr lang="en-US" altLang="ko-KR" dirty="0"/>
              <a:t>() 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370EB1-7885-DA0C-8FDF-AF38CF91B085}"/>
              </a:ext>
            </a:extLst>
          </p:cNvPr>
          <p:cNvSpPr txBox="1"/>
          <p:nvPr/>
        </p:nvSpPr>
        <p:spPr>
          <a:xfrm>
            <a:off x="7417243" y="1218162"/>
            <a:ext cx="477475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n-ea"/>
              </a:rPr>
              <a:t>계좌번호를 가져와서 계좌를 조회하고, </a:t>
            </a:r>
          </a:p>
          <a:p>
            <a:r>
              <a:rPr lang="ko-KR" altLang="en-US" dirty="0">
                <a:latin typeface="+mn-ea"/>
              </a:rPr>
              <a:t>새로운 </a:t>
            </a:r>
            <a:r>
              <a:rPr lang="ko-KR" altLang="en-US" dirty="0" err="1">
                <a:latin typeface="+mn-ea"/>
              </a:rPr>
              <a:t>List</a:t>
            </a:r>
            <a:r>
              <a:rPr lang="ko-KR" altLang="en-US" dirty="0">
                <a:latin typeface="+mn-ea"/>
              </a:rPr>
              <a:t>&lt;</a:t>
            </a:r>
            <a:r>
              <a:rPr lang="ko-KR" altLang="en-US" dirty="0" err="1">
                <a:latin typeface="+mn-ea"/>
              </a:rPr>
              <a:t>String</a:t>
            </a:r>
            <a:r>
              <a:rPr lang="ko-KR" altLang="en-US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recentHistory을</a:t>
            </a:r>
            <a:r>
              <a:rPr lang="ko-KR" altLang="en-US" dirty="0">
                <a:latin typeface="+mn-ea"/>
              </a:rPr>
              <a:t> 만들어서 </a:t>
            </a:r>
            <a:endParaRPr lang="ko-KR" altLang="ko-KR" dirty="0">
              <a:latin typeface="+mn-ea"/>
            </a:endParaRPr>
          </a:p>
          <a:p>
            <a:r>
              <a:rPr lang="ko-KR" altLang="en-US" dirty="0">
                <a:latin typeface="+mn-ea"/>
              </a:rPr>
              <a:t>이 </a:t>
            </a:r>
            <a:r>
              <a:rPr lang="ko-KR" altLang="ko-KR" dirty="0" err="1">
                <a:latin typeface="+mn-ea"/>
              </a:rPr>
              <a:t>recentHistory</a:t>
            </a:r>
            <a:r>
              <a:rPr lang="ko-KR" altLang="en-US" dirty="0" err="1">
                <a:latin typeface="+mn-ea"/>
              </a:rPr>
              <a:t>이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 err="1">
                <a:latin typeface="+mn-ea"/>
              </a:rPr>
              <a:t>null이</a:t>
            </a:r>
            <a:r>
              <a:rPr lang="ko-KR" altLang="en-US" dirty="0">
                <a:latin typeface="+mn-ea"/>
              </a:rPr>
              <a:t> 아닌지 확인하고, </a:t>
            </a:r>
          </a:p>
          <a:p>
            <a:r>
              <a:rPr lang="ko-KR" altLang="en-US" dirty="0">
                <a:latin typeface="+mn-ea"/>
              </a:rPr>
              <a:t>계좌의 기록을 </a:t>
            </a:r>
            <a:r>
              <a:rPr lang="ko-KR" altLang="en-US" dirty="0" err="1">
                <a:latin typeface="+mn-ea"/>
              </a:rPr>
              <a:t>List</a:t>
            </a:r>
            <a:r>
              <a:rPr lang="ko-KR" altLang="en-US" dirty="0">
                <a:latin typeface="+mn-ea"/>
              </a:rPr>
              <a:t>&lt;</a:t>
            </a:r>
            <a:r>
              <a:rPr lang="ko-KR" altLang="en-US" dirty="0" err="1">
                <a:latin typeface="+mn-ea"/>
              </a:rPr>
              <a:t>TransationLog</a:t>
            </a:r>
            <a:r>
              <a:rPr lang="ko-KR" altLang="en-US" dirty="0">
                <a:latin typeface="+mn-ea"/>
              </a:rPr>
              <a:t>&gt; 형식으로 가져온다.</a:t>
            </a:r>
          </a:p>
          <a:p>
            <a:endParaRPr lang="ko-KR" altLang="en-US" dirty="0">
              <a:latin typeface="+mn-ea"/>
            </a:endParaRPr>
          </a:p>
          <a:p>
            <a:r>
              <a:rPr lang="ko-KR" altLang="en-US" dirty="0">
                <a:latin typeface="+mn-ea"/>
              </a:rPr>
              <a:t>그리고 가져온 계좌 기록을 역순으로 순회하며</a:t>
            </a:r>
          </a:p>
          <a:p>
            <a:r>
              <a:rPr lang="ko-KR" altLang="en-US" dirty="0">
                <a:latin typeface="+mn-ea"/>
              </a:rPr>
              <a:t>사용자 편의성에 맞는 포맷 시각으로 </a:t>
            </a:r>
            <a:r>
              <a:rPr lang="ko-KR" altLang="en-US" dirty="0" err="1">
                <a:latin typeface="+mn-ea"/>
              </a:rPr>
              <a:t>recentHistroy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 err="1">
                <a:latin typeface="+mn-ea"/>
              </a:rPr>
              <a:t>List에</a:t>
            </a:r>
            <a:r>
              <a:rPr lang="ko-KR" altLang="en-US" dirty="0">
                <a:latin typeface="+mn-ea"/>
              </a:rPr>
              <a:t> 추가한다.</a:t>
            </a:r>
          </a:p>
          <a:p>
            <a:endParaRPr lang="ko-KR" altLang="en-US" dirty="0">
              <a:latin typeface="+mn-ea"/>
            </a:endParaRPr>
          </a:p>
          <a:p>
            <a:r>
              <a:rPr lang="ko-KR" altLang="en-US" dirty="0">
                <a:latin typeface="+mn-ea"/>
              </a:rPr>
              <a:t>그리고 </a:t>
            </a:r>
            <a:r>
              <a:rPr lang="ko-KR" altLang="ko-KR" dirty="0" err="1">
                <a:latin typeface="+mn-ea"/>
              </a:rPr>
              <a:t>recentHistory</a:t>
            </a:r>
            <a:r>
              <a:rPr lang="ko-KR" altLang="en-US" dirty="0" err="1">
                <a:latin typeface="+mn-ea"/>
              </a:rPr>
              <a:t>을</a:t>
            </a:r>
            <a:r>
              <a:rPr lang="ko-KR" altLang="en-US" dirty="0">
                <a:latin typeface="+mn-ea"/>
              </a:rPr>
              <a:t> 반환한다.</a:t>
            </a:r>
          </a:p>
          <a:p>
            <a:endParaRPr lang="ko-KR" altLang="en-US" dirty="0">
              <a:latin typeface="+mn-ea"/>
            </a:endParaRPr>
          </a:p>
          <a:p>
            <a:r>
              <a:rPr lang="ko-KR" altLang="en-US" dirty="0">
                <a:latin typeface="+mn-ea"/>
              </a:rPr>
              <a:t>=&gt; 계좌 기록을 가져와 역순으로 만들고 </a:t>
            </a:r>
            <a:r>
              <a:rPr lang="ko-KR" altLang="en-US" dirty="0" err="1">
                <a:latin typeface="+mn-ea"/>
              </a:rPr>
              <a:t>저장후</a:t>
            </a:r>
            <a:r>
              <a:rPr lang="ko-KR" altLang="en-US" dirty="0">
                <a:latin typeface="+mn-ea"/>
              </a:rPr>
              <a:t> 반환.</a:t>
            </a:r>
          </a:p>
          <a:p>
            <a:endParaRPr lang="ko-KR" altLang="en-US" dirty="0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24CB5A-BA05-F61F-62DC-0D41010D988F}"/>
              </a:ext>
            </a:extLst>
          </p:cNvPr>
          <p:cNvSpPr txBox="1"/>
          <p:nvPr/>
        </p:nvSpPr>
        <p:spPr>
          <a:xfrm>
            <a:off x="468921" y="1529890"/>
            <a:ext cx="752728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@Override</a:t>
            </a:r>
            <a:b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List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getRecentHistory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accountNo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 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findAccount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accountNo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List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 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recentHistory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new </a:t>
            </a:r>
            <a:r>
              <a:rPr lang="en-US" altLang="ko-KR" sz="16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ArrayList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&lt;&gt;();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if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(account ==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null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 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recentHistory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List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6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TransactionLog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 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accountRecord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getAccountRecord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최신 기록이 먼저 오도록 뒤에서부터 역순으로 반환용 리스트 생성</a:t>
            </a:r>
            <a:b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int 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accountRecord.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size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 -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 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&gt;=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 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--) 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recentHistory.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add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formatHistory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accountRecord.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get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)));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}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 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recentHistory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33722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7DACD-11C9-3DC3-BC20-68BC712F0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02CCB00-6B33-73EA-DE99-6C536E0406C9}"/>
              </a:ext>
            </a:extLst>
          </p:cNvPr>
          <p:cNvSpPr txBox="1"/>
          <p:nvPr/>
        </p:nvSpPr>
        <p:spPr>
          <a:xfrm>
            <a:off x="1640636" y="2228144"/>
            <a:ext cx="2552664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dirty="0"/>
              <a:t>AdminLog.java</a:t>
            </a:r>
            <a:endParaRPr lang="ko-KR" alt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0075E1-E405-4AD8-3824-FB67A5ACA708}"/>
              </a:ext>
            </a:extLst>
          </p:cNvPr>
          <p:cNvSpPr txBox="1"/>
          <p:nvPr/>
        </p:nvSpPr>
        <p:spPr>
          <a:xfrm>
            <a:off x="6096000" y="2228145"/>
            <a:ext cx="443829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dirty="0"/>
              <a:t>AdminService.java</a:t>
            </a:r>
            <a:endParaRPr lang="ko-KR" altLang="en-US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808621-25ED-5227-1708-4D4FC721A685}"/>
              </a:ext>
            </a:extLst>
          </p:cNvPr>
          <p:cNvSpPr txBox="1"/>
          <p:nvPr/>
        </p:nvSpPr>
        <p:spPr>
          <a:xfrm>
            <a:off x="5828971" y="4106635"/>
            <a:ext cx="497235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dirty="0"/>
              <a:t>DeunAdmin.java</a:t>
            </a:r>
            <a:endParaRPr lang="ko-KR" altLang="en-US" sz="2800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977D2BC-4C34-A4AC-FA9E-94CC0288772C}"/>
              </a:ext>
            </a:extLst>
          </p:cNvPr>
          <p:cNvGrpSpPr/>
          <p:nvPr/>
        </p:nvGrpSpPr>
        <p:grpSpPr>
          <a:xfrm>
            <a:off x="8315145" y="2751365"/>
            <a:ext cx="1862752" cy="1355270"/>
            <a:chOff x="7760965" y="2750222"/>
            <a:chExt cx="1928181" cy="1355270"/>
          </a:xfrm>
        </p:grpSpPr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10A9261C-6452-33C0-D4F2-50E98B814154}"/>
                </a:ext>
              </a:extLst>
            </p:cNvPr>
            <p:cNvCxnSpPr>
              <a:cxnSpLocks/>
              <a:stCxn id="12" idx="0"/>
              <a:endCxn id="10" idx="2"/>
            </p:cNvCxnSpPr>
            <p:nvPr/>
          </p:nvCxnSpPr>
          <p:spPr>
            <a:xfrm flipV="1">
              <a:off x="7760965" y="2750222"/>
              <a:ext cx="2" cy="135527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C629E89-8498-10A1-12F9-E6FC71659F94}"/>
                </a:ext>
              </a:extLst>
            </p:cNvPr>
            <p:cNvSpPr txBox="1"/>
            <p:nvPr/>
          </p:nvSpPr>
          <p:spPr>
            <a:xfrm>
              <a:off x="8182729" y="3243191"/>
              <a:ext cx="15064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implements</a:t>
              </a:r>
              <a:endParaRPr lang="ko-KR" altLang="en-US" dirty="0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30E4FAC9-ADA5-F129-46F1-360913C55AA4}"/>
              </a:ext>
            </a:extLst>
          </p:cNvPr>
          <p:cNvSpPr txBox="1"/>
          <p:nvPr/>
        </p:nvSpPr>
        <p:spPr>
          <a:xfrm>
            <a:off x="328246" y="377952"/>
            <a:ext cx="48919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+mj-lt"/>
              </a:rPr>
              <a:t>주요 기능 </a:t>
            </a:r>
            <a:r>
              <a:rPr lang="en-US" altLang="ko-KR" sz="3200" dirty="0">
                <a:latin typeface="+mj-lt"/>
              </a:rPr>
              <a:t>– ATM</a:t>
            </a:r>
            <a:r>
              <a:rPr lang="ko-KR" altLang="en-US" sz="3200" dirty="0">
                <a:latin typeface="+mj-lt"/>
              </a:rPr>
              <a:t> 관리자 기능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BC0AA0-ED9A-BCB6-D039-FACCAB59D2D2}"/>
              </a:ext>
            </a:extLst>
          </p:cNvPr>
          <p:cNvSpPr txBox="1"/>
          <p:nvPr/>
        </p:nvSpPr>
        <p:spPr>
          <a:xfrm>
            <a:off x="468922" y="945115"/>
            <a:ext cx="844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구조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1126DF-68D3-76D0-AF6D-E66520124856}"/>
              </a:ext>
            </a:extLst>
          </p:cNvPr>
          <p:cNvSpPr txBox="1"/>
          <p:nvPr/>
        </p:nvSpPr>
        <p:spPr>
          <a:xfrm>
            <a:off x="7469062" y="1396885"/>
            <a:ext cx="16921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/>
              <a:t>구현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AD7C36-5225-D754-2625-EFCE5D28374E}"/>
              </a:ext>
            </a:extLst>
          </p:cNvPr>
          <p:cNvSpPr txBox="1"/>
          <p:nvPr/>
        </p:nvSpPr>
        <p:spPr>
          <a:xfrm>
            <a:off x="2070885" y="1396885"/>
            <a:ext cx="16921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dirty="0"/>
              <a:t>엔티티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4FFD0D-B273-F379-FD97-033CE01978FA}"/>
              </a:ext>
            </a:extLst>
          </p:cNvPr>
          <p:cNvSpPr txBox="1"/>
          <p:nvPr/>
        </p:nvSpPr>
        <p:spPr>
          <a:xfrm>
            <a:off x="1476810" y="2935715"/>
            <a:ext cx="2880315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dirty="0"/>
              <a:t>AtmMachine.java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7088310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AAA05-35B9-CB9E-1D58-9119BEA4E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A462A1CC-EB27-7F93-DA37-FCF77842A275}"/>
              </a:ext>
            </a:extLst>
          </p:cNvPr>
          <p:cNvSpPr txBox="1"/>
          <p:nvPr/>
        </p:nvSpPr>
        <p:spPr>
          <a:xfrm>
            <a:off x="328246" y="377952"/>
            <a:ext cx="48919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ATM</a:t>
            </a:r>
            <a:r>
              <a:rPr lang="ko-KR" altLang="en-US" sz="3200" dirty="0"/>
              <a:t> 관리자 기능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ED1726-945A-82DA-BEAE-86F195000034}"/>
              </a:ext>
            </a:extLst>
          </p:cNvPr>
          <p:cNvSpPr txBox="1"/>
          <p:nvPr/>
        </p:nvSpPr>
        <p:spPr>
          <a:xfrm>
            <a:off x="2938895" y="1719269"/>
            <a:ext cx="6314209" cy="32313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800" dirty="0">
                <a:latin typeface="+mj-ea"/>
              </a:rPr>
              <a:t>관리자 전용 암호 인증</a:t>
            </a:r>
            <a:endParaRPr lang="en-US" altLang="ko-KR" sz="2800" dirty="0">
              <a:latin typeface="+mj-ea"/>
              <a:ea typeface="+mj-ea"/>
              <a:cs typeface="+mn-lt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ko-KR" sz="2800" dirty="0">
                <a:latin typeface="+mj-ea"/>
                <a:ea typeface="+mj-ea"/>
                <a:cs typeface="+mn-lt"/>
              </a:rPr>
              <a:t>ATM 기기 내 총 현금 잔고 확인</a:t>
            </a:r>
            <a:endParaRPr lang="ko-KR" altLang="en-US" sz="2800" dirty="0">
              <a:latin typeface="+mj-ea"/>
              <a:ea typeface="+mj-ea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ko-KR" sz="2800" dirty="0">
                <a:latin typeface="+mj-ea"/>
                <a:ea typeface="+mj-ea"/>
                <a:cs typeface="+mn-lt"/>
              </a:rPr>
              <a:t>ATM 기기에 현금 </a:t>
            </a:r>
            <a:r>
              <a:rPr lang="ko-KR" altLang="en-US" sz="2800" dirty="0">
                <a:latin typeface="+mj-ea"/>
                <a:ea typeface="+mj-ea"/>
                <a:cs typeface="+mn-lt"/>
              </a:rPr>
              <a:t>추가</a:t>
            </a:r>
            <a:r>
              <a:rPr lang="en-US" altLang="ko-KR" sz="2800" dirty="0">
                <a:latin typeface="+mj-ea"/>
                <a:ea typeface="+mj-ea"/>
                <a:cs typeface="+mn-lt"/>
              </a:rPr>
              <a:t> / </a:t>
            </a:r>
            <a:r>
              <a:rPr lang="ko-KR" altLang="en-US" sz="2800" dirty="0">
                <a:latin typeface="+mj-ea"/>
                <a:ea typeface="+mj-ea"/>
                <a:cs typeface="+mn-lt"/>
              </a:rPr>
              <a:t>빼기 기능</a:t>
            </a:r>
            <a:endParaRPr lang="en-US" altLang="ko-KR" sz="2800" dirty="0">
              <a:latin typeface="+mj-ea"/>
              <a:ea typeface="+mj-ea"/>
              <a:cs typeface="+mn-lt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ko-KR" sz="2800" dirty="0">
                <a:latin typeface="+mj-ea"/>
                <a:ea typeface="+mj-ea"/>
                <a:cs typeface="+mn-lt"/>
              </a:rPr>
              <a:t>현금 추가하고 뺄 경우의 로그 기록</a:t>
            </a:r>
            <a:endParaRPr lang="ko-KR" altLang="ko-KR" sz="2800" dirty="0">
              <a:latin typeface="+mj-ea"/>
              <a:ea typeface="+mj-ea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800" dirty="0">
                <a:latin typeface="+mj-ea"/>
                <a:ea typeface="+mj-ea"/>
                <a:cs typeface="+mn-lt"/>
              </a:rPr>
              <a:t>거래 내역 확인 </a:t>
            </a:r>
            <a:r>
              <a:rPr lang="en-US" altLang="ko-KR" sz="2800" dirty="0">
                <a:latin typeface="+mj-ea"/>
                <a:ea typeface="+mj-ea"/>
                <a:cs typeface="+mn-lt"/>
              </a:rPr>
              <a:t>-</a:t>
            </a:r>
            <a:r>
              <a:rPr lang="ko-KR" altLang="en-US" sz="2800" dirty="0">
                <a:latin typeface="+mj-ea"/>
                <a:ea typeface="+mj-ea"/>
                <a:cs typeface="+mn-lt"/>
              </a:rPr>
              <a:t> </a:t>
            </a:r>
            <a:r>
              <a:rPr lang="en-US" altLang="ko-KR" sz="2800" dirty="0">
                <a:latin typeface="+mj-ea"/>
                <a:ea typeface="+mj-ea"/>
                <a:cs typeface="+mn-lt"/>
              </a:rPr>
              <a:t>Log</a:t>
            </a:r>
            <a:r>
              <a:rPr lang="ko-KR" altLang="en-US" sz="2800" dirty="0">
                <a:latin typeface="+mj-ea"/>
                <a:ea typeface="+mj-ea"/>
                <a:cs typeface="+mn-lt"/>
              </a:rPr>
              <a:t>에 접근하여 확인</a:t>
            </a:r>
            <a:endParaRPr lang="ko-KR" altLang="ko-KR" sz="2800" dirty="0">
              <a:latin typeface="+mj-ea"/>
              <a:ea typeface="+mj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B343EC-A7AE-0F3F-5F7B-083C07E80678}"/>
              </a:ext>
            </a:extLst>
          </p:cNvPr>
          <p:cNvSpPr txBox="1"/>
          <p:nvPr/>
        </p:nvSpPr>
        <p:spPr>
          <a:xfrm>
            <a:off x="468922" y="945115"/>
            <a:ext cx="1162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구현 기능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72984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9672C-0F1D-6F4E-4B78-EECE6EA34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F0C4A0F-73C4-3062-8653-07780105EEAE}"/>
              </a:ext>
            </a:extLst>
          </p:cNvPr>
          <p:cNvSpPr txBox="1"/>
          <p:nvPr/>
        </p:nvSpPr>
        <p:spPr>
          <a:xfrm>
            <a:off x="328246" y="377952"/>
            <a:ext cx="52932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ATM</a:t>
            </a:r>
            <a:r>
              <a:rPr lang="ko-KR" altLang="en-US" sz="3200" dirty="0"/>
              <a:t> 관리자 기능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132646-7732-BAFD-3F67-2926BEF6C3DE}"/>
              </a:ext>
            </a:extLst>
          </p:cNvPr>
          <p:cNvSpPr txBox="1"/>
          <p:nvPr/>
        </p:nvSpPr>
        <p:spPr>
          <a:xfrm>
            <a:off x="468922" y="945115"/>
            <a:ext cx="4009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AdminService.java (</a:t>
            </a:r>
            <a:r>
              <a:rPr lang="ko-KR" altLang="en-US" dirty="0"/>
              <a:t>인터페이스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C40074-468E-FBF2-285E-834D2F70791A}"/>
              </a:ext>
            </a:extLst>
          </p:cNvPr>
          <p:cNvSpPr txBox="1"/>
          <p:nvPr/>
        </p:nvSpPr>
        <p:spPr>
          <a:xfrm>
            <a:off x="3463368" y="5225430"/>
            <a:ext cx="5265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highlight>
                  <a:srgbClr val="FFFFFF"/>
                </a:highlight>
                <a:latin typeface="+mn-ea"/>
              </a:rPr>
              <a:t>기기 관리자 기능 (6가지) 구현을 위한 인터페이스를 생성한다</a:t>
            </a:r>
            <a:r>
              <a:rPr lang="en-US" altLang="ko-KR" dirty="0">
                <a:highlight>
                  <a:srgbClr val="FFFFFF"/>
                </a:highlight>
                <a:latin typeface="+mn-ea"/>
              </a:rPr>
              <a:t>.</a:t>
            </a:r>
            <a:endParaRPr lang="ko-KR" altLang="en-US" dirty="0">
              <a:highlight>
                <a:srgbClr val="FFFFFF"/>
              </a:highlight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35645B-5C19-5FCC-3C80-0E8B1AFDC2F8}"/>
              </a:ext>
            </a:extLst>
          </p:cNvPr>
          <p:cNvSpPr txBox="1"/>
          <p:nvPr/>
        </p:nvSpPr>
        <p:spPr>
          <a:xfrm>
            <a:off x="1057273" y="1693695"/>
            <a:ext cx="10077452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interface </a:t>
            </a:r>
            <a:r>
              <a:rPr lang="en-US" altLang="ko-KR" sz="16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AdminService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기기 관리자 기능</a:t>
            </a:r>
            <a:b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boolean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adminLogin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adminPassword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관리자 전용 암호 인증</a:t>
            </a: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long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checkAtmTotalCash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ATM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기기 내 총 현금 잔고 확인</a:t>
            </a: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void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addAtmCash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long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ATM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기기에 현금 추가하기</a:t>
            </a: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void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withdrawAtmCash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long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ATM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기기에 현금 빼기</a:t>
            </a: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void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recordAdminLog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type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long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amount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LocalDateTime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timestamp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); </a:t>
            </a:r>
          </a:p>
          <a:p>
            <a:pPr>
              <a:buNone/>
            </a:pPr>
            <a:r>
              <a:rPr lang="en-US" altLang="ko-KR" sz="1600" dirty="0">
                <a:solidFill>
                  <a:srgbClr val="BBBBBB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현금 추가하고 뺄 경우의 로그 기록</a:t>
            </a: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List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String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viewAllTransactionLogs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//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거래 내역 확인 </a:t>
            </a:r>
            <a: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- Log </a:t>
            </a:r>
            <a:r>
              <a:rPr lang="ko-KR" altLang="en-US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에 접근하여 확인</a:t>
            </a:r>
            <a:br>
              <a:rPr lang="en-US" altLang="ko-KR" sz="1600" dirty="0">
                <a:solidFill>
                  <a:srgbClr val="5C637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2159757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6BB18-AB8B-10D2-E325-0BC5B3B82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3A486A1-C9BD-A856-ECEB-D2A979BAD308}"/>
              </a:ext>
            </a:extLst>
          </p:cNvPr>
          <p:cNvSpPr txBox="1"/>
          <p:nvPr/>
        </p:nvSpPr>
        <p:spPr>
          <a:xfrm>
            <a:off x="328246" y="377952"/>
            <a:ext cx="5043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ATM</a:t>
            </a:r>
            <a:r>
              <a:rPr lang="ko-KR" altLang="en-US" sz="3200" dirty="0"/>
              <a:t> 관리자 기능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7AECD8-DF88-B331-85E4-DD1DCB47695D}"/>
              </a:ext>
            </a:extLst>
          </p:cNvPr>
          <p:cNvSpPr txBox="1"/>
          <p:nvPr/>
        </p:nvSpPr>
        <p:spPr>
          <a:xfrm>
            <a:off x="468922" y="945115"/>
            <a:ext cx="4352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DeunAdmin.java – </a:t>
            </a:r>
            <a:r>
              <a:rPr lang="en-US" altLang="ko-KR" dirty="0" err="1"/>
              <a:t>DeunAdmin</a:t>
            </a:r>
            <a:r>
              <a:rPr lang="en-US" altLang="ko-KR" dirty="0"/>
              <a:t>() (</a:t>
            </a:r>
            <a:r>
              <a:rPr lang="ko-KR" altLang="en-US" dirty="0"/>
              <a:t>생성자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4A17F7-3DDC-41F8-763A-2D6746FBEE68}"/>
              </a:ext>
            </a:extLst>
          </p:cNvPr>
          <p:cNvSpPr txBox="1"/>
          <p:nvPr/>
        </p:nvSpPr>
        <p:spPr>
          <a:xfrm>
            <a:off x="468922" y="1881610"/>
            <a:ext cx="903876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600" dirty="0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public 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DeunAdmin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AtmMachine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atmMachine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List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accounts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TransactionBalanceService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transactionBalanceService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 err="1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sz="1600" dirty="0">
                <a:solidFill>
                  <a:srgbClr val="E5C07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{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this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atmMachine</a:t>
            </a:r>
            <a:r>
              <a:rPr lang="en-US" altLang="ko-KR" sz="1600" dirty="0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atmMachine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this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accounts</a:t>
            </a:r>
            <a:r>
              <a:rPr lang="en-US" altLang="ko-KR" sz="1600" dirty="0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 </a:t>
            </a:r>
            <a:r>
              <a:rPr lang="en-US" altLang="ko-KR" sz="1600" dirty="0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accounts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this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transactionBalanceService</a:t>
            </a:r>
            <a:r>
              <a:rPr lang="en-US" altLang="ko-KR" sz="1600" dirty="0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transactionBalanceService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this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sz="1600" dirty="0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solidFill>
                  <a:srgbClr val="D55FD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this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adminLogs</a:t>
            </a:r>
            <a:r>
              <a:rPr lang="en-US" altLang="ko-KR" sz="1600" dirty="0">
                <a:solidFill>
                  <a:srgbClr val="EF596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 </a:t>
            </a:r>
            <a:r>
              <a:rPr lang="en-US" altLang="ko-KR" sz="1600" dirty="0" err="1">
                <a:solidFill>
                  <a:srgbClr val="D19A66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fileDataManager</a:t>
            </a:r>
            <a:r>
              <a:rPr lang="en-US" altLang="ko-KR" sz="1600" dirty="0" err="1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en-US" altLang="ko-KR" sz="1600" dirty="0" err="1">
                <a:solidFill>
                  <a:srgbClr val="61AFE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loadAdminLogs</a:t>
            </a: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();</a:t>
            </a:r>
            <a:b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solidFill>
                  <a:srgbClr val="BBBBBB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103536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8128D-8CCD-DD05-E1A5-5114733B1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E66B1B1-AD4C-4323-9124-8150DDF73E46}"/>
              </a:ext>
            </a:extLst>
          </p:cNvPr>
          <p:cNvSpPr txBox="1"/>
          <p:nvPr/>
        </p:nvSpPr>
        <p:spPr>
          <a:xfrm>
            <a:off x="328246" y="377952"/>
            <a:ext cx="5043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ATM</a:t>
            </a:r>
            <a:r>
              <a:rPr lang="ko-KR" altLang="en-US" sz="3200" dirty="0"/>
              <a:t> 관리자 기능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1EA89C-33BE-FD2B-C202-DE83F35C1506}"/>
              </a:ext>
            </a:extLst>
          </p:cNvPr>
          <p:cNvSpPr txBox="1"/>
          <p:nvPr/>
        </p:nvSpPr>
        <p:spPr>
          <a:xfrm>
            <a:off x="468922" y="945115"/>
            <a:ext cx="4352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DeunAdmin.java – </a:t>
            </a:r>
            <a:r>
              <a:rPr lang="en-US" altLang="ko-KR" dirty="0" err="1"/>
              <a:t>checkAtmTotalCash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48837E-D88F-6BBC-FCAA-D1804B109F81}"/>
              </a:ext>
            </a:extLst>
          </p:cNvPr>
          <p:cNvSpPr txBox="1"/>
          <p:nvPr/>
        </p:nvSpPr>
        <p:spPr>
          <a:xfrm>
            <a:off x="468922" y="2921168"/>
            <a:ext cx="4641274" cy="101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sz="1500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@Override</a:t>
            </a:r>
            <a:br>
              <a:rPr lang="ko-KR" sz="1500">
                <a:solidFill>
                  <a:srgbClr val="9E880D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public long </a:t>
            </a:r>
            <a:r>
              <a:rPr lang="ko-KR" sz="1500">
                <a:solidFill>
                  <a:srgbClr val="00627A"/>
                </a:solidFill>
                <a:highlight>
                  <a:srgbClr val="FFFFFF"/>
                </a:highlight>
                <a:latin typeface="Consolas"/>
                <a:ea typeface="맑은 고딕"/>
              </a:rPr>
              <a:t>checkAtmTotalCash</a:t>
            </a:r>
            <a:r>
              <a:rPr lang="ko-KR" sz="15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() {   </a:t>
            </a:r>
            <a:br>
              <a:rPr lang="ko-KR" sz="1500" i="1">
                <a:solidFill>
                  <a:srgbClr val="8C8C8C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i="1">
                <a:solidFill>
                  <a:srgbClr val="8C8C8C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</a:t>
            </a:r>
            <a:r>
              <a:rPr lang="ko-KR" sz="1500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return </a:t>
            </a:r>
            <a:r>
              <a:rPr lang="ko-KR" sz="1500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맑은 고딕"/>
              </a:rPr>
              <a:t>atmMachine</a:t>
            </a:r>
            <a:r>
              <a:rPr lang="ko-KR" sz="15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.getTotalCash();</a:t>
            </a:r>
            <a:br>
              <a:rPr lang="ko-KR" sz="150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}</a:t>
            </a:r>
            <a:endParaRPr lang="ko-KR" sz="1500">
              <a:highlight>
                <a:srgbClr val="FFFFFF"/>
              </a:highlight>
              <a:latin typeface="Consola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6E7CA3-8021-3712-56FB-CE5C45965F44}"/>
              </a:ext>
            </a:extLst>
          </p:cNvPr>
          <p:cNvSpPr txBox="1"/>
          <p:nvPr/>
        </p:nvSpPr>
        <p:spPr>
          <a:xfrm>
            <a:off x="7080738" y="3105833"/>
            <a:ext cx="4642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n-ea"/>
              </a:rPr>
              <a:t>ATM 객체의 총 잔고를 반환해주는 메서드이다.</a:t>
            </a:r>
          </a:p>
        </p:txBody>
      </p:sp>
    </p:spTree>
    <p:extLst>
      <p:ext uri="{BB962C8B-B14F-4D97-AF65-F5344CB8AC3E}">
        <p14:creationId xmlns:p14="http://schemas.microsoft.com/office/powerpoint/2010/main" val="237313840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6A1DE-C23F-399F-F9A0-FD501D676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9BCBE2B-7DD3-3795-4FC3-028BD7C4D4C2}"/>
              </a:ext>
            </a:extLst>
          </p:cNvPr>
          <p:cNvSpPr txBox="1"/>
          <p:nvPr/>
        </p:nvSpPr>
        <p:spPr>
          <a:xfrm>
            <a:off x="328246" y="377952"/>
            <a:ext cx="5043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ATM</a:t>
            </a:r>
            <a:r>
              <a:rPr lang="ko-KR" altLang="en-US" sz="3200" dirty="0"/>
              <a:t> 관리자 기능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1492B6-C93C-F414-D613-1B1A210DCA21}"/>
              </a:ext>
            </a:extLst>
          </p:cNvPr>
          <p:cNvSpPr txBox="1"/>
          <p:nvPr/>
        </p:nvSpPr>
        <p:spPr>
          <a:xfrm>
            <a:off x="468921" y="945115"/>
            <a:ext cx="4820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DeunAdmin.java – </a:t>
            </a:r>
            <a:r>
              <a:rPr lang="en-US" altLang="ko-KR" dirty="0" err="1"/>
              <a:t>addAtmCash</a:t>
            </a:r>
            <a:r>
              <a:rPr lang="en-US" altLang="ko-KR" dirty="0"/>
              <a:t>() 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C60242-375F-D6B6-99FE-CD3EC632010C}"/>
              </a:ext>
            </a:extLst>
          </p:cNvPr>
          <p:cNvSpPr txBox="1"/>
          <p:nvPr/>
        </p:nvSpPr>
        <p:spPr>
          <a:xfrm>
            <a:off x="6392541" y="4106779"/>
            <a:ext cx="5351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n-ea"/>
              </a:rPr>
              <a:t>ATM 객체 잔고에 현금을 추가하고, 로그를 생성하는 메서드이다.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85A1BF-4DDF-0BB1-23CC-1102595206D5}"/>
              </a:ext>
            </a:extLst>
          </p:cNvPr>
          <p:cNvSpPr txBox="1"/>
          <p:nvPr/>
        </p:nvSpPr>
        <p:spPr>
          <a:xfrm>
            <a:off x="468922" y="2390252"/>
            <a:ext cx="8872505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sz="1500" dirty="0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@Override</a:t>
            </a:r>
            <a:br>
              <a:rPr lang="ko-KR" sz="1500" dirty="0">
                <a:solidFill>
                  <a:srgbClr val="9E880D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 err="1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public</a:t>
            </a:r>
            <a:r>
              <a:rPr lang="ko-KR" sz="1500" dirty="0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void</a:t>
            </a:r>
            <a:r>
              <a:rPr lang="ko-KR" sz="1500" dirty="0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solidFill>
                  <a:srgbClr val="00627A"/>
                </a:solidFill>
                <a:highlight>
                  <a:srgbClr val="FFFFFF"/>
                </a:highlight>
                <a:latin typeface="Consolas"/>
                <a:ea typeface="맑은 고딕"/>
              </a:rPr>
              <a:t>addAtmCash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500" dirty="0" err="1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long</a:t>
            </a:r>
            <a:r>
              <a:rPr lang="ko-KR" sz="1500" dirty="0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amount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) { </a:t>
            </a:r>
            <a:br>
              <a:rPr lang="ko-KR" sz="1500" i="1" dirty="0">
                <a:solidFill>
                  <a:srgbClr val="8C8C8C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i="1" dirty="0">
                <a:solidFill>
                  <a:srgbClr val="8C8C8C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 </a:t>
            </a:r>
            <a:r>
              <a:rPr lang="ko-KR" sz="1500" dirty="0" err="1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맑은 고딕"/>
              </a:rPr>
              <a:t>atmMachine</a:t>
            </a:r>
            <a:r>
              <a:rPr lang="ko-KR" sz="15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.addCash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amount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);</a:t>
            </a:r>
            <a:b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 </a:t>
            </a:r>
            <a:r>
              <a:rPr lang="ko-KR" sz="15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recordAdminLog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 </a:t>
            </a:r>
            <a:r>
              <a:rPr lang="ko-KR" sz="1500" dirty="0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맑은 고딕"/>
              </a:rPr>
              <a:t>"</a:t>
            </a:r>
            <a:r>
              <a:rPr lang="ko-KR" sz="1500" dirty="0">
                <a:solidFill>
                  <a:srgbClr val="067D17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현금추가</a:t>
            </a:r>
            <a:r>
              <a:rPr lang="ko-KR" sz="1500" dirty="0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맑은 고딕"/>
              </a:rPr>
              <a:t>"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,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amount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,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LocalDateTime</a:t>
            </a:r>
            <a:r>
              <a:rPr lang="ko-KR" sz="15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</a:t>
            </a:r>
            <a:r>
              <a:rPr lang="ko-KR" sz="1500" i="1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now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());</a:t>
            </a:r>
            <a:b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System</a:t>
            </a:r>
            <a:r>
              <a:rPr lang="ko-KR" sz="15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</a:t>
            </a:r>
            <a:r>
              <a:rPr lang="ko-KR" sz="1500" i="1" dirty="0" err="1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맑은 고딕"/>
              </a:rPr>
              <a:t>out</a:t>
            </a:r>
            <a:r>
              <a:rPr lang="ko-KR" sz="15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.println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500" dirty="0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맑은 고딕"/>
              </a:rPr>
              <a:t>"</a:t>
            </a:r>
            <a:r>
              <a:rPr lang="ko-KR" sz="1500" dirty="0">
                <a:solidFill>
                  <a:srgbClr val="067D17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현재</a:t>
            </a:r>
            <a:r>
              <a:rPr lang="ko-KR" sz="1500" dirty="0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맑은 고딕"/>
              </a:rPr>
              <a:t> ATM </a:t>
            </a:r>
            <a:r>
              <a:rPr lang="ko-KR" sz="1500" dirty="0" err="1">
                <a:solidFill>
                  <a:srgbClr val="067D17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총금액</a:t>
            </a:r>
            <a:r>
              <a:rPr lang="ko-KR" sz="1500" dirty="0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맑은 고딕"/>
              </a:rPr>
              <a:t> : " 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+ </a:t>
            </a:r>
            <a:r>
              <a:rPr lang="ko-KR" sz="1500" dirty="0" err="1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맑은 고딕"/>
              </a:rPr>
              <a:t>atmMachine</a:t>
            </a:r>
            <a:r>
              <a:rPr lang="ko-KR" sz="15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.getTotalCash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() + </a:t>
            </a:r>
            <a:r>
              <a:rPr lang="ko-KR" sz="1500" dirty="0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맑은 고딕"/>
              </a:rPr>
              <a:t>" </a:t>
            </a:r>
            <a:r>
              <a:rPr lang="ko-KR" sz="1500" dirty="0">
                <a:solidFill>
                  <a:srgbClr val="067D17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원</a:t>
            </a:r>
            <a:r>
              <a:rPr lang="ko-KR" sz="1500" dirty="0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맑은 고딕"/>
              </a:rPr>
              <a:t>"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);</a:t>
            </a:r>
            <a:b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}</a:t>
            </a:r>
            <a:endParaRPr lang="ko-KR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87555606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774FB-99D4-DFDB-7884-BCC3CF918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B1C057A-238A-269F-2014-3AF014845D70}"/>
              </a:ext>
            </a:extLst>
          </p:cNvPr>
          <p:cNvSpPr txBox="1"/>
          <p:nvPr/>
        </p:nvSpPr>
        <p:spPr>
          <a:xfrm>
            <a:off x="328246" y="377952"/>
            <a:ext cx="5043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ATM</a:t>
            </a:r>
            <a:r>
              <a:rPr lang="ko-KR" altLang="en-US" sz="3200" dirty="0"/>
              <a:t> 관리자 기능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6015D1-D8E3-5EAD-164C-B3149C3A05D0}"/>
              </a:ext>
            </a:extLst>
          </p:cNvPr>
          <p:cNvSpPr txBox="1"/>
          <p:nvPr/>
        </p:nvSpPr>
        <p:spPr>
          <a:xfrm>
            <a:off x="468922" y="945115"/>
            <a:ext cx="4352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DeunAdmin.java – </a:t>
            </a:r>
            <a:r>
              <a:rPr lang="en-US" altLang="ko-KR" dirty="0" err="1"/>
              <a:t>withdrawAtmCash</a:t>
            </a:r>
            <a:r>
              <a:rPr lang="en-US" altLang="ko-KR" dirty="0"/>
              <a:t>() 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FC4498-CDDF-7B76-FA00-826459A4B599}"/>
              </a:ext>
            </a:extLst>
          </p:cNvPr>
          <p:cNvSpPr txBox="1"/>
          <p:nvPr/>
        </p:nvSpPr>
        <p:spPr>
          <a:xfrm>
            <a:off x="6309679" y="4085998"/>
            <a:ext cx="5627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dirty="0">
                <a:latin typeface="+mn-ea"/>
              </a:rPr>
              <a:t>ATM 객체 잔고에 현금을 </a:t>
            </a:r>
            <a:r>
              <a:rPr lang="ko-KR" altLang="en-US" dirty="0">
                <a:latin typeface="+mn-ea"/>
              </a:rPr>
              <a:t>회수하고</a:t>
            </a:r>
            <a:r>
              <a:rPr lang="ko-KR" altLang="ko-KR" dirty="0">
                <a:latin typeface="+mn-ea"/>
              </a:rPr>
              <a:t>, 로그를 생성하는 </a:t>
            </a:r>
            <a:r>
              <a:rPr lang="ko-KR" altLang="en-US" dirty="0">
                <a:latin typeface="+mn-ea"/>
              </a:rPr>
              <a:t>메</a:t>
            </a:r>
            <a:r>
              <a:rPr lang="ko-KR" altLang="ko-KR" dirty="0">
                <a:latin typeface="+mn-ea"/>
              </a:rPr>
              <a:t>서드이다.</a:t>
            </a:r>
            <a:endParaRPr lang="en-US" altLang="ko-KR" dirty="0"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F88CF9-B05C-6A83-C073-44D7EAB5985F}"/>
              </a:ext>
            </a:extLst>
          </p:cNvPr>
          <p:cNvSpPr txBox="1"/>
          <p:nvPr/>
        </p:nvSpPr>
        <p:spPr>
          <a:xfrm>
            <a:off x="468922" y="2344087"/>
            <a:ext cx="8654296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sz="1500" dirty="0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@Override</a:t>
            </a:r>
            <a:br>
              <a:rPr lang="ko-KR" sz="1500" dirty="0">
                <a:solidFill>
                  <a:srgbClr val="9E880D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 err="1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public</a:t>
            </a:r>
            <a:r>
              <a:rPr lang="ko-KR" sz="1500" dirty="0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void</a:t>
            </a:r>
            <a:r>
              <a:rPr lang="ko-KR" sz="1500" dirty="0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solidFill>
                  <a:srgbClr val="00627A"/>
                </a:solidFill>
                <a:highlight>
                  <a:srgbClr val="FFFFFF"/>
                </a:highlight>
                <a:latin typeface="Consolas"/>
                <a:ea typeface="맑은 고딕"/>
              </a:rPr>
              <a:t>withdrawAtmCash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500" dirty="0" err="1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long</a:t>
            </a:r>
            <a:r>
              <a:rPr lang="ko-KR" sz="1500" dirty="0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amount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) { </a:t>
            </a:r>
            <a:br>
              <a:rPr lang="ko-KR" sz="1500" i="1" dirty="0">
                <a:solidFill>
                  <a:srgbClr val="8C8C8C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i="1" dirty="0">
                <a:solidFill>
                  <a:srgbClr val="8C8C8C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</a:t>
            </a:r>
            <a:r>
              <a:rPr lang="ko-KR" sz="1500" dirty="0" err="1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맑은 고딕"/>
              </a:rPr>
              <a:t>atmMachine</a:t>
            </a:r>
            <a:r>
              <a:rPr lang="ko-KR" sz="15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.withdrawCash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amount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);</a:t>
            </a:r>
            <a:b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</a:t>
            </a:r>
            <a:r>
              <a:rPr lang="ko-KR" sz="15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recordAdminLog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 </a:t>
            </a:r>
            <a:r>
              <a:rPr lang="ko-KR" sz="1500" dirty="0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맑은 고딕"/>
              </a:rPr>
              <a:t>"</a:t>
            </a:r>
            <a:r>
              <a:rPr lang="ko-KR" sz="1500" dirty="0">
                <a:solidFill>
                  <a:srgbClr val="067D17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현금회수</a:t>
            </a:r>
            <a:r>
              <a:rPr lang="ko-KR" sz="1500" dirty="0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맑은 고딕"/>
              </a:rPr>
              <a:t>"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,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amount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,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LocalDateTime</a:t>
            </a:r>
            <a:r>
              <a:rPr lang="ko-KR" sz="15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</a:t>
            </a:r>
            <a:r>
              <a:rPr lang="ko-KR" sz="1500" i="1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now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());</a:t>
            </a:r>
            <a:b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System</a:t>
            </a:r>
            <a:r>
              <a:rPr lang="ko-KR" sz="15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</a:t>
            </a:r>
            <a:r>
              <a:rPr lang="ko-KR" sz="1500" i="1" dirty="0" err="1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맑은 고딕"/>
              </a:rPr>
              <a:t>out</a:t>
            </a:r>
            <a:r>
              <a:rPr lang="ko-KR" sz="15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.println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500" dirty="0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맑은 고딕"/>
              </a:rPr>
              <a:t>"</a:t>
            </a:r>
            <a:r>
              <a:rPr lang="ko-KR" sz="1500" dirty="0">
                <a:solidFill>
                  <a:srgbClr val="067D17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현재</a:t>
            </a:r>
            <a:r>
              <a:rPr lang="ko-KR" sz="1500" dirty="0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맑은 고딕"/>
              </a:rPr>
              <a:t> ATM </a:t>
            </a:r>
            <a:r>
              <a:rPr lang="ko-KR" sz="1500" dirty="0" err="1">
                <a:solidFill>
                  <a:srgbClr val="067D17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총금액</a:t>
            </a:r>
            <a:r>
              <a:rPr lang="ko-KR" sz="1500" dirty="0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맑은 고딕"/>
              </a:rPr>
              <a:t> : " 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+ </a:t>
            </a:r>
            <a:r>
              <a:rPr lang="ko-KR" sz="1500" dirty="0" err="1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맑은 고딕"/>
              </a:rPr>
              <a:t>atmMachine</a:t>
            </a:r>
            <a:r>
              <a:rPr lang="ko-KR" sz="15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.getTotalCash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() + </a:t>
            </a:r>
            <a:r>
              <a:rPr lang="ko-KR" sz="1500" dirty="0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맑은 고딕"/>
              </a:rPr>
              <a:t>" </a:t>
            </a:r>
            <a:r>
              <a:rPr lang="ko-KR" sz="1500" dirty="0">
                <a:solidFill>
                  <a:srgbClr val="067D17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원</a:t>
            </a:r>
            <a:r>
              <a:rPr lang="ko-KR" sz="1500" dirty="0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맑은 고딕"/>
              </a:rPr>
              <a:t>"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);</a:t>
            </a:r>
            <a:b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}</a:t>
            </a:r>
            <a:endParaRPr lang="ko-KR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9923303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8A52-4474-D431-6742-818497849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0BC5627-DB43-6061-E07C-AE1C553C869A}"/>
              </a:ext>
            </a:extLst>
          </p:cNvPr>
          <p:cNvSpPr txBox="1"/>
          <p:nvPr/>
        </p:nvSpPr>
        <p:spPr>
          <a:xfrm>
            <a:off x="328246" y="377952"/>
            <a:ext cx="5043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ATM</a:t>
            </a:r>
            <a:r>
              <a:rPr lang="ko-KR" altLang="en-US" sz="3200" dirty="0"/>
              <a:t> 관리자 기능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631FB9-B229-3C90-5563-0F1468968478}"/>
              </a:ext>
            </a:extLst>
          </p:cNvPr>
          <p:cNvSpPr txBox="1"/>
          <p:nvPr/>
        </p:nvSpPr>
        <p:spPr>
          <a:xfrm>
            <a:off x="468922" y="945115"/>
            <a:ext cx="4352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DeunAdmin.java – </a:t>
            </a:r>
            <a:r>
              <a:rPr lang="en-US" altLang="ko-KR" dirty="0" err="1"/>
              <a:t>recordAdminLog</a:t>
            </a:r>
            <a:r>
              <a:rPr lang="en-US" altLang="ko-KR" dirty="0"/>
              <a:t>() 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9D887D-BD37-7A99-3DB7-F23673D13FB8}"/>
              </a:ext>
            </a:extLst>
          </p:cNvPr>
          <p:cNvSpPr txBox="1"/>
          <p:nvPr/>
        </p:nvSpPr>
        <p:spPr>
          <a:xfrm>
            <a:off x="5268191" y="4117170"/>
            <a:ext cx="6548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n-ea"/>
              </a:rPr>
              <a:t> </a:t>
            </a:r>
            <a:r>
              <a:rPr lang="ko-KR" altLang="ko-KR" dirty="0">
                <a:latin typeface="+mn-ea"/>
              </a:rPr>
              <a:t>ATM 객체 잔고에 현금을 추가하고 </a:t>
            </a:r>
            <a:r>
              <a:rPr lang="ko-KR" altLang="en-US" dirty="0">
                <a:latin typeface="+mn-ea"/>
              </a:rPr>
              <a:t>회수한 </a:t>
            </a:r>
            <a:r>
              <a:rPr lang="ko-KR" altLang="ko-KR" dirty="0">
                <a:latin typeface="+mn-ea"/>
              </a:rPr>
              <a:t>로그를 모두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ko-KR" dirty="0">
                <a:latin typeface="+mn-ea"/>
              </a:rPr>
              <a:t>생성하는 </a:t>
            </a:r>
            <a:r>
              <a:rPr lang="ko-KR" altLang="en-US" dirty="0">
                <a:latin typeface="+mn-ea"/>
              </a:rPr>
              <a:t>메</a:t>
            </a:r>
            <a:r>
              <a:rPr lang="ko-KR" altLang="ko-KR" dirty="0">
                <a:latin typeface="+mn-ea"/>
              </a:rPr>
              <a:t>서드이다.</a:t>
            </a:r>
            <a:endParaRPr lang="en-US" altLang="ko-KR" dirty="0"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596873-F09A-0FB7-5EEC-307074D22620}"/>
              </a:ext>
            </a:extLst>
          </p:cNvPr>
          <p:cNvSpPr txBox="1"/>
          <p:nvPr/>
        </p:nvSpPr>
        <p:spPr>
          <a:xfrm>
            <a:off x="328246" y="2690336"/>
            <a:ext cx="6457018" cy="12464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sz="1500" dirty="0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@Override</a:t>
            </a:r>
            <a:br>
              <a:rPr lang="ko-KR" sz="1500" dirty="0">
                <a:solidFill>
                  <a:srgbClr val="9E880D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 err="1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public</a:t>
            </a:r>
            <a:r>
              <a:rPr lang="ko-KR" sz="1500" dirty="0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void</a:t>
            </a:r>
            <a:r>
              <a:rPr lang="ko-KR" sz="1500" dirty="0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solidFill>
                  <a:srgbClr val="00627A"/>
                </a:solidFill>
                <a:highlight>
                  <a:srgbClr val="FFFFFF"/>
                </a:highlight>
                <a:latin typeface="Consolas"/>
                <a:ea typeface="맑은 고딕"/>
              </a:rPr>
              <a:t>recordAdminLog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String</a:t>
            </a:r>
            <a:r>
              <a:rPr lang="ko-KR" sz="1500" dirty="0"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type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, </a:t>
            </a:r>
            <a:r>
              <a:rPr lang="ko-KR" sz="1500" dirty="0" err="1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long</a:t>
            </a:r>
            <a:r>
              <a:rPr lang="ko-KR" sz="1500" dirty="0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amount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,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LocalDateTime</a:t>
            </a:r>
            <a:r>
              <a:rPr lang="ko-KR" sz="1500" dirty="0"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timestamp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) { </a:t>
            </a:r>
            <a:br>
              <a:rPr lang="ko-KR" sz="15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</a:rPr>
            </a:br>
            <a:r>
              <a:rPr lang="ko-KR" altLang="en-US" sz="1500" dirty="0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맑은 고딕"/>
              </a:rPr>
              <a:t> </a:t>
            </a:r>
            <a:r>
              <a:rPr lang="en-US" altLang="ko-KR" sz="1500" dirty="0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</a:t>
            </a:r>
            <a:r>
              <a:rPr lang="ko-KR" sz="1500" dirty="0" err="1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맑은 고딕"/>
              </a:rPr>
              <a:t>adminLogs</a:t>
            </a:r>
            <a:r>
              <a:rPr lang="ko-KR" sz="15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.add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500" dirty="0" err="1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new</a:t>
            </a:r>
            <a:r>
              <a:rPr lang="ko-KR" sz="1500" dirty="0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AdminLog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type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,</a:t>
            </a:r>
            <a:r>
              <a:rPr lang="en-US" alt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amount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,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timestamp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));</a:t>
            </a:r>
            <a:b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en-US" alt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}</a:t>
            </a:r>
            <a:endParaRPr lang="ko-KR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12148735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950C9-C7C3-80E9-8E46-535ECECAE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0C11C12-6866-FE66-0070-797FB6E6A3BE}"/>
              </a:ext>
            </a:extLst>
          </p:cNvPr>
          <p:cNvSpPr txBox="1"/>
          <p:nvPr/>
        </p:nvSpPr>
        <p:spPr>
          <a:xfrm>
            <a:off x="328246" y="377952"/>
            <a:ext cx="5043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ATM</a:t>
            </a:r>
            <a:r>
              <a:rPr lang="ko-KR" altLang="en-US" sz="3200" dirty="0"/>
              <a:t> 관리자 기능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CAEFCE-E1E0-9875-E5E9-5CFE9DFBB9B6}"/>
              </a:ext>
            </a:extLst>
          </p:cNvPr>
          <p:cNvSpPr txBox="1"/>
          <p:nvPr/>
        </p:nvSpPr>
        <p:spPr>
          <a:xfrm>
            <a:off x="468922" y="945115"/>
            <a:ext cx="5043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DeunAdmin.java – </a:t>
            </a:r>
            <a:r>
              <a:rPr lang="en-US" altLang="ko-KR" dirty="0" err="1"/>
              <a:t>viewAllTransactionLogs</a:t>
            </a:r>
            <a:r>
              <a:rPr lang="en-US" altLang="ko-KR" dirty="0"/>
              <a:t>() 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851523-16F4-7A79-ADDC-EEED0B972554}"/>
              </a:ext>
            </a:extLst>
          </p:cNvPr>
          <p:cNvSpPr txBox="1"/>
          <p:nvPr/>
        </p:nvSpPr>
        <p:spPr>
          <a:xfrm>
            <a:off x="347008" y="5174218"/>
            <a:ext cx="5627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n-ea"/>
              </a:rPr>
              <a:t>거래 내역의 거래 시간, 거래 메시지 (내용)</a:t>
            </a:r>
            <a:r>
              <a:rPr lang="ko-KR" altLang="en-US" dirty="0" err="1">
                <a:latin typeface="+mn-ea"/>
              </a:rPr>
              <a:t>를보여주는</a:t>
            </a:r>
            <a:r>
              <a:rPr lang="ko-KR" altLang="en-US" dirty="0">
                <a:latin typeface="+mn-ea"/>
              </a:rPr>
              <a:t> 메서드이다.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E6C0C4-91D5-1ADE-994D-583E73C1F96F}"/>
              </a:ext>
            </a:extLst>
          </p:cNvPr>
          <p:cNvSpPr txBox="1"/>
          <p:nvPr/>
        </p:nvSpPr>
        <p:spPr>
          <a:xfrm>
            <a:off x="468922" y="1674672"/>
            <a:ext cx="5246078" cy="31393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sz="1500" dirty="0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@Override</a:t>
            </a:r>
            <a:br>
              <a:rPr lang="ko-KR" sz="1500" dirty="0">
                <a:solidFill>
                  <a:srgbClr val="9E880D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 err="1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public</a:t>
            </a:r>
            <a:r>
              <a:rPr lang="ko-KR" sz="1500" dirty="0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List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&lt;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String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&gt; </a:t>
            </a:r>
            <a:r>
              <a:rPr lang="ko-KR" sz="1500" dirty="0" err="1">
                <a:solidFill>
                  <a:srgbClr val="00627A"/>
                </a:solidFill>
                <a:highlight>
                  <a:srgbClr val="FFFFFF"/>
                </a:highlight>
                <a:latin typeface="Consolas"/>
                <a:ea typeface="맑은 고딕"/>
              </a:rPr>
              <a:t>viewAllTransactionLogs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() {</a:t>
            </a:r>
            <a:b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</a:t>
            </a:r>
            <a:r>
              <a:rPr lang="ko-KR" sz="1500" i="1" dirty="0">
                <a:solidFill>
                  <a:srgbClr val="8C8C8C"/>
                </a:solidFill>
                <a:highlight>
                  <a:srgbClr val="FFFFFF"/>
                </a:highlight>
                <a:latin typeface="Consolas"/>
                <a:ea typeface="맑은 고딕"/>
              </a:rPr>
              <a:t>// </a:t>
            </a:r>
            <a:r>
              <a:rPr lang="ko-KR" sz="15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정렬을 위해 시간과 메시지를 묶어주는 내부 클래스</a:t>
            </a:r>
            <a:br>
              <a:rPr lang="ko-KR" sz="15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</a:rPr>
            </a:br>
            <a:r>
              <a:rPr lang="ko-KR" sz="15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    </a:t>
            </a:r>
            <a:r>
              <a:rPr lang="ko-KR" sz="1500" dirty="0" err="1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class</a:t>
            </a:r>
            <a:r>
              <a:rPr lang="ko-KR" sz="1500" dirty="0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LogEntry</a:t>
            </a:r>
            <a:r>
              <a:rPr lang="ko-KR" sz="1500" dirty="0"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{</a:t>
            </a:r>
            <a:b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   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LocalDateTime</a:t>
            </a:r>
            <a:r>
              <a:rPr lang="ko-KR" sz="1500" dirty="0"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맑은 고딕"/>
              </a:rPr>
              <a:t>time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;</a:t>
            </a:r>
            <a:b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   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String</a:t>
            </a:r>
            <a:r>
              <a:rPr lang="ko-KR" sz="1500" dirty="0"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맑은 고딕"/>
              </a:rPr>
              <a:t>logMessage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;</a:t>
            </a:r>
            <a:b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    </a:t>
            </a:r>
            <a:r>
              <a:rPr lang="ko-KR" sz="1500" dirty="0" err="1">
                <a:solidFill>
                  <a:srgbClr val="00627A"/>
                </a:solidFill>
                <a:highlight>
                  <a:srgbClr val="FFFFFF"/>
                </a:highlight>
                <a:latin typeface="Consolas"/>
                <a:ea typeface="맑은 고딕"/>
              </a:rPr>
              <a:t>LogEntry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LocalDateTime</a:t>
            </a:r>
            <a:r>
              <a:rPr lang="ko-KR" sz="1500" dirty="0"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time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,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String</a:t>
            </a:r>
            <a:r>
              <a:rPr lang="ko-KR" sz="1500" dirty="0"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logMessage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) {</a:t>
            </a:r>
            <a:b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        </a:t>
            </a:r>
            <a:r>
              <a:rPr lang="ko-KR" sz="1500" dirty="0" err="1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this</a:t>
            </a:r>
            <a:r>
              <a:rPr lang="ko-KR" sz="15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</a:t>
            </a:r>
            <a:r>
              <a:rPr lang="ko-KR" sz="1500" dirty="0" err="1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맑은 고딕"/>
              </a:rPr>
              <a:t>time</a:t>
            </a:r>
            <a:r>
              <a:rPr lang="ko-KR" sz="1500" dirty="0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=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time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;</a:t>
            </a:r>
            <a:b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        </a:t>
            </a:r>
            <a:r>
              <a:rPr lang="ko-KR" sz="1500" dirty="0" err="1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this</a:t>
            </a:r>
            <a:r>
              <a:rPr lang="ko-KR" sz="15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</a:t>
            </a:r>
            <a:r>
              <a:rPr lang="ko-KR" sz="1500" dirty="0" err="1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맑은 고딕"/>
              </a:rPr>
              <a:t>logMessage</a:t>
            </a:r>
            <a:r>
              <a:rPr lang="ko-KR" sz="1500" dirty="0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=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logMessage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;</a:t>
            </a:r>
            <a:b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    }</a:t>
            </a:r>
            <a:b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}</a:t>
            </a:r>
            <a:endParaRPr lang="ko-KR" dirty="0">
              <a:ea typeface="맑은 고딕"/>
            </a:endParaRPr>
          </a:p>
          <a:p>
            <a:pPr algn="l"/>
            <a:endParaRPr lang="ko-KR" altLang="en-US" dirty="0"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C46110-9D9E-5DD9-5B6F-A0E72E3C8EFD}"/>
              </a:ext>
            </a:extLst>
          </p:cNvPr>
          <p:cNvSpPr txBox="1"/>
          <p:nvPr/>
        </p:nvSpPr>
        <p:spPr>
          <a:xfrm>
            <a:off x="6679226" y="340268"/>
            <a:ext cx="5165766" cy="62940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List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&lt;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LogEntry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&gt; 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entries</a:t>
            </a:r>
            <a:r>
              <a:rPr lang="ko-KR" sz="1300" dirty="0"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= </a:t>
            </a:r>
            <a:r>
              <a:rPr lang="ko-KR" sz="1300" dirty="0" err="1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new</a:t>
            </a:r>
            <a:r>
              <a:rPr lang="ko-KR" sz="1300" dirty="0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3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ArrayList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&lt;&gt;();</a:t>
            </a:r>
            <a:b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b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</a:t>
            </a: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Consolas"/>
                <a:ea typeface="맑은 고딕"/>
              </a:rPr>
              <a:t>// </a:t>
            </a: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모든 계좌를 순회하며 거래 내역 수집</a:t>
            </a:r>
            <a:b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</a:rPr>
            </a:b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    </a:t>
            </a:r>
            <a:r>
              <a:rPr lang="ko-KR" sz="1300" dirty="0" err="1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for</a:t>
            </a:r>
            <a:r>
              <a:rPr lang="ko-KR" sz="1300" dirty="0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Account</a:t>
            </a:r>
            <a:r>
              <a:rPr lang="ko-KR" sz="1300" dirty="0"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account</a:t>
            </a:r>
            <a:r>
              <a:rPr lang="ko-KR" sz="1300" dirty="0"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: </a:t>
            </a:r>
            <a:r>
              <a:rPr lang="ko-KR" sz="1300" dirty="0" err="1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this</a:t>
            </a:r>
            <a:r>
              <a:rPr lang="ko-KR" sz="13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</a:t>
            </a:r>
            <a:r>
              <a:rPr lang="ko-KR" sz="1300" dirty="0" err="1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맑은 고딕"/>
              </a:rPr>
              <a:t>accounts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) {</a:t>
            </a:r>
            <a:b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    </a:t>
            </a:r>
            <a:r>
              <a:rPr lang="ko-KR" sz="1300" dirty="0" err="1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for</a:t>
            </a:r>
            <a:r>
              <a:rPr lang="ko-KR" sz="1300" dirty="0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TransactionLog</a:t>
            </a:r>
            <a:r>
              <a:rPr lang="ko-KR" sz="1300" dirty="0"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log</a:t>
            </a:r>
            <a:r>
              <a:rPr lang="ko-KR" sz="1300" dirty="0"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: 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account</a:t>
            </a:r>
            <a:r>
              <a:rPr lang="ko-KR" sz="13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.getAccountRecord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()) {</a:t>
            </a:r>
            <a:b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        </a:t>
            </a: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Consolas"/>
                <a:ea typeface="맑은 고딕"/>
              </a:rPr>
              <a:t>// </a:t>
            </a: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기존 서비스의 포맷 기능을 사용하여 로그 문자열 생성</a:t>
            </a:r>
            <a:b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</a:rPr>
            </a:b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            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String</a:t>
            </a:r>
            <a:r>
              <a:rPr lang="ko-KR" sz="1300" dirty="0"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formattedLog</a:t>
            </a:r>
            <a:r>
              <a:rPr lang="ko-KR" sz="1300" dirty="0"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= </a:t>
            </a:r>
            <a:r>
              <a:rPr lang="ko-KR" sz="1300" dirty="0" err="1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맑은 고딕"/>
              </a:rPr>
              <a:t>transactionBalanceService</a:t>
            </a:r>
            <a:r>
              <a:rPr lang="ko-KR" sz="13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.formatHistory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log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);</a:t>
            </a:r>
            <a:b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        </a:t>
            </a: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Consolas"/>
                <a:ea typeface="맑은 고딕"/>
              </a:rPr>
              <a:t>// </a:t>
            </a: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관리자용으로</a:t>
            </a: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Consolas"/>
                <a:ea typeface="맑은 고딕"/>
              </a:rPr>
              <a:t> [</a:t>
            </a: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이름</a:t>
            </a: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계좌번호</a:t>
            </a: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Consolas"/>
                <a:ea typeface="맑은 고딕"/>
              </a:rPr>
              <a:t>)] </a:t>
            </a: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정보를 앞에 추가</a:t>
            </a:r>
            <a:b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</a:rPr>
            </a:b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            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String</a:t>
            </a:r>
            <a:r>
              <a:rPr lang="ko-KR" sz="1300" dirty="0"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adminViewLog</a:t>
            </a:r>
            <a:r>
              <a:rPr lang="ko-KR" sz="1300" dirty="0"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= 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String</a:t>
            </a:r>
            <a:r>
              <a:rPr lang="ko-KR" sz="13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</a:t>
            </a:r>
            <a:r>
              <a:rPr lang="ko-KR" sz="1300" i="1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format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300" dirty="0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맑은 고딕"/>
              </a:rPr>
              <a:t>"[%</a:t>
            </a:r>
            <a:r>
              <a:rPr lang="ko-KR" sz="1300" dirty="0" err="1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맑은 고딕"/>
              </a:rPr>
              <a:t>s</a:t>
            </a:r>
            <a:r>
              <a:rPr lang="ko-KR" sz="1300" dirty="0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맑은 고딕"/>
              </a:rPr>
              <a:t>(%</a:t>
            </a:r>
            <a:r>
              <a:rPr lang="ko-KR" sz="1300" dirty="0" err="1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맑은 고딕"/>
              </a:rPr>
              <a:t>s</a:t>
            </a:r>
            <a:r>
              <a:rPr lang="ko-KR" sz="1300" dirty="0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맑은 고딕"/>
              </a:rPr>
              <a:t>)] %</a:t>
            </a:r>
            <a:r>
              <a:rPr lang="ko-KR" sz="1300" dirty="0" err="1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맑은 고딕"/>
              </a:rPr>
              <a:t>s</a:t>
            </a:r>
            <a:r>
              <a:rPr lang="ko-KR" sz="1300" dirty="0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맑은 고딕"/>
              </a:rPr>
              <a:t>"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, 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account</a:t>
            </a:r>
            <a:r>
              <a:rPr lang="ko-KR" sz="13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.getOwnerName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(), 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account</a:t>
            </a:r>
            <a:r>
              <a:rPr lang="ko-KR" sz="13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.getAccountNo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(), 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formattedLog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);</a:t>
            </a:r>
            <a:b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        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entries</a:t>
            </a:r>
            <a:r>
              <a:rPr lang="ko-KR" sz="13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.add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300" dirty="0" err="1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new</a:t>
            </a:r>
            <a:r>
              <a:rPr lang="ko-KR" sz="1300" dirty="0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3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LogEntry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log</a:t>
            </a:r>
            <a:r>
              <a:rPr lang="ko-KR" sz="13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.getTimestamp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(), 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adminViewLog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));</a:t>
            </a:r>
            <a:b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    }</a:t>
            </a:r>
            <a:b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}</a:t>
            </a:r>
            <a:b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b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</a:t>
            </a: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Consolas"/>
                <a:ea typeface="맑은 고딕"/>
              </a:rPr>
              <a:t>// </a:t>
            </a: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모든 거래 내역을 시간순</a:t>
            </a: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오름차순</a:t>
            </a: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Consolas"/>
                <a:ea typeface="맑은 고딕"/>
              </a:rPr>
              <a:t>)</a:t>
            </a:r>
            <a:r>
              <a:rPr lang="ko-KR" sz="1300" i="1" dirty="0" err="1">
                <a:solidFill>
                  <a:srgbClr val="8C8C8C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으로</a:t>
            </a: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 정렬</a:t>
            </a:r>
            <a:b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</a:rPr>
            </a:b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    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entries</a:t>
            </a:r>
            <a:r>
              <a:rPr lang="ko-KR" sz="13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.sort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Comparator</a:t>
            </a:r>
            <a:r>
              <a:rPr lang="ko-KR" sz="13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</a:t>
            </a:r>
            <a:r>
              <a:rPr lang="ko-KR" sz="1300" i="1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comparing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e</a:t>
            </a:r>
            <a:r>
              <a:rPr lang="ko-KR" sz="1300" dirty="0"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-&gt; 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e</a:t>
            </a:r>
            <a:r>
              <a:rPr lang="ko-KR" sz="13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</a:t>
            </a:r>
            <a:r>
              <a:rPr lang="ko-KR" sz="1300" dirty="0" err="1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맑은 고딕"/>
              </a:rPr>
              <a:t>time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));</a:t>
            </a:r>
            <a:b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b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</a:t>
            </a: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Consolas"/>
                <a:ea typeface="맑은 고딕"/>
              </a:rPr>
              <a:t>// </a:t>
            </a: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정렬된 결과에서 메시지만 추출하여 리스트로 반환</a:t>
            </a:r>
            <a:b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</a:rPr>
            </a:br>
            <a:r>
              <a:rPr lang="ko-KR" sz="13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    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List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&lt;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String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&gt; 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allLogs</a:t>
            </a:r>
            <a:r>
              <a:rPr lang="ko-KR" sz="1300" dirty="0"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= </a:t>
            </a:r>
            <a:r>
              <a:rPr lang="ko-KR" sz="1300" dirty="0" err="1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new</a:t>
            </a:r>
            <a:r>
              <a:rPr lang="ko-KR" sz="1300" dirty="0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3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ArrayList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&lt;&gt;();</a:t>
            </a:r>
            <a:b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</a:t>
            </a:r>
            <a:r>
              <a:rPr lang="ko-KR" sz="1300" dirty="0" err="1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for</a:t>
            </a:r>
            <a:r>
              <a:rPr lang="ko-KR" sz="1300" dirty="0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LogEntry</a:t>
            </a:r>
            <a:r>
              <a:rPr lang="ko-KR" sz="1300" dirty="0"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e</a:t>
            </a:r>
            <a:r>
              <a:rPr lang="ko-KR" sz="1300" dirty="0"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: 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entries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){</a:t>
            </a:r>
            <a:b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    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allLogs</a:t>
            </a:r>
            <a:r>
              <a:rPr lang="ko-KR" sz="13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.add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e</a:t>
            </a:r>
            <a:r>
              <a:rPr lang="ko-KR" sz="13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</a:t>
            </a:r>
            <a:r>
              <a:rPr lang="ko-KR" sz="1300" dirty="0" err="1">
                <a:solidFill>
                  <a:srgbClr val="871094"/>
                </a:solidFill>
                <a:highlight>
                  <a:srgbClr val="FFFFFF"/>
                </a:highlight>
                <a:latin typeface="Consolas"/>
                <a:ea typeface="맑은 고딕"/>
              </a:rPr>
              <a:t>logMessage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);</a:t>
            </a:r>
            <a:b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}</a:t>
            </a:r>
            <a:b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</a:t>
            </a:r>
            <a:r>
              <a:rPr lang="ko-KR" sz="1300" dirty="0" err="1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return</a:t>
            </a:r>
            <a:r>
              <a:rPr lang="ko-KR" sz="1300" dirty="0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300" dirty="0" err="1">
                <a:highlight>
                  <a:srgbClr val="FFFFFF"/>
                </a:highlight>
                <a:latin typeface="Consolas"/>
                <a:ea typeface="맑은 고딕"/>
              </a:rPr>
              <a:t>allLogs</a:t>
            </a: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;</a:t>
            </a:r>
            <a:b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3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}</a:t>
            </a:r>
            <a:endParaRPr lang="ko-KR" sz="1300" dirty="0">
              <a:ea typeface="맑은 고딕"/>
            </a:endParaRPr>
          </a:p>
          <a:p>
            <a:pPr algn="l"/>
            <a:endParaRPr lang="ko-KR" altLang="en-US" sz="1300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54728273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A6D97-B20A-FD8C-ED6A-D917994C4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E87ADA0-1B13-CC24-2C27-8671773220DA}"/>
              </a:ext>
            </a:extLst>
          </p:cNvPr>
          <p:cNvSpPr txBox="1"/>
          <p:nvPr/>
        </p:nvSpPr>
        <p:spPr>
          <a:xfrm>
            <a:off x="328246" y="377952"/>
            <a:ext cx="50438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주요 기능 </a:t>
            </a:r>
            <a:r>
              <a:rPr lang="en-US" altLang="ko-KR" sz="3200" dirty="0"/>
              <a:t>– ATM</a:t>
            </a:r>
            <a:r>
              <a:rPr lang="ko-KR" altLang="en-US" sz="3200" dirty="0"/>
              <a:t> 관리자 기능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419695-E2EF-A362-2933-DF9959773389}"/>
              </a:ext>
            </a:extLst>
          </p:cNvPr>
          <p:cNvSpPr txBox="1"/>
          <p:nvPr/>
        </p:nvSpPr>
        <p:spPr>
          <a:xfrm>
            <a:off x="468922" y="945115"/>
            <a:ext cx="4352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DeunAdmin.java – </a:t>
            </a:r>
            <a:r>
              <a:rPr lang="en-US" altLang="ko-KR" dirty="0" err="1"/>
              <a:t>adminLogin</a:t>
            </a:r>
            <a:r>
              <a:rPr lang="en-US" altLang="ko-KR" dirty="0"/>
              <a:t>() 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272A6E-D749-5B62-35DE-2C40C6B252FB}"/>
              </a:ext>
            </a:extLst>
          </p:cNvPr>
          <p:cNvSpPr txBox="1"/>
          <p:nvPr/>
        </p:nvSpPr>
        <p:spPr>
          <a:xfrm>
            <a:off x="6691746" y="2205587"/>
            <a:ext cx="493781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n-ea"/>
              </a:rPr>
              <a:t>관리자 전용 모드로 접근하려면 관리자 로그인을 해야 한다</a:t>
            </a:r>
            <a:r>
              <a:rPr lang="en-US" altLang="ko-KR" dirty="0">
                <a:latin typeface="+mn-ea"/>
              </a:rPr>
              <a:t>.</a:t>
            </a:r>
            <a:br>
              <a:rPr lang="ko-KR" altLang="en-US" dirty="0">
                <a:latin typeface="+mn-ea"/>
              </a:rPr>
            </a:br>
            <a:endParaRPr lang="ko-KR" altLang="en-US" dirty="0">
              <a:latin typeface="+mn-ea"/>
            </a:endParaRPr>
          </a:p>
          <a:p>
            <a:endParaRPr lang="ko-KR" altLang="en-US" dirty="0">
              <a:latin typeface="+mn-ea"/>
            </a:endParaRPr>
          </a:p>
          <a:p>
            <a:r>
              <a:rPr lang="ko-KR" altLang="en-US" dirty="0" err="1">
                <a:latin typeface="+mn-ea"/>
              </a:rPr>
              <a:t>adminPassword의</a:t>
            </a:r>
            <a:r>
              <a:rPr lang="ko-KR" altLang="en-US" dirty="0">
                <a:latin typeface="+mn-ea"/>
              </a:rPr>
              <a:t> 값을 .</a:t>
            </a:r>
            <a:r>
              <a:rPr lang="ko-KR" altLang="en-US" dirty="0" err="1">
                <a:latin typeface="+mn-ea"/>
              </a:rPr>
              <a:t>equals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 err="1">
                <a:latin typeface="+mn-ea"/>
              </a:rPr>
              <a:t>를</a:t>
            </a:r>
            <a:r>
              <a:rPr lang="ko-KR" altLang="en-US" dirty="0">
                <a:latin typeface="+mn-ea"/>
              </a:rPr>
              <a:t> 통해 (</a:t>
            </a:r>
            <a:r>
              <a:rPr lang="ko-KR" altLang="en-US" dirty="0" err="1">
                <a:latin typeface="+mn-ea"/>
              </a:rPr>
              <a:t>password</a:t>
            </a:r>
            <a:r>
              <a:rPr lang="ko-KR" altLang="en-US" dirty="0">
                <a:latin typeface="+mn-ea"/>
              </a:rPr>
              <a:t>) 의 값과 동일한지 확인한다</a:t>
            </a:r>
            <a:r>
              <a:rPr lang="en-US" altLang="ko-KR" dirty="0">
                <a:latin typeface="+mn-ea"/>
              </a:rPr>
              <a:t>.</a:t>
            </a:r>
            <a:endParaRPr lang="ko-KR" altLang="en-US" dirty="0">
              <a:latin typeface="+mn-ea"/>
            </a:endParaRPr>
          </a:p>
          <a:p>
            <a:endParaRPr lang="ko-KR" altLang="en-US" dirty="0">
              <a:latin typeface="+mn-ea"/>
            </a:endParaRPr>
          </a:p>
          <a:p>
            <a:endParaRPr lang="ko-KR" altLang="en-US" dirty="0">
              <a:latin typeface="+mn-ea"/>
            </a:endParaRPr>
          </a:p>
          <a:p>
            <a:r>
              <a:rPr lang="ko-KR" altLang="en-US" dirty="0" err="1">
                <a:latin typeface="+mn-ea"/>
              </a:rPr>
              <a:t>Boolean</a:t>
            </a:r>
            <a:r>
              <a:rPr lang="ko-KR" altLang="en-US" dirty="0">
                <a:latin typeface="+mn-ea"/>
              </a:rPr>
              <a:t> 을 통해 </a:t>
            </a:r>
            <a:r>
              <a:rPr lang="ko-KR" altLang="en-US" dirty="0" err="1">
                <a:latin typeface="+mn-ea"/>
              </a:rPr>
              <a:t>true</a:t>
            </a:r>
            <a:r>
              <a:rPr lang="ko-KR" altLang="en-US" dirty="0">
                <a:latin typeface="+mn-ea"/>
              </a:rPr>
              <a:t> / </a:t>
            </a:r>
            <a:r>
              <a:rPr lang="ko-KR" altLang="en-US" dirty="0" err="1">
                <a:latin typeface="+mn-ea"/>
              </a:rPr>
              <a:t>false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 err="1">
                <a:latin typeface="+mn-ea"/>
              </a:rPr>
              <a:t>를</a:t>
            </a:r>
            <a:r>
              <a:rPr lang="ko-KR" altLang="en-US" dirty="0">
                <a:latin typeface="+mn-ea"/>
              </a:rPr>
              <a:t> 통해 로그인 성공 / 실패 여부를 판단한다</a:t>
            </a:r>
            <a:r>
              <a:rPr lang="en-US" altLang="ko-KR" dirty="0">
                <a:latin typeface="+mn-ea"/>
              </a:rPr>
              <a:t>.</a:t>
            </a:r>
            <a:endParaRPr lang="ko-KR" altLang="ko-KR" dirty="0"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44E962-FAC2-7A9A-EFE9-A57CC59652E3}"/>
              </a:ext>
            </a:extLst>
          </p:cNvPr>
          <p:cNvSpPr txBox="1"/>
          <p:nvPr/>
        </p:nvSpPr>
        <p:spPr>
          <a:xfrm>
            <a:off x="468922" y="2159420"/>
            <a:ext cx="5244935" cy="26314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sz="1500" dirty="0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@Override</a:t>
            </a:r>
            <a:br>
              <a:rPr lang="ko-KR" sz="1500" dirty="0">
                <a:solidFill>
                  <a:srgbClr val="9E880D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 err="1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public</a:t>
            </a:r>
            <a:r>
              <a:rPr lang="ko-KR" sz="1500" dirty="0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boolean</a:t>
            </a:r>
            <a:r>
              <a:rPr lang="ko-KR" sz="1500" dirty="0">
                <a:solidFill>
                  <a:srgbClr val="9E880D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solidFill>
                  <a:srgbClr val="00627A"/>
                </a:solidFill>
                <a:highlight>
                  <a:srgbClr val="FFFFFF"/>
                </a:highlight>
                <a:latin typeface="Consolas"/>
                <a:ea typeface="맑은 고딕"/>
              </a:rPr>
              <a:t>adminLogin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String</a:t>
            </a:r>
            <a:r>
              <a:rPr lang="ko-KR" sz="1500" dirty="0"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adminPassword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) {   </a:t>
            </a:r>
            <a:r>
              <a:rPr lang="ko-KR" sz="1500" i="1" dirty="0">
                <a:solidFill>
                  <a:srgbClr val="8C8C8C"/>
                </a:solidFill>
                <a:highlight>
                  <a:srgbClr val="FFFFFF"/>
                </a:highlight>
                <a:latin typeface="Consolas"/>
                <a:ea typeface="맑은 고딕"/>
              </a:rPr>
              <a:t>// </a:t>
            </a:r>
            <a:r>
              <a:rPr lang="ko-KR" sz="15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관리자 로그인</a:t>
            </a:r>
            <a:r>
              <a:rPr lang="ko-KR" sz="1500" i="1" dirty="0">
                <a:solidFill>
                  <a:srgbClr val="8C8C8C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br>
              <a:rPr lang="ko-KR" sz="1500" i="1" dirty="0">
                <a:solidFill>
                  <a:srgbClr val="8C8C8C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i="1" dirty="0">
                <a:solidFill>
                  <a:srgbClr val="8C8C8C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// </a:t>
            </a:r>
            <a:r>
              <a:rPr lang="ko-KR" sz="15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비번은</a:t>
            </a:r>
            <a:r>
              <a:rPr lang="ko-KR" sz="1500" i="1" dirty="0">
                <a:solidFill>
                  <a:srgbClr val="8C8C8C"/>
                </a:solidFill>
                <a:highlight>
                  <a:srgbClr val="FFFFFF"/>
                </a:highlight>
                <a:latin typeface="Consolas"/>
                <a:ea typeface="맑은 고딕"/>
              </a:rPr>
              <a:t> 1234 </a:t>
            </a:r>
            <a:r>
              <a:rPr lang="ko-KR" sz="15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임</a:t>
            </a:r>
            <a:br>
              <a:rPr lang="ko-KR" sz="15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</a:rPr>
            </a:br>
            <a:r>
              <a:rPr lang="ko-KR" sz="1500" i="1" dirty="0">
                <a:solidFill>
                  <a:srgbClr val="8C8C8C"/>
                </a:solidFill>
                <a:highlight>
                  <a:srgbClr val="FFFFFF"/>
                </a:highlight>
                <a:latin typeface="Menlo-Regular"/>
                <a:ea typeface="맑은 고딕"/>
              </a:rPr>
              <a:t>   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String</a:t>
            </a:r>
            <a:r>
              <a:rPr lang="ko-KR" sz="1500" dirty="0"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password</a:t>
            </a:r>
            <a:r>
              <a:rPr lang="ko-KR" sz="1500" dirty="0"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= </a:t>
            </a:r>
            <a:r>
              <a:rPr lang="ko-KR" sz="1500" dirty="0">
                <a:solidFill>
                  <a:srgbClr val="067D17"/>
                </a:solidFill>
                <a:highlight>
                  <a:srgbClr val="FFFFFF"/>
                </a:highlight>
                <a:latin typeface="Consolas"/>
                <a:ea typeface="맑은 고딕"/>
              </a:rPr>
              <a:t>"1234"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;</a:t>
            </a:r>
            <a:b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</a:t>
            </a:r>
            <a:r>
              <a:rPr lang="ko-KR" sz="1500" dirty="0" err="1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if</a:t>
            </a:r>
            <a:r>
              <a:rPr lang="ko-KR" sz="1500" dirty="0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adminPassword</a:t>
            </a:r>
            <a:r>
              <a:rPr lang="ko-KR" sz="1500" dirty="0" err="1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.equals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(</a:t>
            </a:r>
            <a:r>
              <a:rPr lang="ko-KR" sz="1500" dirty="0" err="1">
                <a:highlight>
                  <a:srgbClr val="FFFFFF"/>
                </a:highlight>
                <a:latin typeface="Consolas"/>
                <a:ea typeface="맑은 고딕"/>
              </a:rPr>
              <a:t>password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)){</a:t>
            </a:r>
            <a:b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    </a:t>
            </a:r>
            <a:r>
              <a:rPr lang="ko-KR" sz="1500" dirty="0" err="1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return</a:t>
            </a:r>
            <a:r>
              <a:rPr lang="ko-KR" sz="1500" dirty="0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true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;</a:t>
            </a:r>
            <a:b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} </a:t>
            </a:r>
            <a:r>
              <a:rPr lang="ko-KR" sz="1500" dirty="0" err="1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else</a:t>
            </a:r>
            <a:r>
              <a:rPr lang="ko-KR" sz="1500" dirty="0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{</a:t>
            </a:r>
            <a:b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    </a:t>
            </a:r>
            <a:r>
              <a:rPr lang="ko-KR" sz="1500" dirty="0" err="1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return</a:t>
            </a:r>
            <a:r>
              <a:rPr lang="ko-KR" sz="1500" dirty="0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 </a:t>
            </a:r>
            <a:r>
              <a:rPr lang="ko-KR" sz="1500" dirty="0" err="1">
                <a:solidFill>
                  <a:srgbClr val="0033B3"/>
                </a:solidFill>
                <a:highlight>
                  <a:srgbClr val="FFFFFF"/>
                </a:highlight>
                <a:latin typeface="Consolas"/>
                <a:ea typeface="맑은 고딕"/>
              </a:rPr>
              <a:t>false</a:t>
            </a: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;</a:t>
            </a:r>
            <a:b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    }</a:t>
            </a:r>
            <a:b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</a:rPr>
            </a:br>
            <a:r>
              <a:rPr lang="ko-KR" sz="1500" dirty="0">
                <a:solidFill>
                  <a:srgbClr val="080808"/>
                </a:solidFill>
                <a:highlight>
                  <a:srgbClr val="FFFFFF"/>
                </a:highlight>
                <a:latin typeface="Consolas"/>
                <a:ea typeface="맑은 고딕"/>
              </a:rPr>
              <a:t>}</a:t>
            </a:r>
            <a:endParaRPr lang="ko-KR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18646870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13B2A-1DB5-2016-C045-8235E1283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73143FD1-C3AC-0A5B-EC9C-CBDBCA409908}"/>
              </a:ext>
            </a:extLst>
          </p:cNvPr>
          <p:cNvSpPr txBox="1"/>
          <p:nvPr/>
        </p:nvSpPr>
        <p:spPr>
          <a:xfrm>
            <a:off x="2443275" y="1997839"/>
            <a:ext cx="73054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8000" dirty="0">
                <a:latin typeface="+mj-lt"/>
              </a:rPr>
              <a:t>시연</a:t>
            </a:r>
          </a:p>
        </p:txBody>
      </p:sp>
    </p:spTree>
    <p:extLst>
      <p:ext uri="{BB962C8B-B14F-4D97-AF65-F5344CB8AC3E}">
        <p14:creationId xmlns:p14="http://schemas.microsoft.com/office/powerpoint/2010/main" val="308897485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C25F6-BB1C-0465-ADC9-4B0F43339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4BA6D4D9-76FE-F112-08A5-998A4169A82D}"/>
              </a:ext>
            </a:extLst>
          </p:cNvPr>
          <p:cNvSpPr txBox="1"/>
          <p:nvPr/>
        </p:nvSpPr>
        <p:spPr>
          <a:xfrm>
            <a:off x="328246" y="377952"/>
            <a:ext cx="48919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+mj-lt"/>
              </a:rPr>
              <a:t>후기 </a:t>
            </a:r>
            <a:r>
              <a:rPr lang="en-US" altLang="ko-KR" sz="3200" dirty="0">
                <a:latin typeface="+mj-lt"/>
              </a:rPr>
              <a:t>– </a:t>
            </a:r>
            <a:r>
              <a:rPr lang="ko-KR" altLang="en-US" sz="3200" dirty="0">
                <a:latin typeface="+mj-lt"/>
              </a:rPr>
              <a:t>객체지향적 설계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BE46B6-1322-BD82-525F-1B7096EFA48B}"/>
              </a:ext>
            </a:extLst>
          </p:cNvPr>
          <p:cNvSpPr txBox="1"/>
          <p:nvPr/>
        </p:nvSpPr>
        <p:spPr>
          <a:xfrm>
            <a:off x="468922" y="1881610"/>
            <a:ext cx="1132476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 dirty="0">
                <a:solidFill>
                  <a:srgbClr val="000000"/>
                </a:solidFill>
                <a:latin typeface="+mn-ea"/>
                <a:cs typeface="+mn-lt"/>
              </a:rPr>
              <a:t>공통 기능을 인터페이스로 분리하고</a:t>
            </a:r>
            <a:r>
              <a:rPr lang="ko-KR" altLang="ko-KR" sz="2800" dirty="0">
                <a:solidFill>
                  <a:srgbClr val="000000"/>
                </a:solidFill>
                <a:latin typeface="+mn-ea"/>
                <a:cs typeface="+mn-lt"/>
              </a:rPr>
              <a:t>, </a:t>
            </a:r>
            <a:r>
              <a:rPr lang="ko-KR" altLang="en-US" sz="2800" dirty="0">
                <a:solidFill>
                  <a:srgbClr val="000000"/>
                </a:solidFill>
                <a:latin typeface="+mn-ea"/>
                <a:cs typeface="+mn-lt"/>
              </a:rPr>
              <a:t>이를 구현 클래스에서 구현했다</a:t>
            </a:r>
            <a:r>
              <a:rPr lang="ko-KR" altLang="ko-KR" sz="2800" dirty="0">
                <a:solidFill>
                  <a:srgbClr val="000000"/>
                </a:solidFill>
                <a:latin typeface="+mn-ea"/>
                <a:cs typeface="+mn-lt"/>
              </a:rPr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ko-KR" altLang="ko-KR" sz="2800" dirty="0">
              <a:solidFill>
                <a:srgbClr val="000000"/>
              </a:solidFill>
              <a:latin typeface="+mn-ea"/>
              <a:cs typeface="+mn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800" dirty="0">
                <a:solidFill>
                  <a:srgbClr val="000000"/>
                </a:solidFill>
                <a:latin typeface="+mn-ea"/>
                <a:cs typeface="+mn-lt"/>
              </a:rPr>
              <a:t>거래 기능이 어떤 동작을 해야 </a:t>
            </a:r>
            <a:r>
              <a:rPr lang="ko-KR" altLang="en-US" sz="2800" dirty="0" err="1">
                <a:solidFill>
                  <a:srgbClr val="000000"/>
                </a:solidFill>
                <a:latin typeface="+mn-ea"/>
                <a:cs typeface="+mn-lt"/>
              </a:rPr>
              <a:t>하는지와</a:t>
            </a:r>
            <a:r>
              <a:rPr lang="ko-KR" altLang="en-US" sz="2800" dirty="0">
                <a:solidFill>
                  <a:srgbClr val="000000"/>
                </a:solidFill>
                <a:latin typeface="+mn-ea"/>
                <a:cs typeface="+mn-lt"/>
              </a:rPr>
              <a:t> 그 동작을 실제로 어떻게 처리 해야 하는지를 분리했다.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F24B7E-068E-51EC-6322-1BFA7929A7F6}"/>
              </a:ext>
            </a:extLst>
          </p:cNvPr>
          <p:cNvSpPr txBox="1"/>
          <p:nvPr/>
        </p:nvSpPr>
        <p:spPr>
          <a:xfrm>
            <a:off x="468922" y="945115"/>
            <a:ext cx="1162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추상화</a:t>
            </a:r>
          </a:p>
        </p:txBody>
      </p:sp>
    </p:spTree>
    <p:extLst>
      <p:ext uri="{BB962C8B-B14F-4D97-AF65-F5344CB8AC3E}">
        <p14:creationId xmlns:p14="http://schemas.microsoft.com/office/powerpoint/2010/main" val="171939942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BCEF2-6B72-C9C9-E8AD-C2763A9E1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013406A4-F1FA-32D2-7321-54F1A344F4F8}"/>
              </a:ext>
            </a:extLst>
          </p:cNvPr>
          <p:cNvSpPr txBox="1"/>
          <p:nvPr/>
        </p:nvSpPr>
        <p:spPr>
          <a:xfrm>
            <a:off x="328246" y="377952"/>
            <a:ext cx="48919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+mj-lt"/>
              </a:rPr>
              <a:t>후기 </a:t>
            </a:r>
            <a:r>
              <a:rPr lang="en-US" altLang="ko-KR" sz="3200" dirty="0">
                <a:latin typeface="+mj-lt"/>
              </a:rPr>
              <a:t>– </a:t>
            </a:r>
            <a:r>
              <a:rPr lang="ko-KR" altLang="en-US" sz="3200" dirty="0">
                <a:latin typeface="+mj-lt"/>
              </a:rPr>
              <a:t>객체지향적 설계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71D6C1-4402-FD51-2DB6-8A691BA734F6}"/>
              </a:ext>
            </a:extLst>
          </p:cNvPr>
          <p:cNvSpPr txBox="1"/>
          <p:nvPr/>
        </p:nvSpPr>
        <p:spPr>
          <a:xfrm>
            <a:off x="468922" y="1881610"/>
            <a:ext cx="1132476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000000"/>
                </a:solidFill>
                <a:latin typeface="+mn-ea"/>
                <a:cs typeface="+mn-lt"/>
              </a:rPr>
              <a:t>하나의 클래스가 모든 책임을 짊어지지 않고</a:t>
            </a:r>
            <a:endParaRPr lang="en-US" altLang="ko-KR" sz="2800" dirty="0">
              <a:solidFill>
                <a:srgbClr val="000000"/>
              </a:solidFill>
              <a:latin typeface="+mn-ea"/>
              <a:cs typeface="+mn-lt"/>
            </a:endParaRPr>
          </a:p>
          <a:p>
            <a:endParaRPr lang="ko-KR" altLang="en-US" sz="2800" dirty="0">
              <a:solidFill>
                <a:srgbClr val="000000"/>
              </a:solidFill>
              <a:latin typeface="+mn-ea"/>
              <a:cs typeface="+mn-lt"/>
            </a:endParaRPr>
          </a:p>
          <a:p>
            <a:r>
              <a:rPr lang="ko-KR" altLang="en-US" sz="2800" dirty="0">
                <a:solidFill>
                  <a:srgbClr val="000000"/>
                </a:solidFill>
                <a:latin typeface="+mn-ea"/>
                <a:cs typeface="+mn-lt"/>
              </a:rPr>
              <a:t>계좌 상태는 </a:t>
            </a:r>
            <a:r>
              <a:rPr lang="ko-KR" altLang="en-US" sz="2800" dirty="0" err="1">
                <a:solidFill>
                  <a:srgbClr val="000000"/>
                </a:solidFill>
                <a:latin typeface="+mn-ea"/>
                <a:cs typeface="+mn-lt"/>
              </a:rPr>
              <a:t>Account</a:t>
            </a:r>
            <a:r>
              <a:rPr lang="ko-KR" altLang="en-US" sz="2800" dirty="0">
                <a:solidFill>
                  <a:srgbClr val="000000"/>
                </a:solidFill>
                <a:latin typeface="+mn-ea"/>
                <a:cs typeface="+mn-lt"/>
              </a:rPr>
              <a:t> , </a:t>
            </a:r>
          </a:p>
          <a:p>
            <a:r>
              <a:rPr lang="ko-KR" altLang="en-US" sz="2800" dirty="0" err="1">
                <a:solidFill>
                  <a:srgbClr val="000000"/>
                </a:solidFill>
                <a:latin typeface="+mn-ea"/>
                <a:cs typeface="+mn-lt"/>
              </a:rPr>
              <a:t>Atm</a:t>
            </a:r>
            <a:r>
              <a:rPr lang="ko-KR" altLang="en-US" sz="2800" dirty="0">
                <a:solidFill>
                  <a:srgbClr val="000000"/>
                </a:solidFill>
                <a:latin typeface="+mn-ea"/>
                <a:cs typeface="+mn-lt"/>
              </a:rPr>
              <a:t> 현금 상태는 </a:t>
            </a:r>
            <a:r>
              <a:rPr lang="ko-KR" altLang="en-US" sz="2800" dirty="0" err="1">
                <a:solidFill>
                  <a:srgbClr val="000000"/>
                </a:solidFill>
                <a:latin typeface="+mn-ea"/>
                <a:cs typeface="+mn-lt"/>
              </a:rPr>
              <a:t>AtmMachine</a:t>
            </a:r>
            <a:r>
              <a:rPr lang="ko-KR" altLang="en-US" sz="2800" dirty="0">
                <a:solidFill>
                  <a:srgbClr val="000000"/>
                </a:solidFill>
                <a:latin typeface="+mn-ea"/>
                <a:cs typeface="+mn-lt"/>
              </a:rPr>
              <a:t>, </a:t>
            </a:r>
            <a:endParaRPr lang="ko-KR" altLang="ko-KR" sz="2800" dirty="0">
              <a:solidFill>
                <a:srgbClr val="000000"/>
              </a:solidFill>
              <a:latin typeface="+mn-ea"/>
              <a:cs typeface="+mn-lt"/>
            </a:endParaRPr>
          </a:p>
          <a:p>
            <a:r>
              <a:rPr lang="ko-KR" altLang="en-US" sz="2800" dirty="0">
                <a:solidFill>
                  <a:srgbClr val="000000"/>
                </a:solidFill>
                <a:latin typeface="+mn-ea"/>
                <a:cs typeface="+mn-lt"/>
              </a:rPr>
              <a:t>거래 기록은 </a:t>
            </a:r>
            <a:r>
              <a:rPr lang="ko-KR" altLang="en-US" sz="2800" dirty="0" err="1">
                <a:solidFill>
                  <a:srgbClr val="000000"/>
                </a:solidFill>
                <a:latin typeface="+mn-ea"/>
                <a:cs typeface="+mn-lt"/>
              </a:rPr>
              <a:t>TransationLog</a:t>
            </a:r>
            <a:r>
              <a:rPr lang="ko-KR" altLang="en-US" sz="2800" dirty="0">
                <a:solidFill>
                  <a:srgbClr val="000000"/>
                </a:solidFill>
                <a:latin typeface="+mn-ea"/>
                <a:cs typeface="+mn-lt"/>
              </a:rPr>
              <a:t>, </a:t>
            </a:r>
            <a:endParaRPr lang="ko-KR" altLang="ko-KR" sz="2800" dirty="0">
              <a:solidFill>
                <a:srgbClr val="000000"/>
              </a:solidFill>
              <a:latin typeface="+mn-ea"/>
              <a:cs typeface="+mn-lt"/>
            </a:endParaRPr>
          </a:p>
          <a:p>
            <a:r>
              <a:rPr lang="ko-KR" altLang="en-US" sz="2800" dirty="0">
                <a:solidFill>
                  <a:srgbClr val="000000"/>
                </a:solidFill>
                <a:latin typeface="+mn-ea"/>
                <a:cs typeface="+mn-lt"/>
              </a:rPr>
              <a:t>파일 저장은 </a:t>
            </a:r>
            <a:r>
              <a:rPr lang="ko-KR" altLang="en-US" sz="2800" dirty="0" err="1">
                <a:solidFill>
                  <a:srgbClr val="000000"/>
                </a:solidFill>
                <a:latin typeface="+mn-ea"/>
                <a:cs typeface="+mn-lt"/>
              </a:rPr>
              <a:t>FileDataManager</a:t>
            </a:r>
            <a:r>
              <a:rPr lang="ko-KR" altLang="en-US" sz="2800" dirty="0">
                <a:solidFill>
                  <a:srgbClr val="000000"/>
                </a:solidFill>
                <a:latin typeface="+mn-ea"/>
                <a:cs typeface="+mn-lt"/>
              </a:rPr>
              <a:t> </a:t>
            </a:r>
            <a:endParaRPr lang="en-US" altLang="ko-KR" sz="2800" dirty="0">
              <a:solidFill>
                <a:srgbClr val="000000"/>
              </a:solidFill>
              <a:latin typeface="+mn-ea"/>
              <a:cs typeface="+mn-lt"/>
            </a:endParaRPr>
          </a:p>
          <a:p>
            <a:r>
              <a:rPr lang="ko-KR" altLang="en-US" sz="2800" dirty="0">
                <a:solidFill>
                  <a:srgbClr val="000000"/>
                </a:solidFill>
                <a:latin typeface="+mn-ea"/>
                <a:cs typeface="+mn-lt"/>
              </a:rPr>
              <a:t>거래 조정은 </a:t>
            </a:r>
            <a:r>
              <a:rPr lang="ko-KR" altLang="en-US" sz="2800" dirty="0" err="1">
                <a:solidFill>
                  <a:srgbClr val="000000"/>
                </a:solidFill>
                <a:latin typeface="+mn-ea"/>
                <a:cs typeface="+mn-lt"/>
              </a:rPr>
              <a:t>TransactionBalacneService</a:t>
            </a:r>
            <a:endParaRPr lang="en-US" altLang="ko-KR" sz="2800" dirty="0">
              <a:solidFill>
                <a:srgbClr val="000000"/>
              </a:solidFill>
              <a:latin typeface="+mn-ea"/>
              <a:cs typeface="+mn-lt"/>
            </a:endParaRPr>
          </a:p>
          <a:p>
            <a:r>
              <a:rPr lang="ko-KR" altLang="en-US" sz="2800" dirty="0" err="1">
                <a:solidFill>
                  <a:srgbClr val="000000"/>
                </a:solidFill>
                <a:latin typeface="+mn-ea"/>
                <a:cs typeface="+mn-lt"/>
              </a:rPr>
              <a:t>처럼</a:t>
            </a:r>
            <a:r>
              <a:rPr lang="ko-KR" altLang="en-US" sz="2800" dirty="0">
                <a:solidFill>
                  <a:srgbClr val="000000"/>
                </a:solidFill>
                <a:latin typeface="+mn-ea"/>
                <a:cs typeface="+mn-lt"/>
              </a:rPr>
              <a:t> 책임을 분산시켜 단일 책임 원칙을 준수한다</a:t>
            </a:r>
            <a:r>
              <a:rPr lang="en-US" altLang="ko-KR" sz="2800" dirty="0">
                <a:solidFill>
                  <a:srgbClr val="000000"/>
                </a:solidFill>
                <a:latin typeface="+mn-ea"/>
                <a:cs typeface="+mn-lt"/>
              </a:rPr>
              <a:t>.</a:t>
            </a:r>
            <a:endParaRPr lang="ko-KR" altLang="en-US" sz="2800" dirty="0">
              <a:solidFill>
                <a:srgbClr val="000000"/>
              </a:solidFill>
              <a:latin typeface="+mn-ea"/>
              <a:cs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62725C-AF62-61BE-3396-534B4FD69063}"/>
              </a:ext>
            </a:extLst>
          </p:cNvPr>
          <p:cNvSpPr txBox="1"/>
          <p:nvPr/>
        </p:nvSpPr>
        <p:spPr>
          <a:xfrm>
            <a:off x="468922" y="945115"/>
            <a:ext cx="1162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책임 분리</a:t>
            </a:r>
          </a:p>
        </p:txBody>
      </p:sp>
    </p:spTree>
    <p:extLst>
      <p:ext uri="{BB962C8B-B14F-4D97-AF65-F5344CB8AC3E}">
        <p14:creationId xmlns:p14="http://schemas.microsoft.com/office/powerpoint/2010/main" val="26302801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3CD8A-A1EC-B97A-B3EE-701855CB6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C2AE7945-CF9D-A3C6-6042-B99543B4C174}"/>
              </a:ext>
            </a:extLst>
          </p:cNvPr>
          <p:cNvSpPr txBox="1"/>
          <p:nvPr/>
        </p:nvSpPr>
        <p:spPr>
          <a:xfrm>
            <a:off x="328246" y="377952"/>
            <a:ext cx="48919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+mj-lt"/>
              </a:rPr>
              <a:t>후기 </a:t>
            </a:r>
            <a:r>
              <a:rPr lang="en-US" altLang="ko-KR" sz="3200" dirty="0">
                <a:latin typeface="+mj-lt"/>
              </a:rPr>
              <a:t>– </a:t>
            </a:r>
            <a:r>
              <a:rPr lang="ko-KR" altLang="en-US" sz="3200" dirty="0">
                <a:latin typeface="+mj-lt"/>
              </a:rPr>
              <a:t>객체지향적 설계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B8D033-A415-7048-6752-9522235054ED}"/>
              </a:ext>
            </a:extLst>
          </p:cNvPr>
          <p:cNvSpPr txBox="1"/>
          <p:nvPr/>
        </p:nvSpPr>
        <p:spPr>
          <a:xfrm>
            <a:off x="328246" y="1881610"/>
            <a:ext cx="10883546" cy="1292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ko-KR" sz="2800" dirty="0">
                <a:solidFill>
                  <a:srgbClr val="000000"/>
                </a:solidFill>
                <a:latin typeface="+mn-ea"/>
                <a:cs typeface="+mn-lt"/>
              </a:rPr>
              <a:t>계좌 찾기, 유효한 잔액 </a:t>
            </a:r>
            <a:r>
              <a:rPr lang="ko-KR" altLang="en-US" sz="2800" dirty="0">
                <a:solidFill>
                  <a:srgbClr val="000000"/>
                </a:solidFill>
                <a:latin typeface="+mn-ea"/>
                <a:cs typeface="+mn-lt"/>
              </a:rPr>
              <a:t>검증</a:t>
            </a:r>
            <a:r>
              <a:rPr lang="en-US" altLang="ko-KR" sz="2800" dirty="0">
                <a:solidFill>
                  <a:srgbClr val="000000"/>
                </a:solidFill>
                <a:latin typeface="+mn-ea"/>
                <a:cs typeface="+mn-lt"/>
              </a:rPr>
              <a:t>,</a:t>
            </a:r>
            <a:r>
              <a:rPr lang="ko-KR" altLang="en-US" sz="2800" dirty="0">
                <a:solidFill>
                  <a:srgbClr val="000000"/>
                </a:solidFill>
                <a:latin typeface="+mn-ea"/>
                <a:cs typeface="+mn-lt"/>
              </a:rPr>
              <a:t> 거래 기록 남기기 등의 메서드를 </a:t>
            </a:r>
            <a:r>
              <a:rPr lang="ko-KR" altLang="en-US" sz="2800" dirty="0" err="1">
                <a:solidFill>
                  <a:srgbClr val="000000"/>
                </a:solidFill>
                <a:latin typeface="+mn-ea"/>
                <a:cs typeface="+mn-lt"/>
              </a:rPr>
              <a:t>private</a:t>
            </a:r>
            <a:r>
              <a:rPr lang="ko-KR" altLang="en-US" sz="2800" dirty="0">
                <a:solidFill>
                  <a:srgbClr val="000000"/>
                </a:solidFill>
                <a:latin typeface="+mn-ea"/>
                <a:cs typeface="+mn-lt"/>
              </a:rPr>
              <a:t> 접근 제한자로 감싸 중복 행위를 메서드로 분리함으로써 캡슐화 되었다.</a:t>
            </a:r>
            <a:endParaRPr lang="ko-KR" altLang="en-US" sz="2800" dirty="0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9AB90C-2F98-CC57-9600-049AF48AAFAA}"/>
              </a:ext>
            </a:extLst>
          </p:cNvPr>
          <p:cNvSpPr txBox="1"/>
          <p:nvPr/>
        </p:nvSpPr>
        <p:spPr>
          <a:xfrm>
            <a:off x="468922" y="945115"/>
            <a:ext cx="1162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캡슐화</a:t>
            </a:r>
          </a:p>
        </p:txBody>
      </p:sp>
    </p:spTree>
    <p:extLst>
      <p:ext uri="{BB962C8B-B14F-4D97-AF65-F5344CB8AC3E}">
        <p14:creationId xmlns:p14="http://schemas.microsoft.com/office/powerpoint/2010/main" val="419121567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CB8A4-1137-E928-3C85-AE78070A1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D19E501D-9AAC-040A-5D51-F330180D9D00}"/>
              </a:ext>
            </a:extLst>
          </p:cNvPr>
          <p:cNvSpPr txBox="1"/>
          <p:nvPr/>
        </p:nvSpPr>
        <p:spPr>
          <a:xfrm>
            <a:off x="328246" y="377952"/>
            <a:ext cx="71843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+mj-lt"/>
              </a:rPr>
              <a:t>후기 </a:t>
            </a:r>
            <a:r>
              <a:rPr lang="en-US" altLang="ko-KR" sz="3200" dirty="0">
                <a:latin typeface="+mj-lt"/>
              </a:rPr>
              <a:t>– </a:t>
            </a:r>
            <a:r>
              <a:rPr lang="ko-KR" altLang="en-US" sz="3200" dirty="0">
                <a:latin typeface="+mj-lt"/>
              </a:rPr>
              <a:t>개인별 후기</a:t>
            </a:r>
            <a:r>
              <a:rPr lang="en-US" altLang="ko-KR" sz="3200" dirty="0">
                <a:latin typeface="+mj-lt"/>
              </a:rPr>
              <a:t> </a:t>
            </a:r>
            <a:endParaRPr lang="ko-KR" altLang="en-US" sz="3200" dirty="0">
              <a:latin typeface="+mj-lt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F34B0B3-7D40-2B46-11A2-40C30A33D9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8775310"/>
              </p:ext>
            </p:extLst>
          </p:nvPr>
        </p:nvGraphicFramePr>
        <p:xfrm>
          <a:off x="614218" y="962727"/>
          <a:ext cx="10963563" cy="5773664"/>
        </p:xfrm>
        <a:graphic>
          <a:graphicData uri="http://schemas.openxmlformats.org/drawingml/2006/table">
            <a:tbl>
              <a:tblPr firstCol="1" bandRow="1">
                <a:tableStyleId>{8EC20E35-A176-4012-BC5E-935CFFF8708E}</a:tableStyleId>
              </a:tblPr>
              <a:tblGrid>
                <a:gridCol w="1284518">
                  <a:extLst>
                    <a:ext uri="{9D8B030D-6E8A-4147-A177-3AD203B41FA5}">
                      <a16:colId xmlns:a16="http://schemas.microsoft.com/office/drawing/2014/main" val="2532097992"/>
                    </a:ext>
                  </a:extLst>
                </a:gridCol>
                <a:gridCol w="9679045">
                  <a:extLst>
                    <a:ext uri="{9D8B030D-6E8A-4147-A177-3AD203B41FA5}">
                      <a16:colId xmlns:a16="http://schemas.microsoft.com/office/drawing/2014/main" val="1662116942"/>
                    </a:ext>
                  </a:extLst>
                </a:gridCol>
              </a:tblGrid>
              <a:tr h="81759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황스일</a:t>
                      </a:r>
                      <a:endParaRPr lang="ko-KR" altLang="en-US" dirty="0">
                        <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ribl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>
                          <a:latin typeface="+mn-ea"/>
                          <a:ea typeface="+mn-ea"/>
                        </a:rPr>
                        <a:t>이번 프로젝트를 통해 팀원과 협업 하고 코드를 취합하여 프로그램을 완성시키는 과정을 통해 많이 성장했다고 느꼈다</a:t>
                      </a:r>
                      <a:r>
                        <a:rPr lang="en-US" altLang="ko-KR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54935353"/>
                  </a:ext>
                </a:extLst>
              </a:tr>
              <a:tr h="88123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이현겸</a:t>
                      </a:r>
                      <a:endParaRPr lang="ko-KR" altLang="en-US" dirty="0">
                        <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ribl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>
                          <a:latin typeface="+mn-ea"/>
                          <a:ea typeface="+mn-ea"/>
                        </a:rPr>
                        <a:t>아무리 코딩을 잘 해봐야 객체지향적으로 사고하지 않으면 자바는 어려울 수 있겠다는 생각이 들었고</a:t>
                      </a:r>
                      <a:r>
                        <a:rPr lang="en-US" altLang="ko-KR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dirty="0">
                          <a:latin typeface="+mn-ea"/>
                          <a:ea typeface="+mn-ea"/>
                        </a:rPr>
                        <a:t>재미있는 </a:t>
                      </a:r>
                      <a:r>
                        <a:rPr lang="ko-KR" altLang="en-US" dirty="0" err="1">
                          <a:latin typeface="+mn-ea"/>
                          <a:ea typeface="+mn-ea"/>
                        </a:rPr>
                        <a:t>팀프로젝트였던</a:t>
                      </a:r>
                      <a:r>
                        <a:rPr lang="ko-KR" altLang="en-US" dirty="0">
                          <a:latin typeface="+mn-ea"/>
                          <a:ea typeface="+mn-ea"/>
                        </a:rPr>
                        <a:t> 것 같다</a:t>
                      </a:r>
                      <a:r>
                        <a:rPr lang="en-US" altLang="ko-KR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dirty="0"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7090538"/>
                  </a:ext>
                </a:extLst>
              </a:tr>
              <a:tr h="13723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손영석</a:t>
                      </a:r>
                      <a:endParaRPr lang="ko-KR" altLang="en-US" dirty="0">
                        <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ribl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ko-KR" dirty="0">
                          <a:latin typeface="+mn-ea"/>
                          <a:ea typeface="+mn-ea"/>
                          <a:cs typeface="+mn-lt"/>
                        </a:rPr>
                        <a:t>프로그래밍 언어를 오랜만에 배우다 보니, 처음에는 배운 내용만으로 무언가를 만들 수 있을지 의문이 들었다. 하지만 기존에 학습한 내용을 다시 복습하고 공부하면서, 프로젝트를 시작한 이후 자바를 더 깊이 이해할 수 있게 된 것 같다. 또한 </a:t>
                      </a:r>
                      <a:r>
                        <a:rPr lang="ko-KR" altLang="ko-KR" dirty="0" err="1">
                          <a:latin typeface="+mn-ea"/>
                          <a:ea typeface="+mn-ea"/>
                          <a:cs typeface="+mn-lt"/>
                        </a:rPr>
                        <a:t>객체지향적인</a:t>
                      </a:r>
                      <a:r>
                        <a:rPr lang="ko-KR" altLang="ko-KR" dirty="0">
                          <a:latin typeface="+mn-ea"/>
                          <a:ea typeface="+mn-ea"/>
                          <a:cs typeface="+mn-lt"/>
                        </a:rPr>
                        <a:t> 코딩을 위해 노력했지만, 구현 메서드 안에서 반복되는 검증과 예외 처리 로직을 별도의 메서드로 분리하는 과정은 쉽지 않았다. 그럼에도 불구하고 배운 내용을 실제로 적용해볼 수 있어서 뿌듯했다</a:t>
                      </a:r>
                      <a:r>
                        <a:rPr lang="en-US" altLang="ko-KR" dirty="0">
                          <a:latin typeface="+mn-ea"/>
                          <a:ea typeface="+mn-ea"/>
                          <a:cs typeface="+mn-lt"/>
                        </a:rPr>
                        <a:t>.</a:t>
                      </a:r>
                      <a:endParaRPr lang="ko-KR" altLang="ko-KR" dirty="0"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01562537"/>
                  </a:ext>
                </a:extLst>
              </a:tr>
              <a:tr h="27024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>
                          <a:ln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</a:ln>
                          <a:latin typeface="+mn-ea"/>
                          <a:ea typeface="+mn-ea"/>
                        </a:rPr>
                        <a:t>장해든</a:t>
                      </a:r>
                      <a:endParaRPr lang="ko-KR" altLang="en-US" dirty="0">
                        <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ln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ribl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자바를 처음 배우면서 진행한 첫 팀 프로젝트라서 많이 어렵고 낯설었다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b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하지만 팀원들과 함께 헷갈리거나 모르는 부분을 해결해 나가고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직접 실행해 보면서 내가 구현하고자 한 기능들을 하나하나 완성해 나갈 수 있었다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그 결과 최종적으로 프로젝트를 마무리할 수 있어 뿌듯했고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스스로 더 발전하고 성장할 수 있는 시간이었다고 느껴 뜻깊은 경험이었다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클래스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객체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생성자와 같은 개념들을 수업 시간에 배우고 간단한 실습만 하다가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이를 조금 더 큰 규모의 프로젝트에 적용하려고 하니 익숙하지 않아서 어디에 무엇을 만들어야 하는지 자주 헷갈렸다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또한 기능 하나를 구현하는 데에도 생각보다 많은 구조가 필요하다는 것을 알게 되었다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특히 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ATM </a:t>
                      </a: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기능을 구현하면서 단순히 코드를 작성하는 것이 아니라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객체를 어떻게 나누고 서로 연결해야 하는지가 중요하다는 점을 배울 수 있었다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처음에는 많이 막히고 실수도 있었지만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하나씩 직접 구현해 보면서 자바와 객체지향 구조에 대해 조금 더 이해할 수 있었던 의미 있는 경험이었다</a:t>
                      </a:r>
                      <a:r>
                        <a:rPr lang="en-US" altLang="ko-KR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185374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691785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AC60F39-6D96-B47E-3847-DC55B7E41E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8355" y="3356266"/>
            <a:ext cx="2943082" cy="36751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B9FA4D-27EA-5F8E-95F7-A51357366053}"/>
              </a:ext>
            </a:extLst>
          </p:cNvPr>
          <p:cNvSpPr txBox="1"/>
          <p:nvPr/>
        </p:nvSpPr>
        <p:spPr>
          <a:xfrm>
            <a:off x="2443275" y="2782669"/>
            <a:ext cx="730545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800">
                <a:latin typeface="+mj-lt"/>
              </a:rPr>
              <a:t>감사합니다</a:t>
            </a:r>
            <a:endParaRPr lang="ko-KR" altLang="en-US" sz="7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65771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사용자 지정 4">
      <a:majorFont>
        <a:latin typeface="D2Coding"/>
        <a:ea typeface="Do Hyeon"/>
        <a:cs typeface=""/>
      </a:majorFont>
      <a:minorFont>
        <a:latin typeface="D2Coding"/>
        <a:ea typeface="Do Hyeo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491</TotalTime>
  <Words>4357</Words>
  <Application>Microsoft Office PowerPoint</Application>
  <PresentationFormat>와이드스크린</PresentationFormat>
  <Paragraphs>300</Paragraphs>
  <Slides>54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54</vt:i4>
      </vt:variant>
    </vt:vector>
  </HeadingPairs>
  <TitlesOfParts>
    <vt:vector size="61" baseType="lpstr">
      <vt:lpstr>D2Coding</vt:lpstr>
      <vt:lpstr>Menlo-Regular</vt:lpstr>
      <vt:lpstr>맑은 고딕</vt:lpstr>
      <vt:lpstr>Arial</vt:lpstr>
      <vt:lpstr>Consolas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현겸 이</dc:creator>
  <cp:lastModifiedBy>현겸 이</cp:lastModifiedBy>
  <cp:revision>63</cp:revision>
  <dcterms:created xsi:type="dcterms:W3CDTF">2026-03-26T06:07:04Z</dcterms:created>
  <dcterms:modified xsi:type="dcterms:W3CDTF">2026-03-27T06:44:27Z</dcterms:modified>
</cp:coreProperties>
</file>